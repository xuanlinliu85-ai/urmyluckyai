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7e831023b8435c" /><Relationship Type="http://schemas.openxmlformats.org/officeDocument/2006/relationships/extended-properties" Target="/docProps/app.xml" Id="R38ed19ff29434a64" /><Relationship Type="http://schemas.openxmlformats.org/officeDocument/2006/relationships/officeDocument" Target="/ppt/presentation.xml" Id="Rdd5a328f44de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5960bb1e134007"/>
  </p:sldMasterIdLst>
  <p:notesMasterIdLst>
    <p:notesMasterId xmlns:r="http://schemas.openxmlformats.org/officeDocument/2006/relationships" r:id="R27a22f0db1de4f7f"/>
  </p:notesMasterIdLst>
  <p:sldIdLst>
    <p:sldId xmlns:r="http://schemas.openxmlformats.org/officeDocument/2006/relationships" id="256" r:id="Ra52ea0b5c0264bcf"/>
    <p:sldId xmlns:r="http://schemas.openxmlformats.org/officeDocument/2006/relationships" id="257" r:id="R388dd0e807874f12"/>
    <p:sldId xmlns:r="http://schemas.openxmlformats.org/officeDocument/2006/relationships" id="258" r:id="R6e783247722c4710"/>
    <p:sldId xmlns:r="http://schemas.openxmlformats.org/officeDocument/2006/relationships" id="259" r:id="Ra52017816f3d408e"/>
    <p:sldId xmlns:r="http://schemas.openxmlformats.org/officeDocument/2006/relationships" id="260" r:id="R02b8a72f25704b8d"/>
    <p:sldId xmlns:r="http://schemas.openxmlformats.org/officeDocument/2006/relationships" id="261" r:id="R63db00f283654d5d"/>
    <p:sldId xmlns:r="http://schemas.openxmlformats.org/officeDocument/2006/relationships" id="262" r:id="R375877ea809f4385"/>
    <p:sldId xmlns:r="http://schemas.openxmlformats.org/officeDocument/2006/relationships" id="263" r:id="R329c09a29e0c4b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bf5b3d3dc545f3" /><Relationship Type="http://schemas.openxmlformats.org/officeDocument/2006/relationships/slideMaster" Target="/ppt/slideMasters/slideMaster1.xml" Id="R485960bb1e134007" /><Relationship Type="http://schemas.openxmlformats.org/officeDocument/2006/relationships/notesMaster" Target="/ppt/notesMasters/notesMaster1.xml" Id="R27a22f0db1de4f7f" /><Relationship Type="http://schemas.openxmlformats.org/officeDocument/2006/relationships/presProps" Target="/ppt/presProps.xml" Id="R2d1c108f9a1d4b5b" /><Relationship Type="http://schemas.openxmlformats.org/officeDocument/2006/relationships/tableStyles" Target="/ppt/tableStyles.xml" Id="R0c3c8ac1a7324dec" /><Relationship Type="http://schemas.openxmlformats.org/officeDocument/2006/relationships/slide" Target="/ppt/slides/slide1.xml" Id="Ra52ea0b5c0264bcf" /><Relationship Type="http://schemas.openxmlformats.org/officeDocument/2006/relationships/slide" Target="/ppt/slides/slide2.xml" Id="R388dd0e807874f12" /><Relationship Type="http://schemas.openxmlformats.org/officeDocument/2006/relationships/slide" Target="/ppt/slides/slide3.xml" Id="R6e783247722c4710" /><Relationship Type="http://schemas.openxmlformats.org/officeDocument/2006/relationships/slide" Target="/ppt/slides/slide4.xml" Id="Ra52017816f3d408e" /><Relationship Type="http://schemas.openxmlformats.org/officeDocument/2006/relationships/slide" Target="/ppt/slides/slide5.xml" Id="R02b8a72f25704b8d" /><Relationship Type="http://schemas.openxmlformats.org/officeDocument/2006/relationships/slide" Target="/ppt/slides/slide6.xml" Id="R63db00f283654d5d" /><Relationship Type="http://schemas.openxmlformats.org/officeDocument/2006/relationships/slide" Target="/ppt/slides/slide7.xml" Id="R375877ea809f4385" /><Relationship Type="http://schemas.openxmlformats.org/officeDocument/2006/relationships/slide" Target="/ppt/slides/slide8.xml" Id="R329c09a29e0c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caf472128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b6f3d81184a32" /><Relationship Type="http://schemas.openxmlformats.org/officeDocument/2006/relationships/notesMaster" Target="/ppt/notesMasters/notesMaster1.xml" Id="Re3ccaca45540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9621c34ca340f1" /><Relationship Type="http://schemas.openxmlformats.org/officeDocument/2006/relationships/notesMaster" Target="/ppt/notesMasters/notesMaster1.xml" Id="R31f71562323947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ccdc891c0845ce" /><Relationship Type="http://schemas.openxmlformats.org/officeDocument/2006/relationships/notesMaster" Target="/ppt/notesMasters/notesMaster1.xml" Id="R9209138f00e542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80b3f8d1664e7a" /><Relationship Type="http://schemas.openxmlformats.org/officeDocument/2006/relationships/notesMaster" Target="/ppt/notesMasters/notesMaster1.xml" Id="R0a8400ea765b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22140ff78c4c7e" /><Relationship Type="http://schemas.openxmlformats.org/officeDocument/2006/relationships/notesMaster" Target="/ppt/notesMasters/notesMaster1.xml" Id="Rdd633607b7b14c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be8ce4ead42c2" /><Relationship Type="http://schemas.openxmlformats.org/officeDocument/2006/relationships/notesMaster" Target="/ppt/notesMasters/notesMaster1.xml" Id="R3f632021005c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e99fbd06444e2b" /><Relationship Type="http://schemas.openxmlformats.org/officeDocument/2006/relationships/notesMaster" Target="/ppt/notesMasters/notesMaster1.xml" Id="Red2547d1dfdc42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bd6235463047f2" /><Relationship Type="http://schemas.openxmlformats.org/officeDocument/2006/relationships/notesMaster" Target="/ppt/notesMasters/notesMaster1.xml" Id="R4662f9ae6d9745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Timeline derived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Targets and guardrails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aecfdc4bf4f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a127f9b094ad4" /><Relationship Type="http://schemas.openxmlformats.org/officeDocument/2006/relationships/slideLayout" Target="/ppt/slideLayouts/slideLayout1.xml" Id="R57064b997b2f4d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64b997b2f4d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f5481d90549fa" /><Relationship Type="http://schemas.openxmlformats.org/officeDocument/2006/relationships/notesSlide" Target="/ppt/notesSlides/notesSlide1.xml" Id="R2b9a2087339544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5bc2e1e344c3" /><Relationship Type="http://schemas.openxmlformats.org/officeDocument/2006/relationships/notesSlide" Target="/ppt/notesSlides/notesSlide2.xml" Id="R8009da743f894c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ebf172d43463f" /><Relationship Type="http://schemas.openxmlformats.org/officeDocument/2006/relationships/notesSlide" Target="/ppt/notesSlides/notesSlide3.xml" Id="Rb7aa54b9de884a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f43beb7004c20" /><Relationship Type="http://schemas.openxmlformats.org/officeDocument/2006/relationships/chart" Target="/ppt/slides/charts/chart1.xml" Id="R3871bbf022f4415d" /><Relationship Type="http://schemas.openxmlformats.org/officeDocument/2006/relationships/notesSlide" Target="/ppt/notesSlides/notesSlide4.xml" Id="Re12c77df25ba41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b313048954da1" /><Relationship Type="http://schemas.openxmlformats.org/officeDocument/2006/relationships/notesSlide" Target="/ppt/notesSlides/notesSlide5.xml" Id="Ra34c3ca45103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5292f286e4208" /><Relationship Type="http://schemas.openxmlformats.org/officeDocument/2006/relationships/notesSlide" Target="/ppt/notesSlides/notesSlide6.xml" Id="R5fdd45d9ed3447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b319a678a47f2" /><Relationship Type="http://schemas.openxmlformats.org/officeDocument/2006/relationships/notesSlide" Target="/ppt/notesSlides/notesSlide7.xml" Id="R0940fee5627b46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e005924b94df5" /><Relationship Type="http://schemas.openxmlformats.org/officeDocument/2006/relationships/notesSlide" Target="/ppt/notesSlides/notesSlide8.xml" Id="R865f1fb6741b4e1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准时交付率</c:v>
          </c:tx>
          <c:spPr>
            <a:solidFill xmlns:a="http://schemas.openxmlformats.org/drawingml/2006/main">
              <a:srgbClr val="113558"/>
            </a:solidFill>
          </c:spPr>
          <c:cat>
            <c:strLit>
              <c:ptCount val="2"/>
              <c:pt idx="0">
                <c:v>基期</c:v>
              </c:pt>
              <c:pt idx="1">
                <c:v>当前</c:v>
              </c:pt>
            </c:strLit>
          </c:cat>
          <c:val>
            <c:numLit>
              <c:formatCode>General</c:formatCode>
              <c:ptCount val="2"/>
              <c:pt idx="0">
                <c:v>94</c:v>
              </c:pt>
              <c:pt idx="1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23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48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side-field">
            <a:extLst xmlns:a="http://schemas.openxmlformats.org/drawingml/2006/main">
              <a:ext uri="{FF2B5EF4-FFF2-40B4-BE49-F238E27FC236}">
                <a16:creationId xmlns:a16="http://schemas.microsoft.com/office/drawing/2014/main" id="{F46B0285-03E7-4FA8-AB34-BFF844C0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AF95BE09-F1E7-44F0-BD73-ADB6895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14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CEDB4A4-DDED-4294-B334-A468BB7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rPr>
              <a:t>OPERATING DECISION BRIEF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DB8976C-6558-4EC5-A8A2-8BBAE43D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0D0E8E5-6CBA-46FC-ACB4-26FB22B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rPr>
              <a:t>形成可执行的运营改进决策</a:t>
            </a:r>
          </a:p>
        </p:txBody>
      </p:sp>
      <p:sp>
        <p:nvSpPr>
          <p:cNvPr id="6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B932B5E5-826B-4CD7-B039-9685761B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/ 01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B38A1541-B3E7-4DD6-A95E-2E50B4DC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5C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5C6878"/>
                </a:solidFill>
                <a:latin typeface="Microsoft YaHei"/>
                <a:ea typeface="Microsoft YaHei"/>
                <a:cs typeface="Microsoft YaHei"/>
              </a:rPr>
              <a:t>PPT FACTORY · PHASE 1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82A385-323F-4845-B5D1-7A766AA5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C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C6878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376568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1FF4025F-142D-47CE-A010-857545EE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C1ABC1B6-C3F3-45A1-A509-970A2D8C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15318AF0-54E4-430A-88BE-5877D75C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191857-D754-41AB-BDC6-920D079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935467-ECB5-4FDD-991F-78E0ADAA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核心判断与关键依据</a:t>
            </a:r>
          </a:p>
        </p:txBody>
      </p:sp>
      <p:sp>
        <p:nvSpPr>
          <p:cNvPr id="6" name="summary-answer-field">
            <a:extLst xmlns:a="http://schemas.openxmlformats.org/drawingml/2006/main">
              <a:ext uri="{FF2B5EF4-FFF2-40B4-BE49-F238E27FC236}">
                <a16:creationId xmlns:a16="http://schemas.microsoft.com/office/drawing/2014/main" id="{016CEBBC-FD2D-44C4-8A77-8EA43D8D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81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mary-answer-label">
            <a:extLst xmlns:a="http://schemas.openxmlformats.org/drawingml/2006/main">
              <a:ext uri="{FF2B5EF4-FFF2-40B4-BE49-F238E27FC236}">
                <a16:creationId xmlns:a16="http://schemas.microsoft.com/office/drawing/2014/main" id="{5CB48CA7-3EE7-4F31-BA2D-9CA77828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CORE ANSWER</a:t>
            </a:r>
          </a:p>
        </p:txBody>
      </p:sp>
      <p:sp>
        <p:nvSpPr>
          <p:cNvPr id="8" name="summary-answer">
            <a:extLst xmlns:a="http://schemas.openxmlformats.org/drawingml/2006/main">
              <a:ext uri="{FF2B5EF4-FFF2-40B4-BE49-F238E27FC236}">
                <a16:creationId xmlns:a16="http://schemas.microsoft.com/office/drawing/2014/main" id="{C5C5FC80-E821-4F55-A51C-4C1174E4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未来两个季度不应继续铺开零散系统，而应把交付准时率、一次检验通过率和设备停机时间作为同一条运营链路治理。</a:t>
            </a:r>
          </a:p>
        </p:txBody>
      </p:sp>
      <p:sp>
        <p:nvSpPr>
          <p:cNvPr id="9" name="summary-index-1">
            <a:extLst xmlns:a="http://schemas.openxmlformats.org/drawingml/2006/main">
              <a:ext uri="{FF2B5EF4-FFF2-40B4-BE49-F238E27FC236}">
                <a16:creationId xmlns:a16="http://schemas.microsoft.com/office/drawing/2014/main" id="{3852A92C-5575-4652-9585-FA1B0FB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54E7079B-AD56-40E5-9569-DE363C67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1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3D6EB742-D580-4B88-96F5-4C87D28D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index-2">
            <a:extLst xmlns:a="http://schemas.openxmlformats.org/drawingml/2006/main">
              <a:ext uri="{FF2B5EF4-FFF2-40B4-BE49-F238E27FC236}">
                <a16:creationId xmlns:a16="http://schemas.microsoft.com/office/drawing/2014/main" id="{4C937CBF-3AC5-4BE4-9AE2-9D587FFD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392C248E-1C53-46AC-A1A4-F703F69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4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9A319DE5-74B5-4186-A791-D1549EB0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2970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FA425915-7E11-48F9-BA76-195D08DC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2BECAAFF-E92B-433E-9E7B-1E2509FF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5FB2BD4B-D283-4BB4-BB95-BD92104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442AC7-6D75-4460-A4FC-9AF4B2DA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C272B4-0B4B-4CA2-9820-024CF92F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运营问题必须按一条链路治理</a:t>
            </a:r>
          </a:p>
        </p:txBody>
      </p:sp>
      <p:sp>
        <p:nvSpPr>
          <p:cNvPr id="6" name="editorial-answer-field">
            <a:extLst xmlns:a="http://schemas.openxmlformats.org/drawingml/2006/main">
              <a:ext uri="{FF2B5EF4-FFF2-40B4-BE49-F238E27FC236}">
                <a16:creationId xmlns:a16="http://schemas.microsoft.com/office/drawing/2014/main" id="{6C1BD45E-5C98-4FC6-AEA6-71CE0EE8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orial-kicker">
            <a:extLst xmlns:a="http://schemas.openxmlformats.org/drawingml/2006/main">
              <a:ext uri="{FF2B5EF4-FFF2-40B4-BE49-F238E27FC236}">
                <a16:creationId xmlns:a16="http://schemas.microsoft.com/office/drawing/2014/main" id="{C32AC1CC-0DAA-4207-9A84-D434B63D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PRINCIPLE</a:t>
            </a:r>
          </a:p>
        </p:txBody>
      </p:sp>
      <p:sp>
        <p:nvSpPr>
          <p:cNvPr id="8" name="editorial-claim">
            <a:extLst xmlns:a="http://schemas.openxmlformats.org/drawingml/2006/main">
              <a:ext uri="{FF2B5EF4-FFF2-40B4-BE49-F238E27FC236}">
                <a16:creationId xmlns:a16="http://schemas.microsoft.com/office/drawing/2014/main" id="{75AF561E-9FA5-4ECF-A2F3-41D1750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</a:t>
            </a:r>
          </a:p>
        </p:txBody>
      </p:sp>
      <p:sp>
        <p:nvSpPr>
          <p:cNvPr id="9" name="editorial-caption">
            <a:extLst xmlns:a="http://schemas.openxmlformats.org/drawingml/2006/main">
              <a:ext uri="{FF2B5EF4-FFF2-40B4-BE49-F238E27FC236}">
                <a16:creationId xmlns:a16="http://schemas.microsoft.com/office/drawing/2014/main" id="{65A016DD-9DA6-4F77-9374-A4939EF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从单点系统建设转向跨环节经营闭环</a:t>
            </a:r>
          </a:p>
        </p:txBody>
      </p:sp>
      <p:sp>
        <p:nvSpPr>
          <p:cNvPr id="10" name="editorial-number-1">
            <a:extLst xmlns:a="http://schemas.openxmlformats.org/drawingml/2006/main">
              <a:ext uri="{FF2B5EF4-FFF2-40B4-BE49-F238E27FC236}">
                <a16:creationId xmlns:a16="http://schemas.microsoft.com/office/drawing/2014/main" id="{F4E9BEF2-904C-4E37-A31E-4A0A36AF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83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833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ditorial-proof-1">
            <a:extLst xmlns:a="http://schemas.openxmlformats.org/drawingml/2006/main">
              <a:ext uri="{FF2B5EF4-FFF2-40B4-BE49-F238E27FC236}">
                <a16:creationId xmlns:a16="http://schemas.microsoft.com/office/drawing/2014/main" id="{7A90AEF9-EC7E-44E0-B740-45451E6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而应把交付准时率、一次检验通过率和设备停机时间作为同一条运营链路治理</a:t>
            </a:r>
          </a:p>
        </p:txBody>
      </p:sp>
      <p:sp>
        <p:nvSpPr>
          <p:cNvPr id="12" name="editorial-proof-rule-1">
            <a:extLst xmlns:a="http://schemas.openxmlformats.org/drawingml/2006/main">
              <a:ext uri="{FF2B5EF4-FFF2-40B4-BE49-F238E27FC236}">
                <a16:creationId xmlns:a16="http://schemas.microsoft.com/office/drawing/2014/main" id="{3B880918-F94B-4BCC-B852-5CCB60B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orial-number-2">
            <a:extLst xmlns:a="http://schemas.openxmlformats.org/drawingml/2006/main">
              <a:ext uri="{FF2B5EF4-FFF2-40B4-BE49-F238E27FC236}">
                <a16:creationId xmlns:a16="http://schemas.microsoft.com/office/drawing/2014/main" id="{AFCD2AC3-5BDE-4405-A40C-1DE6232F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83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833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ditorial-proof-2">
            <a:extLst xmlns:a="http://schemas.openxmlformats.org/drawingml/2006/main">
              <a:ext uri="{FF2B5EF4-FFF2-40B4-BE49-F238E27FC236}">
                <a16:creationId xmlns:a16="http://schemas.microsoft.com/office/drawing/2014/main" id="{CB649F82-182F-4BBD-B103-A5D17147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5" name="editorial-proof-rule-2">
            <a:extLst xmlns:a="http://schemas.openxmlformats.org/drawingml/2006/main">
              <a:ext uri="{FF2B5EF4-FFF2-40B4-BE49-F238E27FC236}">
                <a16:creationId xmlns:a16="http://schemas.microsoft.com/office/drawing/2014/main" id="{15DEE7D8-FF0F-4AE0-A261-EED02BE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6476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1D55E131-BE33-4A89-93C8-E63C993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454EDBA4-2FF1-4056-A0D4-3621FA15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9A8FC520-20C3-4DA8-983F-65B6568B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CA9F691-A1D0-4A19-94E2-2F5A7BAD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F22B18-7E22-4356-BFEC-52276938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6" name="metric-chart-field">
            <a:extLst xmlns:a="http://schemas.openxmlformats.org/drawingml/2006/main">
              <a:ext uri="{FF2B5EF4-FFF2-40B4-BE49-F238E27FC236}">
                <a16:creationId xmlns:a16="http://schemas.microsoft.com/office/drawing/2014/main" id="{E4A0592A-01A6-4EB9-AE2E-B2E4CB2A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71bbf022f4415d"/>
          </a:graphicData>
        </a:graphic>
      </p:graphicFrame>
      <p:sp>
        <p:nvSpPr>
          <p:cNvPr id="8" name="metric-decision-field">
            <a:extLst xmlns:a="http://schemas.openxmlformats.org/drawingml/2006/main">
              <a:ext uri="{FF2B5EF4-FFF2-40B4-BE49-F238E27FC236}">
                <a16:creationId xmlns:a16="http://schemas.microsoft.com/office/drawing/2014/main" id="{A15C93B5-5664-40B1-9E19-72B4FDF2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delta-label">
            <a:extLst xmlns:a="http://schemas.openxmlformats.org/drawingml/2006/main">
              <a:ext uri="{FF2B5EF4-FFF2-40B4-BE49-F238E27FC236}">
                <a16:creationId xmlns:a16="http://schemas.microsoft.com/office/drawing/2014/main" id="{22EF1C37-C900-482C-9DF5-572FB22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GAP</a:t>
            </a:r>
          </a:p>
        </p:txBody>
      </p:sp>
      <p:sp>
        <p:nvSpPr>
          <p:cNvPr id="10" name="metric-delta">
            <a:extLst xmlns:a="http://schemas.openxmlformats.org/drawingml/2006/main">
              <a:ext uri="{FF2B5EF4-FFF2-40B4-BE49-F238E27FC236}">
                <a16:creationId xmlns:a16="http://schemas.microsoft.com/office/drawing/2014/main" id="{20634005-AC15-4F0B-8AFA-C898DA0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-6 pp</a:t>
            </a:r>
          </a:p>
        </p:txBody>
      </p:sp>
      <p:sp>
        <p:nvSpPr>
          <p:cNvPr id="11" name="metric-decision-copy">
            <a:extLst xmlns:a="http://schemas.openxmlformats.org/drawingml/2006/main">
              <a:ext uri="{FF2B5EF4-FFF2-40B4-BE49-F238E27FC236}">
                <a16:creationId xmlns:a16="http://schemas.microsoft.com/office/drawing/2014/main" id="{0F1686FA-BF15-489F-A570-07D15413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返工成本占制造成本的 4.6%，其中 57% 来自三类重复质量缺陷。</a:t>
            </a:r>
          </a:p>
        </p:txBody>
      </p:sp>
    </p:spTree>
    <p:extLst>
      <p:ext uri="{BB962C8B-B14F-4D97-AF65-F5344CB8AC3E}">
        <p14:creationId xmlns:p14="http://schemas.microsoft.com/office/powerpoint/2010/main" val="2007071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83C629D3-3C0E-4115-BF98-CAC47D24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30619D6E-FF9E-4448-A138-6E5A1BCB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EA502C85-9F5D-43F8-AF1C-C4803F7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042852-BFAE-4A4A-87DA-FC4156EB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2D2010-DECB-46BB-B68F-DBB2076C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6" name="metric-band-1">
            <a:extLst xmlns:a="http://schemas.openxmlformats.org/drawingml/2006/main">
              <a:ext uri="{FF2B5EF4-FFF2-40B4-BE49-F238E27FC236}">
                <a16:creationId xmlns:a16="http://schemas.microsoft.com/office/drawing/2014/main" id="{622CC1CA-825F-448D-B672-F380EB3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243ADE6-FE74-42A8-ADBD-D55914E5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126小时</a:t>
            </a:r>
          </a:p>
        </p:txBody>
      </p:sp>
      <p:sp>
        <p:nvSpPr>
          <p:cNvPr id="8" name="metric-context-1">
            <a:extLst xmlns:a="http://schemas.openxmlformats.org/drawingml/2006/main">
              <a:ext uri="{FF2B5EF4-FFF2-40B4-BE49-F238E27FC236}">
                <a16:creationId xmlns:a16="http://schemas.microsoft.com/office/drawing/2014/main" id="{BD0C5EBC-9F6A-4FE4-BA26-A7F69E96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9" name="metric-band-2">
            <a:extLst xmlns:a="http://schemas.openxmlformats.org/drawingml/2006/main">
              <a:ext uri="{FF2B5EF4-FFF2-40B4-BE49-F238E27FC236}">
                <a16:creationId xmlns:a16="http://schemas.microsoft.com/office/drawing/2014/main" id="{A8A23852-3526-494F-A92F-E8B0322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B3C844D-9EEE-4417-B9CD-02B013E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11" name="metric-context-2">
            <a:extLst xmlns:a="http://schemas.openxmlformats.org/drawingml/2006/main">
              <a:ext uri="{FF2B5EF4-FFF2-40B4-BE49-F238E27FC236}">
                <a16:creationId xmlns:a16="http://schemas.microsoft.com/office/drawing/2014/main" id="{D8704916-2976-417A-824A-846536E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2" name="metric-band-3">
            <a:extLst xmlns:a="http://schemas.openxmlformats.org/drawingml/2006/main">
              <a:ext uri="{FF2B5EF4-FFF2-40B4-BE49-F238E27FC236}">
                <a16:creationId xmlns:a16="http://schemas.microsoft.com/office/drawing/2014/main" id="{493929B0-18FA-464A-B724-FF4F95C9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DB527F7E-90F5-402C-BAFF-7BCB3FDC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11.4天</a:t>
            </a:r>
          </a:p>
        </p:txBody>
      </p:sp>
      <p:sp>
        <p:nvSpPr>
          <p:cNvPr id="14" name="metric-context-3">
            <a:extLst xmlns:a="http://schemas.openxmlformats.org/drawingml/2006/main">
              <a:ext uri="{FF2B5EF4-FFF2-40B4-BE49-F238E27FC236}">
                <a16:creationId xmlns:a16="http://schemas.microsoft.com/office/drawing/2014/main" id="{F47FBC03-7010-47DF-ACAB-AF2A9B7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</p:spTree>
    <p:extLst>
      <p:ext uri="{BB962C8B-B14F-4D97-AF65-F5344CB8AC3E}">
        <p14:creationId xmlns:p14="http://schemas.microsoft.com/office/powerpoint/2010/main" val="298478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EFB8C58-E5B2-4BA3-8EBA-90D43E4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7CA03236-685A-488C-B164-EA6108CA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37B4279B-A8F9-49E2-8AB7-DC9E3CD6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85BEF4-A215-4E44-B3DD-C4D86BA1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DE9DB9-D015-446F-AAB4-73CC8C95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6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A6B7ECA4-7B72-42D5-BCB9-0B9A60C7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697EAC5B-536C-44BD-950F-3283333C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C99D5678-C675-48AF-9BCF-40C0E856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554350DF-B3C6-4F8A-AE26-B48DA839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建立基线 · 8周</a:t>
            </a:r>
          </a:p>
        </p:txBody>
      </p:sp>
      <p:sp>
        <p:nvSpPr>
          <p:cNvPr id="10" name="timeline-copy-1">
            <a:extLst xmlns:a="http://schemas.openxmlformats.org/drawingml/2006/main">
              <a:ext uri="{FF2B5EF4-FFF2-40B4-BE49-F238E27FC236}">
                <a16:creationId xmlns:a16="http://schemas.microsoft.com/office/drawing/2014/main" id="{DA74CE14-5E19-46FD-837B-70F840AE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1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AE7E3ED7-CBEF-42F1-8123-57FC1E88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AE29833D-B619-4BB7-A525-628B3DB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3D4A1E1B-92F2-48CB-A04D-B152165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打通运营链路</a:t>
            </a:r>
          </a:p>
        </p:txBody>
      </p:sp>
      <p:sp>
        <p:nvSpPr>
          <p:cNvPr id="14" name="timeline-copy-2">
            <a:extLst xmlns:a="http://schemas.openxmlformats.org/drawingml/2006/main">
              <a:ext uri="{FF2B5EF4-FFF2-40B4-BE49-F238E27FC236}">
                <a16:creationId xmlns:a16="http://schemas.microsoft.com/office/drawing/2014/main" id="{AF393CDB-1725-4D01-B85E-AF5874DE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预算优先投向数据治理、现场流程和责任机制，不以采购更多大屏作为成果。</a:t>
            </a:r>
          </a:p>
        </p:txBody>
      </p:sp>
      <p:sp>
        <p:nvSpPr>
          <p:cNvPr id="15" name="timeline-decision">
            <a:extLst xmlns:a="http://schemas.openxmlformats.org/drawingml/2006/main">
              <a:ext uri="{FF2B5EF4-FFF2-40B4-BE49-F238E27FC236}">
                <a16:creationId xmlns:a16="http://schemas.microsoft.com/office/drawing/2014/main" id="{CD4ACCC8-E426-4938-8F4A-B7301E20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先统一事件与责任口径，再扩展算法和系统覆盖。</a:t>
            </a:r>
          </a:p>
        </p:txBody>
      </p:sp>
    </p:spTree>
    <p:extLst>
      <p:ext uri="{BB962C8B-B14F-4D97-AF65-F5344CB8AC3E}">
        <p14:creationId xmlns:p14="http://schemas.microsoft.com/office/powerpoint/2010/main" val="11937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20291FC5-0103-428D-B418-3B311BB1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C4C3690C-CCB3-4B0E-A44F-7DE8A01A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DB3F6FF3-68FB-452A-A827-818E7A78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00B0CD-4FE1-4875-8BBC-AB330CA3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774BFE-2AC4-421C-814B-D8947A6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目标明确，但扩围必须经过两道门槛</a:t>
            </a:r>
          </a:p>
        </p:txBody>
      </p:sp>
      <p:sp>
        <p:nvSpPr>
          <p:cNvPr id="6" name="target-value-1">
            <a:extLst xmlns:a="http://schemas.openxmlformats.org/drawingml/2006/main">
              <a:ext uri="{FF2B5EF4-FFF2-40B4-BE49-F238E27FC236}">
                <a16:creationId xmlns:a16="http://schemas.microsoft.com/office/drawing/2014/main" id="{D9DBD0D3-2359-4A82-960B-C738421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7" name="target-context-1">
            <a:extLst xmlns:a="http://schemas.openxmlformats.org/drawingml/2006/main">
              <a:ext uri="{FF2B5EF4-FFF2-40B4-BE49-F238E27FC236}">
                <a16:creationId xmlns:a16="http://schemas.microsoft.com/office/drawing/2014/main" id="{5885812C-F0B9-45CE-BDAA-AC60F50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8" name="target-value-2">
            <a:extLst xmlns:a="http://schemas.openxmlformats.org/drawingml/2006/main">
              <a:ext uri="{FF2B5EF4-FFF2-40B4-BE49-F238E27FC236}">
                <a16:creationId xmlns:a16="http://schemas.microsoft.com/office/drawing/2014/main" id="{17C825FA-0FEC-4321-9792-44DD7C77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3个百分点</a:t>
            </a:r>
          </a:p>
        </p:txBody>
      </p:sp>
      <p:sp>
        <p:nvSpPr>
          <p:cNvPr id="9" name="target-context-2">
            <a:extLst xmlns:a="http://schemas.openxmlformats.org/drawingml/2006/main">
              <a:ext uri="{FF2B5EF4-FFF2-40B4-BE49-F238E27FC236}">
                <a16:creationId xmlns:a16="http://schemas.microsoft.com/office/drawing/2014/main" id="{06B29B84-8075-4862-A9B7-F836FC1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0" name="target-value-3">
            <a:extLst xmlns:a="http://schemas.openxmlformats.org/drawingml/2006/main">
              <a:ext uri="{FF2B5EF4-FFF2-40B4-BE49-F238E27FC236}">
                <a16:creationId xmlns:a16="http://schemas.microsoft.com/office/drawing/2014/main" id="{304C8AD7-C07C-4AC1-8559-EB2ABD8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11" name="target-context-3">
            <a:extLst xmlns:a="http://schemas.openxmlformats.org/drawingml/2006/main">
              <a:ext uri="{FF2B5EF4-FFF2-40B4-BE49-F238E27FC236}">
                <a16:creationId xmlns:a16="http://schemas.microsoft.com/office/drawing/2014/main" id="{5C27AD9A-F30A-4C1A-BE26-D05424C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2" name="gate-field">
            <a:extLst xmlns:a="http://schemas.openxmlformats.org/drawingml/2006/main">
              <a:ext uri="{FF2B5EF4-FFF2-40B4-BE49-F238E27FC236}">
                <a16:creationId xmlns:a16="http://schemas.microsoft.com/office/drawing/2014/main" id="{C17FD2EF-29F3-4B22-B6CC-823C48E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44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label">
            <a:extLst xmlns:a="http://schemas.openxmlformats.org/drawingml/2006/main">
              <a:ext uri="{FF2B5EF4-FFF2-40B4-BE49-F238E27FC236}">
                <a16:creationId xmlns:a16="http://schemas.microsoft.com/office/drawing/2014/main" id="{2942AF71-D7A8-40F0-8BEF-E8AC216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14" name="gate-copy">
            <a:extLst xmlns:a="http://schemas.openxmlformats.org/drawingml/2006/main">
              <a:ext uri="{FF2B5EF4-FFF2-40B4-BE49-F238E27FC236}">
                <a16:creationId xmlns:a16="http://schemas.microsoft.com/office/drawing/2014/main" id="{32B8D3FF-1451-4C22-BC16-AE92917F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</p:spTree>
    <p:extLst>
      <p:ext uri="{BB962C8B-B14F-4D97-AF65-F5344CB8AC3E}">
        <p14:creationId xmlns:p14="http://schemas.microsoft.com/office/powerpoint/2010/main" val="1088180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834D015E-E89D-4707-A911-E638113D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78DCFF01-63A3-49BE-8B90-0240D872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4649775A-B5D5-4C48-8371-19102D16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90CF72-2633-4895-92D4-0F35E61A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5" name="conclusion-answer-field">
            <a:extLst xmlns:a="http://schemas.openxmlformats.org/drawingml/2006/main">
              <a:ext uri="{FF2B5EF4-FFF2-40B4-BE49-F238E27FC236}">
                <a16:creationId xmlns:a16="http://schemas.microsoft.com/office/drawing/2014/main" id="{957A00E0-0767-4D80-A7A6-37988ADB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88C27958-26EB-47FC-961E-85656676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7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6567EF82-F35B-4EEA-BF92-C5F175F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先做两厂试点，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用结果决定扩围</a:t>
            </a:r>
          </a:p>
        </p:txBody>
      </p:sp>
      <p:sp>
        <p:nvSpPr>
          <p:cNvPr id="8" name="conclusion-subtitle">
            <a:extLst xmlns:a="http://schemas.openxmlformats.org/drawingml/2006/main">
              <a:ext uri="{FF2B5EF4-FFF2-40B4-BE49-F238E27FC236}">
                <a16:creationId xmlns:a16="http://schemas.microsoft.com/office/drawing/2014/main" id="{E114AC32-FC54-4AF2-AD3B-80893D6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数据治理、现场流程和责任机制优先于新增大屏。</a:t>
            </a:r>
          </a:p>
        </p:txBody>
      </p:sp>
      <p:sp>
        <p:nvSpPr>
          <p:cNvPr id="9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39C01C32-3798-4C33-85DA-A9C0C99D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conclusion-point-1">
            <a:extLst xmlns:a="http://schemas.openxmlformats.org/drawingml/2006/main">
              <a:ext uri="{FF2B5EF4-FFF2-40B4-BE49-F238E27FC236}">
                <a16:creationId xmlns:a16="http://schemas.microsoft.com/office/drawing/2014/main" id="{F30570EA-0BCB-4BAB-B2E4-FE842CCC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1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EAF3276D-E9A2-4152-944B-F6101D9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A59933A7-AD4B-4CAB-8D9B-0679D41F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nclusion-point-2">
            <a:extLst xmlns:a="http://schemas.openxmlformats.org/drawingml/2006/main">
              <a:ext uri="{FF2B5EF4-FFF2-40B4-BE49-F238E27FC236}">
                <a16:creationId xmlns:a16="http://schemas.microsoft.com/office/drawing/2014/main" id="{E4C512C2-6D56-40B0-9862-E0A6E59B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  <p:sp>
        <p:nvSpPr>
          <p:cNvPr id="1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6DB14802-1828-4A83-BB9B-4F97384F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1145F999-93C3-469A-80F9-17E65E43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1682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nclusion-point-3">
            <a:extLst xmlns:a="http://schemas.openxmlformats.org/drawingml/2006/main">
              <a:ext uri="{FF2B5EF4-FFF2-40B4-BE49-F238E27FC236}">
                <a16:creationId xmlns:a16="http://schemas.microsoft.com/office/drawing/2014/main" id="{7C9EBD0A-E455-4C91-A424-83D3EFE6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052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所有指标需保留工厂、产线和产品层级口径，避免用总体平均掩盖局部问题。</a:t>
            </a:r>
          </a:p>
        </p:txBody>
      </p:sp>
      <p:sp>
        <p:nvSpPr>
          <p:cNvPr id="17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2C517888-BED4-4D50-B00D-9DFA35B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8995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2026-08-22T13:10:14.3750000Z</dcterms:created>
  <dcterms:modified xsi:type="dcterms:W3CDTF">2026-08-22T13:10:14.3750000Z</dcterms:modified>
</coreProperties>
</file>