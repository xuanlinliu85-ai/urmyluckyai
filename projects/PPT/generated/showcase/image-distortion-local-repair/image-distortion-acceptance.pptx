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44f1ce6a9f45f3" /><Relationship Type="http://schemas.openxmlformats.org/officeDocument/2006/relationships/extended-properties" Target="/docProps/app.xml" Id="R3efb436559d943a1" /><Relationship Type="http://schemas.openxmlformats.org/officeDocument/2006/relationships/officeDocument" Target="/ppt/presentation.xml" Id="Rd5c56afe405b4c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7697baa87b4a75"/>
  </p:sldMasterIdLst>
  <p:notesMasterIdLst>
    <p:notesMasterId xmlns:r="http://schemas.openxmlformats.org/officeDocument/2006/relationships" r:id="Re72ef502768d496d"/>
  </p:notesMasterIdLst>
  <p:sldIdLst>
    <p:sldId xmlns:r="http://schemas.openxmlformats.org/officeDocument/2006/relationships" id="256" r:id="Rb1fba92509d948ed"/>
    <p:sldId xmlns:r="http://schemas.openxmlformats.org/officeDocument/2006/relationships" id="257" r:id="R356c0faac17a4973"/>
    <p:sldId xmlns:r="http://schemas.openxmlformats.org/officeDocument/2006/relationships" id="258" r:id="R187f3ea3e82b4f59"/>
    <p:sldId xmlns:r="http://schemas.openxmlformats.org/officeDocument/2006/relationships" id="259" r:id="Rf60dc405200b4658"/>
    <p:sldId xmlns:r="http://schemas.openxmlformats.org/officeDocument/2006/relationships" id="260" r:id="R273e70c1c730438d"/>
    <p:sldId xmlns:r="http://schemas.openxmlformats.org/officeDocument/2006/relationships" id="261" r:id="Rd54e7e51ea20414e"/>
    <p:sldId xmlns:r="http://schemas.openxmlformats.org/officeDocument/2006/relationships" id="262" r:id="R1d4f7963993746ac"/>
    <p:sldId xmlns:r="http://schemas.openxmlformats.org/officeDocument/2006/relationships" id="263" r:id="R1c90eb6b203143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9c720524fa4230" /><Relationship Type="http://schemas.openxmlformats.org/officeDocument/2006/relationships/slideMaster" Target="/ppt/slideMasters/slideMaster1.xml" Id="Rf07697baa87b4a75" /><Relationship Type="http://schemas.openxmlformats.org/officeDocument/2006/relationships/notesMaster" Target="/ppt/notesMasters/notesMaster1.xml" Id="Re72ef502768d496d" /><Relationship Type="http://schemas.openxmlformats.org/officeDocument/2006/relationships/presProps" Target="/ppt/presProps.xml" Id="Re37899d9da6c47fa" /><Relationship Type="http://schemas.openxmlformats.org/officeDocument/2006/relationships/tableStyles" Target="/ppt/tableStyles.xml" Id="R3ec9d49f8f054e94" /><Relationship Type="http://schemas.openxmlformats.org/officeDocument/2006/relationships/slide" Target="/ppt/slides/slide1.xml" Id="Rb1fba92509d948ed" /><Relationship Type="http://schemas.openxmlformats.org/officeDocument/2006/relationships/slide" Target="/ppt/slides/slide2.xml" Id="R356c0faac17a4973" /><Relationship Type="http://schemas.openxmlformats.org/officeDocument/2006/relationships/slide" Target="/ppt/slides/slide3.xml" Id="R187f3ea3e82b4f59" /><Relationship Type="http://schemas.openxmlformats.org/officeDocument/2006/relationships/slide" Target="/ppt/slides/slide4.xml" Id="Rf60dc405200b4658" /><Relationship Type="http://schemas.openxmlformats.org/officeDocument/2006/relationships/slide" Target="/ppt/slides/slide5.xml" Id="R273e70c1c730438d" /><Relationship Type="http://schemas.openxmlformats.org/officeDocument/2006/relationships/slide" Target="/ppt/slides/slide6.xml" Id="Rd54e7e51ea20414e" /><Relationship Type="http://schemas.openxmlformats.org/officeDocument/2006/relationships/slide" Target="/ppt/slides/slide7.xml" Id="R1d4f7963993746ac" /><Relationship Type="http://schemas.openxmlformats.org/officeDocument/2006/relationships/slide" Target="/ppt/slides/slide8.xml" Id="R1c90eb6b203143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13cd89f46a49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24de5686d84ee1" /><Relationship Type="http://schemas.openxmlformats.org/officeDocument/2006/relationships/notesMaster" Target="/ppt/notesMasters/notesMaster1.xml" Id="R4b53d23ad89c4a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88801c8d324d88" /><Relationship Type="http://schemas.openxmlformats.org/officeDocument/2006/relationships/notesMaster" Target="/ppt/notesMasters/notesMaster1.xml" Id="R0c3570391a014c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e7163bc3ed4ff3" /><Relationship Type="http://schemas.openxmlformats.org/officeDocument/2006/relationships/notesMaster" Target="/ppt/notesMasters/notesMaster1.xml" Id="R085a2be0d36d4d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d4ed3c8da24e31" /><Relationship Type="http://schemas.openxmlformats.org/officeDocument/2006/relationships/notesMaster" Target="/ppt/notesMasters/notesMaster1.xml" Id="Rb8cb6bd46fde44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d4e372c3f64d18" /><Relationship Type="http://schemas.openxmlformats.org/officeDocument/2006/relationships/notesMaster" Target="/ppt/notesMasters/notesMaster1.xml" Id="R3a6ba4a69f0f4a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add4954e864d51" /><Relationship Type="http://schemas.openxmlformats.org/officeDocument/2006/relationships/notesMaster" Target="/ppt/notesMasters/notesMaster1.xml" Id="R3a930afcdcd84d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011c7f8eac48bd" /><Relationship Type="http://schemas.openxmlformats.org/officeDocument/2006/relationships/notesMaster" Target="/ppt/notesMasters/notesMaster1.xml" Id="R7689d26d0db044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553642370f4f2f" /><Relationship Type="http://schemas.openxmlformats.org/officeDocument/2006/relationships/notesMaster" Target="/ppt/notesMasters/notesMaster1.xml" Id="R4bb7f150508843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storyline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storyline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storyline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Native business metrics from Content Analysis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Native business metrics from Content Analysis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Timeline derived from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Targets and guardrails from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2f1522dcd40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0fc8a03f72499c" /><Relationship Type="http://schemas.openxmlformats.org/officeDocument/2006/relationships/slideLayout" Target="/ppt/slideLayouts/slideLayout1.xml" Id="R2b517a7289fe44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517a7289fe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ac2c67c87457e" /><Relationship Type="http://schemas.openxmlformats.org/officeDocument/2006/relationships/image" Target="/ppt/media/image.png" Id="R2361af6137c04165" /><Relationship Type="http://schemas.openxmlformats.org/officeDocument/2006/relationships/notesSlide" Target="/ppt/notesSlides/notesSlide1.xml" Id="Rad3fc8704b234c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cf86365b946b8" /><Relationship Type="http://schemas.openxmlformats.org/officeDocument/2006/relationships/notesSlide" Target="/ppt/notesSlides/notesSlide2.xml" Id="Rdc0fc45869774e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1462940194bfc" /><Relationship Type="http://schemas.openxmlformats.org/officeDocument/2006/relationships/notesSlide" Target="/ppt/notesSlides/notesSlide3.xml" Id="Rdc0fa25eb73740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8161e00804ef3" /><Relationship Type="http://schemas.openxmlformats.org/officeDocument/2006/relationships/notesSlide" Target="/ppt/notesSlides/notesSlide4.xml" Id="Rc3a6d779669c47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7665637194b6e" /><Relationship Type="http://schemas.openxmlformats.org/officeDocument/2006/relationships/notesSlide" Target="/ppt/notesSlides/notesSlide5.xml" Id="Rcaf37f291d7645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2c309dc904b07" /><Relationship Type="http://schemas.openxmlformats.org/officeDocument/2006/relationships/notesSlide" Target="/ppt/notesSlides/notesSlide6.xml" Id="R0ba0e9e0e6044d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c74d97c994531" /><Relationship Type="http://schemas.openxmlformats.org/officeDocument/2006/relationships/notesSlide" Target="/ppt/notesSlides/notesSlide7.xml" Id="R0ed3848dd02144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250095c2645a0" /><Relationship Type="http://schemas.openxmlformats.org/officeDocument/2006/relationships/notesSlide" Target="/ppt/notesSlides/notesSlide8.xml" Id="R0ab7e16681b142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accent">
            <a:extLst xmlns:a="http://schemas.openxmlformats.org/drawingml/2006/main">
              <a:ext uri="{FF2B5EF4-FFF2-40B4-BE49-F238E27FC236}">
                <a16:creationId xmlns:a16="http://schemas.microsoft.com/office/drawing/2014/main" id="{2C573E33-8203-4F63-AD7B-E3740D28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DF8A0AE4-A3F5-470E-B2C3-92E7D076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BDBB279A-B60C-4FDF-97A5-A668AD3C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A · 编辑叙事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3B8F2A-C1B4-4C74-843C-3017E38E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01 / 08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89119AC4-7F12-4764-86E5-F1576826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B850F08-D401-490C-8BCD-CCB62E7B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819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制造服务运营与数字质量改进简报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19B0949-1B5E-43F0-BAA5-B7DC4EF1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形成可执行的运营改进决策</a:t>
            </a:r>
          </a:p>
        </p:txBody>
      </p:sp>
      <p:sp>
        <p:nvSpPr>
          <p:cNvPr id="8" name="cover-visual">
            <a:extLst xmlns:a="http://schemas.openxmlformats.org/drawingml/2006/main">
              <a:ext uri="{FF2B5EF4-FFF2-40B4-BE49-F238E27FC236}">
                <a16:creationId xmlns:a16="http://schemas.microsoft.com/office/drawing/2014/main" id="{B1B2433B-583C-4F48-A50D-B6E907C0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52500"/>
            <a:ext cx="2286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74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qa-fixture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1af6137c04165"/>
          <a:stretch xmlns:a="http://schemas.openxmlformats.org/drawingml/2006/main"/>
        </p:blipFill>
        <p:spPr>
          <a:xfrm xmlns:a="http://schemas.openxmlformats.org/drawingml/2006/main">
            <a:off x="9525000" y="3574852"/>
            <a:ext cx="2190750" cy="12322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42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50A3C905-5251-43FC-8AF7-EBA6CEE3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2B120121-ACD6-4701-832D-783D66FA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41FFDE4D-495C-447C-8E83-6E6ABC05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A · 编辑叙事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BA569A-C58B-4AF4-8D95-8B38FD93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2C4D81-C379-4213-AF06-257C6162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核心判断与关键依据</a:t>
            </a:r>
          </a:p>
        </p:txBody>
      </p:sp>
      <p:sp>
        <p:nvSpPr>
          <p:cNvPr id="6" name="summary-index-1">
            <a:extLst xmlns:a="http://schemas.openxmlformats.org/drawingml/2006/main">
              <a:ext uri="{FF2B5EF4-FFF2-40B4-BE49-F238E27FC236}">
                <a16:creationId xmlns:a16="http://schemas.microsoft.com/office/drawing/2014/main" id="{E486CACF-8FB8-4E4D-93C5-82953C5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ummary-point-1">
            <a:extLst xmlns:a="http://schemas.openxmlformats.org/drawingml/2006/main">
              <a:ext uri="{FF2B5EF4-FFF2-40B4-BE49-F238E27FC236}">
                <a16:creationId xmlns:a16="http://schemas.microsoft.com/office/drawing/2014/main" id="{C2C327E0-38F1-4DBD-8610-07F965E6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4307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制造服务运营与数字质量改进简报</a:t>
            </a:r>
          </a:p>
        </p:txBody>
      </p:sp>
      <p:sp>
        <p:nvSpPr>
          <p:cNvPr id="8" name="summary-rule-1">
            <a:extLst xmlns:a="http://schemas.openxmlformats.org/drawingml/2006/main">
              <a:ext uri="{FF2B5EF4-FFF2-40B4-BE49-F238E27FC236}">
                <a16:creationId xmlns:a16="http://schemas.microsoft.com/office/drawing/2014/main" id="{0799EE2B-8C87-4556-A80B-0EC23521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907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mmary-index-2">
            <a:extLst xmlns:a="http://schemas.openxmlformats.org/drawingml/2006/main">
              <a:ext uri="{FF2B5EF4-FFF2-40B4-BE49-F238E27FC236}">
                <a16:creationId xmlns:a16="http://schemas.microsoft.com/office/drawing/2014/main" id="{4461E4A1-6FA2-4CCD-957E-AAD3B447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summary-point-2">
            <a:extLst xmlns:a="http://schemas.openxmlformats.org/drawingml/2006/main">
              <a:ext uri="{FF2B5EF4-FFF2-40B4-BE49-F238E27FC236}">
                <a16:creationId xmlns:a16="http://schemas.microsoft.com/office/drawing/2014/main" id="{DFC13DCC-5874-415F-A106-4D210CC0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未来两个季度不应继续铺开零散系统，而应把交付准时率、一次检验通过率和设备停机时间作为同一条运营链路治理。</a:t>
            </a:r>
          </a:p>
        </p:txBody>
      </p:sp>
      <p:sp>
        <p:nvSpPr>
          <p:cNvPr id="11" name="summary-rule-2">
            <a:extLst xmlns:a="http://schemas.openxmlformats.org/drawingml/2006/main">
              <a:ext uri="{FF2B5EF4-FFF2-40B4-BE49-F238E27FC236}">
                <a16:creationId xmlns:a16="http://schemas.microsoft.com/office/drawing/2014/main" id="{11D0227A-D867-4449-BC41-71F20593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813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C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mmary-index-3">
            <a:extLst xmlns:a="http://schemas.openxmlformats.org/drawingml/2006/main">
              <a:ext uri="{FF2B5EF4-FFF2-40B4-BE49-F238E27FC236}">
                <a16:creationId xmlns:a16="http://schemas.microsoft.com/office/drawing/2014/main" id="{B044F141-7BE4-42F2-8818-A66D6E13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summary-point-3">
            <a:extLst xmlns:a="http://schemas.openxmlformats.org/drawingml/2006/main">
              <a:ext uri="{FF2B5EF4-FFF2-40B4-BE49-F238E27FC236}">
                <a16:creationId xmlns:a16="http://schemas.microsoft.com/office/drawing/2014/main" id="{414F8C1A-6C5E-4CCF-84DC-D54354FC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2427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试点应先覆盖华东两座工厂，再根据可复制性决定扩围。</a:t>
            </a:r>
          </a:p>
        </p:txBody>
      </p:sp>
      <p:sp>
        <p:nvSpPr>
          <p:cNvPr id="14" name="summary-rule-3">
            <a:extLst xmlns:a="http://schemas.openxmlformats.org/drawingml/2006/main">
              <a:ext uri="{FF2B5EF4-FFF2-40B4-BE49-F238E27FC236}">
                <a16:creationId xmlns:a16="http://schemas.microsoft.com/office/drawing/2014/main" id="{36870BEE-B6A8-492D-8504-2A39CFF4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719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C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mmary-index-4">
            <a:extLst xmlns:a="http://schemas.openxmlformats.org/drawingml/2006/main">
              <a:ext uri="{FF2B5EF4-FFF2-40B4-BE49-F238E27FC236}">
                <a16:creationId xmlns:a16="http://schemas.microsoft.com/office/drawing/2014/main" id="{C581CA5E-AB55-4C41-AE1C-6AC90EFF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summary-point-4">
            <a:extLst xmlns:a="http://schemas.openxmlformats.org/drawingml/2006/main">
              <a:ext uri="{FF2B5EF4-FFF2-40B4-BE49-F238E27FC236}">
                <a16:creationId xmlns:a16="http://schemas.microsoft.com/office/drawing/2014/main" id="{B421F12B-A638-4D6A-8FEC-5E7457A9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1487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17" name="summary-rule-4">
            <a:extLst xmlns:a="http://schemas.openxmlformats.org/drawingml/2006/main">
              <a:ext uri="{FF2B5EF4-FFF2-40B4-BE49-F238E27FC236}">
                <a16:creationId xmlns:a16="http://schemas.microsoft.com/office/drawing/2014/main" id="{38CAE202-DD7A-46F3-B226-C2B89B68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625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C7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5550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62A9806F-CA1A-4E32-A37D-098087E5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13F6C164-58E3-4C39-985A-C562B5BA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08F1118E-407A-45C1-B069-E168D300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A · 编辑叙事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35F37A-F976-49AE-B881-BAF3DFFB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9D4D4E-6935-4112-A89C-66366B67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运营问题必须按一条链路治理</a:t>
            </a:r>
          </a:p>
        </p:txBody>
      </p:sp>
      <p:sp>
        <p:nvSpPr>
          <p:cNvPr id="6" name="editorial-answer-field">
            <a:extLst xmlns:a="http://schemas.openxmlformats.org/drawingml/2006/main">
              <a:ext uri="{FF2B5EF4-FFF2-40B4-BE49-F238E27FC236}">
                <a16:creationId xmlns:a16="http://schemas.microsoft.com/office/drawing/2014/main" id="{498AB949-3B78-4C36-A831-097BDE01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ditorial-kicker">
            <a:extLst xmlns:a="http://schemas.openxmlformats.org/drawingml/2006/main">
              <a:ext uri="{FF2B5EF4-FFF2-40B4-BE49-F238E27FC236}">
                <a16:creationId xmlns:a16="http://schemas.microsoft.com/office/drawing/2014/main" id="{807CAA30-B5F8-4EA2-8091-868296A1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rPr>
              <a:t>OPERATING PRINCIPLE</a:t>
            </a:r>
          </a:p>
        </p:txBody>
      </p:sp>
      <p:sp>
        <p:nvSpPr>
          <p:cNvPr id="8" name="editorial-claim">
            <a:extLst xmlns:a="http://schemas.openxmlformats.org/drawingml/2006/main">
              <a:ext uri="{FF2B5EF4-FFF2-40B4-BE49-F238E27FC236}">
                <a16:creationId xmlns:a16="http://schemas.microsoft.com/office/drawing/2014/main" id="{8DBFD742-6589-43C6-8BAC-75D5C6EE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未来两个季度不应继续铺开零散系统</a:t>
            </a:r>
          </a:p>
        </p:txBody>
      </p:sp>
      <p:sp>
        <p:nvSpPr>
          <p:cNvPr id="9" name="editorial-caption">
            <a:extLst xmlns:a="http://schemas.openxmlformats.org/drawingml/2006/main">
              <a:ext uri="{FF2B5EF4-FFF2-40B4-BE49-F238E27FC236}">
                <a16:creationId xmlns:a16="http://schemas.microsoft.com/office/drawing/2014/main" id="{DCFB4B36-95E3-4889-9BD4-F4EC0DCA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从单点系统建设转向跨环节经营闭环</a:t>
            </a:r>
          </a:p>
        </p:txBody>
      </p:sp>
      <p:sp>
        <p:nvSpPr>
          <p:cNvPr id="10" name="editorial-number-1">
            <a:extLst xmlns:a="http://schemas.openxmlformats.org/drawingml/2006/main">
              <a:ext uri="{FF2B5EF4-FFF2-40B4-BE49-F238E27FC236}">
                <a16:creationId xmlns:a16="http://schemas.microsoft.com/office/drawing/2014/main" id="{D1D7824E-AE27-4031-8FFE-B268EC92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editorial-proof-1">
            <a:extLst xmlns:a="http://schemas.openxmlformats.org/drawingml/2006/main">
              <a:ext uri="{FF2B5EF4-FFF2-40B4-BE49-F238E27FC236}">
                <a16:creationId xmlns:a16="http://schemas.microsoft.com/office/drawing/2014/main" id="{51B0D24E-8693-4486-B9BA-02D02602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3832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而应把交付准时率、一次检验通过率和设备停机时间作为同一条运营链路治理</a:t>
            </a:r>
          </a:p>
        </p:txBody>
      </p:sp>
      <p:sp>
        <p:nvSpPr>
          <p:cNvPr id="12" name="editorial-proof-rule-1">
            <a:extLst xmlns:a="http://schemas.openxmlformats.org/drawingml/2006/main">
              <a:ext uri="{FF2B5EF4-FFF2-40B4-BE49-F238E27FC236}">
                <a16:creationId xmlns:a16="http://schemas.microsoft.com/office/drawing/2014/main" id="{E22C99CE-CE64-4389-94D8-3FB9B579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955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orial-number-2">
            <a:extLst xmlns:a="http://schemas.openxmlformats.org/drawingml/2006/main">
              <a:ext uri="{FF2B5EF4-FFF2-40B4-BE49-F238E27FC236}">
                <a16:creationId xmlns:a16="http://schemas.microsoft.com/office/drawing/2014/main" id="{A33E3BB4-922A-4795-9F7F-F82A2E84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622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editorial-proof-2">
            <a:extLst xmlns:a="http://schemas.openxmlformats.org/drawingml/2006/main">
              <a:ext uri="{FF2B5EF4-FFF2-40B4-BE49-F238E27FC236}">
                <a16:creationId xmlns:a16="http://schemas.microsoft.com/office/drawing/2014/main" id="{E32AF4B5-E564-40AB-ADB5-93FCDE8C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试点应先覆盖华东两座工厂，再根据可复制性决定扩围。</a:t>
            </a:r>
          </a:p>
        </p:txBody>
      </p:sp>
      <p:sp>
        <p:nvSpPr>
          <p:cNvPr id="15" name="editorial-proof-rule-2">
            <a:extLst xmlns:a="http://schemas.openxmlformats.org/drawingml/2006/main">
              <a:ext uri="{FF2B5EF4-FFF2-40B4-BE49-F238E27FC236}">
                <a16:creationId xmlns:a16="http://schemas.microsoft.com/office/drawing/2014/main" id="{41146D0F-4B3F-409E-9C49-4C2A80DB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004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2735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">
            <a:extLst xmlns:a="http://schemas.openxmlformats.org/drawingml/2006/main">
              <a:ext uri="{FF2B5EF4-FFF2-40B4-BE49-F238E27FC236}">
                <a16:creationId xmlns:a16="http://schemas.microsoft.com/office/drawing/2014/main" id="{6C9FB6BD-3FA8-4849-A75A-FA90A52E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FFE70872-22F4-4F9A-89DC-819D3BBB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57EA0300-773E-4FFC-B090-C0A2A291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A · 编辑叙事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82A9122-373E-4B1E-ACB7-281FCE6C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F9ECFB-641D-45D2-9CF3-32C9602A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6" name="metric-editorial-field">
            <a:extLst xmlns:a="http://schemas.openxmlformats.org/drawingml/2006/main">
              <a:ext uri="{FF2B5EF4-FFF2-40B4-BE49-F238E27FC236}">
                <a16:creationId xmlns:a16="http://schemas.microsoft.com/office/drawing/2014/main" id="{FA909AB9-ECBA-49D5-BB9C-9E0243DF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476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FE7D8"/>
            </a:solidFill>
            <a:prstDash val="solid"/>
          </a:ln>
        </p:spPr>
      </p:sp>
      <p:sp>
        <p:nvSpPr>
          <p:cNvPr id="7" name="metric-editorial-kicker">
            <a:extLst xmlns:a="http://schemas.openxmlformats.org/drawingml/2006/main">
              <a:ext uri="{FF2B5EF4-FFF2-40B4-BE49-F238E27FC236}">
                <a16:creationId xmlns:a16="http://schemas.microsoft.com/office/drawing/2014/main" id="{14DC58A6-41B2-4813-BE68-199F3BF4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rPr>
              <a:t>PRIMARY SIGNAL</a:t>
            </a:r>
          </a:p>
        </p:txBody>
      </p:sp>
      <p:sp>
        <p:nvSpPr>
          <p:cNvPr id="8" name="metric-editorial-value">
            <a:extLst xmlns:a="http://schemas.openxmlformats.org/drawingml/2006/main">
              <a:ext uri="{FF2B5EF4-FFF2-40B4-BE49-F238E27FC236}">
                <a16:creationId xmlns:a16="http://schemas.microsoft.com/office/drawing/2014/main" id="{E24FD780-86C1-4CC8-ABC8-A97F63E3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4795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rPr>
              <a:t>18%</a:t>
            </a:r>
          </a:p>
        </p:txBody>
      </p:sp>
      <p:sp>
        <p:nvSpPr>
          <p:cNvPr id="9" name="metric-editorial-copy">
            <a:extLst xmlns:a="http://schemas.openxmlformats.org/drawingml/2006/main">
              <a:ext uri="{FF2B5EF4-FFF2-40B4-BE49-F238E27FC236}">
                <a16:creationId xmlns:a16="http://schemas.microsoft.com/office/drawing/2014/main" id="{5523246F-6680-42BB-A3D4-09C2E5EB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10" name="metric-side-value-1">
            <a:extLst xmlns:a="http://schemas.openxmlformats.org/drawingml/2006/main">
              <a:ext uri="{FF2B5EF4-FFF2-40B4-BE49-F238E27FC236}">
                <a16:creationId xmlns:a16="http://schemas.microsoft.com/office/drawing/2014/main" id="{5D664EF0-C5DB-4665-9505-87093643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11" name="metric-side-copy-1">
            <a:extLst xmlns:a="http://schemas.openxmlformats.org/drawingml/2006/main">
              <a:ext uri="{FF2B5EF4-FFF2-40B4-BE49-F238E27FC236}">
                <a16:creationId xmlns:a16="http://schemas.microsoft.com/office/drawing/2014/main" id="{0E266C18-1575-474D-9FD3-B25F99EF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716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12" name="metric-side-rule-1">
            <a:extLst xmlns:a="http://schemas.openxmlformats.org/drawingml/2006/main">
              <a:ext uri="{FF2B5EF4-FFF2-40B4-BE49-F238E27FC236}">
                <a16:creationId xmlns:a16="http://schemas.microsoft.com/office/drawing/2014/main" id="{79EFA11D-A1FB-4DF9-9B1E-60D772F8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955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side-value-2">
            <a:extLst xmlns:a="http://schemas.openxmlformats.org/drawingml/2006/main">
              <a:ext uri="{FF2B5EF4-FFF2-40B4-BE49-F238E27FC236}">
                <a16:creationId xmlns:a16="http://schemas.microsoft.com/office/drawing/2014/main" id="{9CCBBE1E-0529-4539-AA60-59D44F26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575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88%</a:t>
            </a:r>
          </a:p>
        </p:txBody>
      </p:sp>
      <p:sp>
        <p:nvSpPr>
          <p:cNvPr id="14" name="metric-side-copy-2">
            <a:extLst xmlns:a="http://schemas.openxmlformats.org/drawingml/2006/main">
              <a:ext uri="{FF2B5EF4-FFF2-40B4-BE49-F238E27FC236}">
                <a16:creationId xmlns:a16="http://schemas.microsoft.com/office/drawing/2014/main" id="{A8766807-7570-4F66-A1E5-1EF72956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765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15" name="metric-side-rule-2">
            <a:extLst xmlns:a="http://schemas.openxmlformats.org/drawingml/2006/main">
              <a:ext uri="{FF2B5EF4-FFF2-40B4-BE49-F238E27FC236}">
                <a16:creationId xmlns:a16="http://schemas.microsoft.com/office/drawing/2014/main" id="{BFBAE493-9B7E-4FFB-A740-74508465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004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side-value-3">
            <a:extLst xmlns:a="http://schemas.openxmlformats.org/drawingml/2006/main">
              <a:ext uri="{FF2B5EF4-FFF2-40B4-BE49-F238E27FC236}">
                <a16:creationId xmlns:a16="http://schemas.microsoft.com/office/drawing/2014/main" id="{5A306D06-1B94-497D-8DF2-658CEDCB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624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4.6%</a:t>
            </a:r>
          </a:p>
        </p:txBody>
      </p:sp>
      <p:sp>
        <p:nvSpPr>
          <p:cNvPr id="17" name="metric-side-copy-3">
            <a:extLst xmlns:a="http://schemas.openxmlformats.org/drawingml/2006/main">
              <a:ext uri="{FF2B5EF4-FFF2-40B4-BE49-F238E27FC236}">
                <a16:creationId xmlns:a16="http://schemas.microsoft.com/office/drawing/2014/main" id="{D80EB0CC-3B75-40B6-B353-207195B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814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返工成本占制造成本的 4.6%，其中 57% 来自三类重复质量缺陷。</a:t>
            </a:r>
          </a:p>
        </p:txBody>
      </p:sp>
      <p:sp>
        <p:nvSpPr>
          <p:cNvPr id="18" name="metric-side-rule-3">
            <a:extLst xmlns:a="http://schemas.openxmlformats.org/drawingml/2006/main">
              <a:ext uri="{FF2B5EF4-FFF2-40B4-BE49-F238E27FC236}">
                <a16:creationId xmlns:a16="http://schemas.microsoft.com/office/drawing/2014/main" id="{6B53D504-605D-4744-AFC2-049E7737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053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45512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">
            <a:extLst xmlns:a="http://schemas.openxmlformats.org/drawingml/2006/main">
              <a:ext uri="{FF2B5EF4-FFF2-40B4-BE49-F238E27FC236}">
                <a16:creationId xmlns:a16="http://schemas.microsoft.com/office/drawing/2014/main" id="{D7B866CD-4D70-4EED-9899-7F7FF5FA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8C2965B8-E530-4B00-B16D-005F09CE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7698D84B-229F-42EF-8EA8-568C159A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A · 编辑叙事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CA8B43-5E19-4691-986F-E7988F8C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449FA6-AFD4-4E1B-9420-9DFD049E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12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6" name="metric-editorial-field">
            <a:extLst xmlns:a="http://schemas.openxmlformats.org/drawingml/2006/main">
              <a:ext uri="{FF2B5EF4-FFF2-40B4-BE49-F238E27FC236}">
                <a16:creationId xmlns:a16="http://schemas.microsoft.com/office/drawing/2014/main" id="{AAC9359C-B818-43A3-B1D3-3E718DA4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476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FE7D8"/>
            </a:solidFill>
            <a:prstDash val="solid"/>
          </a:ln>
        </p:spPr>
      </p:sp>
      <p:sp>
        <p:nvSpPr>
          <p:cNvPr id="7" name="metric-editorial-kicker">
            <a:extLst xmlns:a="http://schemas.openxmlformats.org/drawingml/2006/main">
              <a:ext uri="{FF2B5EF4-FFF2-40B4-BE49-F238E27FC236}">
                <a16:creationId xmlns:a16="http://schemas.microsoft.com/office/drawing/2014/main" id="{ADEDE809-F56F-4C8A-B9FE-B676ABD6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rPr>
              <a:t>PRIMARY SIGNAL</a:t>
            </a:r>
          </a:p>
        </p:txBody>
      </p:sp>
      <p:sp>
        <p:nvSpPr>
          <p:cNvPr id="8" name="metric-editorial-value">
            <a:extLst xmlns:a="http://schemas.openxmlformats.org/drawingml/2006/main">
              <a:ext uri="{FF2B5EF4-FFF2-40B4-BE49-F238E27FC236}">
                <a16:creationId xmlns:a16="http://schemas.microsoft.com/office/drawing/2014/main" id="{4309C4D1-7CBD-4F1C-BA1A-D782CAE2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4795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rPr>
              <a:t>126小时</a:t>
            </a:r>
          </a:p>
        </p:txBody>
      </p:sp>
      <p:sp>
        <p:nvSpPr>
          <p:cNvPr id="9" name="metric-editorial-copy">
            <a:extLst xmlns:a="http://schemas.openxmlformats.org/drawingml/2006/main">
              <a:ext uri="{FF2B5EF4-FFF2-40B4-BE49-F238E27FC236}">
                <a16:creationId xmlns:a16="http://schemas.microsoft.com/office/drawing/2014/main" id="{A22B21CD-0FC2-407E-81C9-FCBFBD7F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10" name="metric-side-value-1">
            <a:extLst xmlns:a="http://schemas.openxmlformats.org/drawingml/2006/main">
              <a:ext uri="{FF2B5EF4-FFF2-40B4-BE49-F238E27FC236}">
                <a16:creationId xmlns:a16="http://schemas.microsoft.com/office/drawing/2014/main" id="{2565BDEE-D585-46E1-907B-604A5BDD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35%</a:t>
            </a:r>
          </a:p>
        </p:txBody>
      </p:sp>
      <p:sp>
        <p:nvSpPr>
          <p:cNvPr id="11" name="metric-side-copy-1">
            <a:extLst xmlns:a="http://schemas.openxmlformats.org/drawingml/2006/main">
              <a:ext uri="{FF2B5EF4-FFF2-40B4-BE49-F238E27FC236}">
                <a16:creationId xmlns:a16="http://schemas.microsoft.com/office/drawing/2014/main" id="{DFA5297C-5C88-4681-B47C-65A43187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716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12" name="metric-side-rule-1">
            <a:extLst xmlns:a="http://schemas.openxmlformats.org/drawingml/2006/main">
              <a:ext uri="{FF2B5EF4-FFF2-40B4-BE49-F238E27FC236}">
                <a16:creationId xmlns:a16="http://schemas.microsoft.com/office/drawing/2014/main" id="{481A52B6-780E-47E4-8F46-FCFA657A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955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side-value-2">
            <a:extLst xmlns:a="http://schemas.openxmlformats.org/drawingml/2006/main">
              <a:ext uri="{FF2B5EF4-FFF2-40B4-BE49-F238E27FC236}">
                <a16:creationId xmlns:a16="http://schemas.microsoft.com/office/drawing/2014/main" id="{2B1E3D0B-8455-4058-9E4A-2B88232C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575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11.4天</a:t>
            </a:r>
          </a:p>
        </p:txBody>
      </p:sp>
      <p:sp>
        <p:nvSpPr>
          <p:cNvPr id="14" name="metric-side-copy-2">
            <a:extLst xmlns:a="http://schemas.openxmlformats.org/drawingml/2006/main">
              <a:ext uri="{FF2B5EF4-FFF2-40B4-BE49-F238E27FC236}">
                <a16:creationId xmlns:a16="http://schemas.microsoft.com/office/drawing/2014/main" id="{5D373860-88F9-40F0-8794-B09BE4D5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765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当前质量异常从发现到关闭平均需要 11.4 天，跨部门等待占其中 6.2 天。</a:t>
            </a:r>
          </a:p>
        </p:txBody>
      </p:sp>
      <p:sp>
        <p:nvSpPr>
          <p:cNvPr id="15" name="metric-side-rule-2">
            <a:extLst xmlns:a="http://schemas.openxmlformats.org/drawingml/2006/main">
              <a:ext uri="{FF2B5EF4-FFF2-40B4-BE49-F238E27FC236}">
                <a16:creationId xmlns:a16="http://schemas.microsoft.com/office/drawing/2014/main" id="{2D3EADB2-E1F5-4FE3-9F33-A899EB90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004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side-value-3">
            <a:extLst xmlns:a="http://schemas.openxmlformats.org/drawingml/2006/main">
              <a:ext uri="{FF2B5EF4-FFF2-40B4-BE49-F238E27FC236}">
                <a16:creationId xmlns:a16="http://schemas.microsoft.com/office/drawing/2014/main" id="{357A0FBC-66DE-4574-9ECA-D1ACC9C9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624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6.2天</a:t>
            </a:r>
          </a:p>
        </p:txBody>
      </p:sp>
      <p:sp>
        <p:nvSpPr>
          <p:cNvPr id="17" name="metric-side-copy-3">
            <a:extLst xmlns:a="http://schemas.openxmlformats.org/drawingml/2006/main">
              <a:ext uri="{FF2B5EF4-FFF2-40B4-BE49-F238E27FC236}">
                <a16:creationId xmlns:a16="http://schemas.microsoft.com/office/drawing/2014/main" id="{DB0C5BB4-C265-4521-8809-21D40221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814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当前质量异常从发现到关闭平均需要 11.4 天，跨部门等待占其中 6.2 天。</a:t>
            </a:r>
          </a:p>
        </p:txBody>
      </p:sp>
      <p:sp>
        <p:nvSpPr>
          <p:cNvPr id="18" name="metric-side-rule-3">
            <a:extLst xmlns:a="http://schemas.openxmlformats.org/drawingml/2006/main">
              <a:ext uri="{FF2B5EF4-FFF2-40B4-BE49-F238E27FC236}">
                <a16:creationId xmlns:a16="http://schemas.microsoft.com/office/drawing/2014/main" id="{4751A787-8CA9-4ACA-826E-678747B8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053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68593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8DBD9222-3E3A-4F51-9058-5DCFDEC7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8D9BFF72-DE89-44F4-9791-CEE610B9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2EB388A6-0F94-45D8-A6C0-67D0A64A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A · 编辑叙事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72DA8D-BDF0-4D16-8641-B1D0B9A6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0C3061-16D8-4524-A1F9-DC7185C7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71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第一阶段用 8 周建立统一事件编码和日级看板；第二阶段将质量异常、设备状态和交付承诺打通。</a:t>
            </a:r>
          </a:p>
        </p:txBody>
      </p:sp>
      <p:sp>
        <p:nvSpPr>
          <p:cNvPr id="6" name="timeline-spine">
            <a:extLst xmlns:a="http://schemas.openxmlformats.org/drawingml/2006/main">
              <a:ext uri="{FF2B5EF4-FFF2-40B4-BE49-F238E27FC236}">
                <a16:creationId xmlns:a16="http://schemas.microsoft.com/office/drawing/2014/main" id="{57FF2979-26BE-449B-BE59-3C86BDDD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81350"/>
            <a:ext cx="781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188035F5-146E-4991-ACDF-D35EF6E9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step-1">
            <a:extLst xmlns:a="http://schemas.openxmlformats.org/drawingml/2006/main">
              <a:ext uri="{FF2B5EF4-FFF2-40B4-BE49-F238E27FC236}">
                <a16:creationId xmlns:a16="http://schemas.microsoft.com/office/drawing/2014/main" id="{0455C1C9-3BEE-4201-B269-407BE95F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0AEA1D0F-14F9-4037-9351-CFE128F9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建立基线 · 8周</a:t>
            </a:r>
          </a:p>
        </p:txBody>
      </p:sp>
      <p:sp>
        <p:nvSpPr>
          <p:cNvPr id="10" name="timeline-copy-1">
            <a:extLst xmlns:a="http://schemas.openxmlformats.org/drawingml/2006/main">
              <a:ext uri="{FF2B5EF4-FFF2-40B4-BE49-F238E27FC236}">
                <a16:creationId xmlns:a16="http://schemas.microsoft.com/office/drawing/2014/main" id="{3546C5BC-F673-4AB9-B49E-BE4DD87A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第一阶段用 8 周建立统一事件编码和日级看板；第二阶段将质量异常、设备状态和交付承诺打通。</a:t>
            </a:r>
          </a:p>
        </p:txBody>
      </p:sp>
      <p:sp>
        <p:nvSpPr>
          <p:cNvPr id="11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186397A8-ACAD-43B3-A549-4911929F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step-2">
            <a:extLst xmlns:a="http://schemas.openxmlformats.org/drawingml/2006/main">
              <a:ext uri="{FF2B5EF4-FFF2-40B4-BE49-F238E27FC236}">
                <a16:creationId xmlns:a16="http://schemas.microsoft.com/office/drawing/2014/main" id="{DF4B4932-E7FD-4CC0-8379-4FEAFAA2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9C53661A-4369-48E1-BFDA-013B99B2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打通运营链路</a:t>
            </a:r>
          </a:p>
        </p:txBody>
      </p:sp>
      <p:sp>
        <p:nvSpPr>
          <p:cNvPr id="14" name="timeline-copy-2">
            <a:extLst xmlns:a="http://schemas.openxmlformats.org/drawingml/2006/main">
              <a:ext uri="{FF2B5EF4-FFF2-40B4-BE49-F238E27FC236}">
                <a16:creationId xmlns:a16="http://schemas.microsoft.com/office/drawing/2014/main" id="{FB0D3B5C-B9C0-447C-99E8-CA7DA56E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预算优先投向数据治理、现场流程和责任机制，不以采购更多大屏作为成果。</a:t>
            </a:r>
          </a:p>
        </p:txBody>
      </p:sp>
      <p:sp>
        <p:nvSpPr>
          <p:cNvPr id="15" name="timeline-decision">
            <a:extLst xmlns:a="http://schemas.openxmlformats.org/drawingml/2006/main">
              <a:ext uri="{FF2B5EF4-FFF2-40B4-BE49-F238E27FC236}">
                <a16:creationId xmlns:a16="http://schemas.microsoft.com/office/drawing/2014/main" id="{44C54871-57D4-43E2-B4E5-AF2E6936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91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rPr>
              <a:t>先统一事件与责任口径，再扩展算法和系统覆盖。</a:t>
            </a:r>
          </a:p>
        </p:txBody>
      </p:sp>
    </p:spTree>
    <p:extLst>
      <p:ext uri="{BB962C8B-B14F-4D97-AF65-F5344CB8AC3E}">
        <p14:creationId xmlns:p14="http://schemas.microsoft.com/office/powerpoint/2010/main" val="4624243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DA6E2010-7613-476E-9BD4-AE3FA3DE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02BE6B5E-897C-4768-96AD-219569A6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4685766C-3075-4651-9CE9-AE71023C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A · 编辑叙事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A6EE939-F13D-4B1C-96B7-CC5068EF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DECFBF-2321-4CEF-946D-ECCD7636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目标明确，但扩围必须经过两道门槛</a:t>
            </a:r>
          </a:p>
        </p:txBody>
      </p:sp>
      <p:sp>
        <p:nvSpPr>
          <p:cNvPr id="6" name="target-value-1">
            <a:extLst xmlns:a="http://schemas.openxmlformats.org/drawingml/2006/main">
              <a:ext uri="{FF2B5EF4-FFF2-40B4-BE49-F238E27FC236}">
                <a16:creationId xmlns:a16="http://schemas.microsoft.com/office/drawing/2014/main" id="{49C53A4E-F11B-491E-9E7F-6273FA61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9A574B"/>
                </a:solidFill>
                <a:latin typeface="Microsoft YaHei"/>
                <a:ea typeface="Microsoft YaHei"/>
                <a:cs typeface="Microsoft YaHei"/>
              </a:rPr>
              <a:t>93%</a:t>
            </a:r>
          </a:p>
        </p:txBody>
      </p:sp>
      <p:sp>
        <p:nvSpPr>
          <p:cNvPr id="7" name="target-context-1">
            <a:extLst xmlns:a="http://schemas.openxmlformats.org/drawingml/2006/main">
              <a:ext uri="{FF2B5EF4-FFF2-40B4-BE49-F238E27FC236}">
                <a16:creationId xmlns:a16="http://schemas.microsoft.com/office/drawing/2014/main" id="{598C21D1-2D3D-498B-92E2-A97174D2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8" name="target-value-2">
            <a:extLst xmlns:a="http://schemas.openxmlformats.org/drawingml/2006/main">
              <a:ext uri="{FF2B5EF4-FFF2-40B4-BE49-F238E27FC236}">
                <a16:creationId xmlns:a16="http://schemas.microsoft.com/office/drawing/2014/main" id="{798F470D-645D-4184-834F-2B36ACB4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3个百分点</a:t>
            </a:r>
          </a:p>
        </p:txBody>
      </p:sp>
      <p:sp>
        <p:nvSpPr>
          <p:cNvPr id="9" name="target-context-2">
            <a:extLst xmlns:a="http://schemas.openxmlformats.org/drawingml/2006/main">
              <a:ext uri="{FF2B5EF4-FFF2-40B4-BE49-F238E27FC236}">
                <a16:creationId xmlns:a16="http://schemas.microsoft.com/office/drawing/2014/main" id="{9FFFBD97-3468-49AB-9796-69E8A71C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0" name="target-value-3">
            <a:extLst xmlns:a="http://schemas.openxmlformats.org/drawingml/2006/main">
              <a:ext uri="{FF2B5EF4-FFF2-40B4-BE49-F238E27FC236}">
                <a16:creationId xmlns:a16="http://schemas.microsoft.com/office/drawing/2014/main" id="{A8805384-051E-45B6-B205-4400B488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7天</a:t>
            </a:r>
          </a:p>
        </p:txBody>
      </p:sp>
      <p:sp>
        <p:nvSpPr>
          <p:cNvPr id="11" name="target-context-3">
            <a:extLst xmlns:a="http://schemas.openxmlformats.org/drawingml/2006/main">
              <a:ext uri="{FF2B5EF4-FFF2-40B4-BE49-F238E27FC236}">
                <a16:creationId xmlns:a16="http://schemas.microsoft.com/office/drawing/2014/main" id="{0C66DEBE-520C-4A2D-96CA-938C01BB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2" name="gate-field">
            <a:extLst xmlns:a="http://schemas.openxmlformats.org/drawingml/2006/main">
              <a:ext uri="{FF2B5EF4-FFF2-40B4-BE49-F238E27FC236}">
                <a16:creationId xmlns:a16="http://schemas.microsoft.com/office/drawing/2014/main" id="{16739576-2C11-475F-9677-755ED9FB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44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ate-label">
            <a:extLst xmlns:a="http://schemas.openxmlformats.org/drawingml/2006/main">
              <a:ext uri="{FF2B5EF4-FFF2-40B4-BE49-F238E27FC236}">
                <a16:creationId xmlns:a16="http://schemas.microsoft.com/office/drawing/2014/main" id="{D360CD26-B864-4D62-8DA8-986F721F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rPr>
              <a:t>GO / NO-GO</a:t>
            </a:r>
          </a:p>
        </p:txBody>
      </p:sp>
      <p:sp>
        <p:nvSpPr>
          <p:cNvPr id="14" name="gate-copy">
            <a:extLst xmlns:a="http://schemas.openxmlformats.org/drawingml/2006/main">
              <a:ext uri="{FF2B5EF4-FFF2-40B4-BE49-F238E27FC236}">
                <a16:creationId xmlns:a16="http://schemas.microsoft.com/office/drawing/2014/main" id="{F099B686-B990-42D9-8AD7-EC152AB5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57675"/>
            <a:ext cx="771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如果基础事件编码在第 4 周仍未达到 95% 完整率，应暂停算法扩展；如果一线录入额外耗时超过每班 10 分钟，应先重做流程。</a:t>
            </a:r>
          </a:p>
        </p:txBody>
      </p:sp>
    </p:spTree>
    <p:extLst>
      <p:ext uri="{BB962C8B-B14F-4D97-AF65-F5344CB8AC3E}">
        <p14:creationId xmlns:p14="http://schemas.microsoft.com/office/powerpoint/2010/main" val="5975712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5C9CCA40-E57A-48D6-BEE3-AA62F1E1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3AC65281-4098-45AC-AE5B-3E2EE5A3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12EEC8CA-2465-4E89-BE07-54CE1D32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A · 编辑叙事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B7E948-8F6B-4F8B-AA5C-260E4C8D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6C75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5" name="conclusion-answer-field">
            <a:extLst xmlns:a="http://schemas.openxmlformats.org/drawingml/2006/main">
              <a:ext uri="{FF2B5EF4-FFF2-40B4-BE49-F238E27FC236}">
                <a16:creationId xmlns:a16="http://schemas.microsoft.com/office/drawing/2014/main" id="{9864D506-F2C6-4309-8586-1E67E30E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5A41535E-5993-4F9F-AA84-C0BFFA36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</p:txBody>
      </p:sp>
      <p:sp>
        <p:nvSpPr>
          <p:cNvPr id="7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766F26FF-B6F9-4B57-987A-B9CB0BC4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先做两厂试点，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用结果决定扩围</a:t>
            </a:r>
          </a:p>
        </p:txBody>
      </p:sp>
      <p:sp>
        <p:nvSpPr>
          <p:cNvPr id="8" name="conclusion-subtitle">
            <a:extLst xmlns:a="http://schemas.openxmlformats.org/drawingml/2006/main">
              <a:ext uri="{FF2B5EF4-FFF2-40B4-BE49-F238E27FC236}">
                <a16:creationId xmlns:a16="http://schemas.microsoft.com/office/drawing/2014/main" id="{ECB38A61-9C6B-4E58-8D00-0A17DC08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数据治理、现场流程和责任机制优先于新增大屏。</a:t>
            </a:r>
          </a:p>
        </p:txBody>
      </p:sp>
      <p:sp>
        <p:nvSpPr>
          <p:cNvPr id="9" name="conclusion-index-1">
            <a:extLst xmlns:a="http://schemas.openxmlformats.org/drawingml/2006/main">
              <a:ext uri="{FF2B5EF4-FFF2-40B4-BE49-F238E27FC236}">
                <a16:creationId xmlns:a16="http://schemas.microsoft.com/office/drawing/2014/main" id="{751E7E16-81A2-4024-817B-D65031A1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conclusion-point-1">
            <a:extLst xmlns:a="http://schemas.openxmlformats.org/drawingml/2006/main">
              <a:ext uri="{FF2B5EF4-FFF2-40B4-BE49-F238E27FC236}">
                <a16:creationId xmlns:a16="http://schemas.microsoft.com/office/drawing/2014/main" id="{0869F183-E410-4462-8BB1-27E3CB7A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2402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1" name="conclusion-rule-1">
            <a:extLst xmlns:a="http://schemas.openxmlformats.org/drawingml/2006/main">
              <a:ext uri="{FF2B5EF4-FFF2-40B4-BE49-F238E27FC236}">
                <a16:creationId xmlns:a16="http://schemas.microsoft.com/office/drawing/2014/main" id="{3F21212E-7F2C-45C3-A088-95494536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clusion-index-2">
            <a:extLst xmlns:a="http://schemas.openxmlformats.org/drawingml/2006/main">
              <a:ext uri="{FF2B5EF4-FFF2-40B4-BE49-F238E27FC236}">
                <a16:creationId xmlns:a16="http://schemas.microsoft.com/office/drawing/2014/main" id="{4CD73543-A871-4622-9252-3926368B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conclusion-point-2">
            <a:extLst xmlns:a="http://schemas.openxmlformats.org/drawingml/2006/main">
              <a:ext uri="{FF2B5EF4-FFF2-40B4-BE49-F238E27FC236}">
                <a16:creationId xmlns:a16="http://schemas.microsoft.com/office/drawing/2014/main" id="{76F2649D-6AD2-4987-BE87-31C839C1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146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如果基础事件编码在第 4 周仍未达到 95% 完整率，应暂停算法扩展；如果一线录入额外耗时超过每班 10 分钟，应先重做流程。</a:t>
            </a:r>
          </a:p>
        </p:txBody>
      </p:sp>
      <p:sp>
        <p:nvSpPr>
          <p:cNvPr id="14" name="conclusion-rule-2">
            <a:extLst xmlns:a="http://schemas.openxmlformats.org/drawingml/2006/main">
              <a:ext uri="{FF2B5EF4-FFF2-40B4-BE49-F238E27FC236}">
                <a16:creationId xmlns:a16="http://schemas.microsoft.com/office/drawing/2014/main" id="{84E92FBE-9BCD-4864-AC09-3BE204D1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clusion-index-3">
            <a:extLst xmlns:a="http://schemas.openxmlformats.org/drawingml/2006/main">
              <a:ext uri="{FF2B5EF4-FFF2-40B4-BE49-F238E27FC236}">
                <a16:creationId xmlns:a16="http://schemas.microsoft.com/office/drawing/2014/main" id="{5942FC91-CDE9-44CC-A73D-45A59BA8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7D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conclusion-point-3">
            <a:extLst xmlns:a="http://schemas.openxmlformats.org/drawingml/2006/main">
              <a:ext uri="{FF2B5EF4-FFF2-40B4-BE49-F238E27FC236}">
                <a16:creationId xmlns:a16="http://schemas.microsoft.com/office/drawing/2014/main" id="{21234A7B-560B-4686-8158-31D19370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0527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所有指标需保留工厂、产线和产品层级口径，避免用总体平均掩盖局部问题。</a:t>
            </a:r>
          </a:p>
        </p:txBody>
      </p:sp>
      <p:sp>
        <p:nvSpPr>
          <p:cNvPr id="17" name="conclusion-rule-3">
            <a:extLst xmlns:a="http://schemas.openxmlformats.org/drawingml/2006/main">
              <a:ext uri="{FF2B5EF4-FFF2-40B4-BE49-F238E27FC236}">
                <a16:creationId xmlns:a16="http://schemas.microsoft.com/office/drawing/2014/main" id="{81D58279-21BC-42D1-9EDF-98B763EB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967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32450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2026-08-22T13:49:15.6040000Z</dcterms:created>
  <dcterms:modified xsi:type="dcterms:W3CDTF">2026-08-22T13:49:15.6040000Z</dcterms:modified>
</coreProperties>
</file>