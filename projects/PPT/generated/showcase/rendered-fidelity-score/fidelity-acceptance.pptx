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4bc3a3d9bd4a4f" /><Relationship Type="http://schemas.openxmlformats.org/officeDocument/2006/relationships/extended-properties" Target="/docProps/app.xml" Id="R86567e9015594f30" /><Relationship Type="http://schemas.openxmlformats.org/officeDocument/2006/relationships/officeDocument" Target="/ppt/presentation.xml" Id="Rca036f3d2afb45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9bad1ae35445dd"/>
  </p:sldMasterIdLst>
  <p:notesMasterIdLst>
    <p:notesMasterId xmlns:r="http://schemas.openxmlformats.org/officeDocument/2006/relationships" r:id="R23dea6cbfaeb408d"/>
  </p:notesMasterIdLst>
  <p:sldIdLst>
    <p:sldId xmlns:r="http://schemas.openxmlformats.org/officeDocument/2006/relationships" id="256" r:id="R25eb997fa1fb494d"/>
    <p:sldId xmlns:r="http://schemas.openxmlformats.org/officeDocument/2006/relationships" id="257" r:id="Re5908b5b6acd439e"/>
    <p:sldId xmlns:r="http://schemas.openxmlformats.org/officeDocument/2006/relationships" id="258" r:id="R3ac24b4457064071"/>
    <p:sldId xmlns:r="http://schemas.openxmlformats.org/officeDocument/2006/relationships" id="259" r:id="Reae5073cd64145f2"/>
    <p:sldId xmlns:r="http://schemas.openxmlformats.org/officeDocument/2006/relationships" id="260" r:id="R7a52c802174e410b"/>
    <p:sldId xmlns:r="http://schemas.openxmlformats.org/officeDocument/2006/relationships" id="261" r:id="R3a4074ac3e0341a3"/>
    <p:sldId xmlns:r="http://schemas.openxmlformats.org/officeDocument/2006/relationships" id="262" r:id="Rda9d5f4b24de4150"/>
    <p:sldId xmlns:r="http://schemas.openxmlformats.org/officeDocument/2006/relationships" id="263" r:id="Rc29d695778b546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9c2f12f8f24010" /><Relationship Type="http://schemas.openxmlformats.org/officeDocument/2006/relationships/slideMaster" Target="/ppt/slideMasters/slideMaster1.xml" Id="R469bad1ae35445dd" /><Relationship Type="http://schemas.openxmlformats.org/officeDocument/2006/relationships/notesMaster" Target="/ppt/notesMasters/notesMaster1.xml" Id="R23dea6cbfaeb408d" /><Relationship Type="http://schemas.openxmlformats.org/officeDocument/2006/relationships/presProps" Target="/ppt/presProps.xml" Id="Rc9020cdf633947a9" /><Relationship Type="http://schemas.openxmlformats.org/officeDocument/2006/relationships/tableStyles" Target="/ppt/tableStyles.xml" Id="Rf7a216d08f414ca6" /><Relationship Type="http://schemas.openxmlformats.org/officeDocument/2006/relationships/slide" Target="/ppt/slides/slide1.xml" Id="R25eb997fa1fb494d" /><Relationship Type="http://schemas.openxmlformats.org/officeDocument/2006/relationships/slide" Target="/ppt/slides/slide2.xml" Id="Re5908b5b6acd439e" /><Relationship Type="http://schemas.openxmlformats.org/officeDocument/2006/relationships/slide" Target="/ppt/slides/slide3.xml" Id="R3ac24b4457064071" /><Relationship Type="http://schemas.openxmlformats.org/officeDocument/2006/relationships/slide" Target="/ppt/slides/slide4.xml" Id="Reae5073cd64145f2" /><Relationship Type="http://schemas.openxmlformats.org/officeDocument/2006/relationships/slide" Target="/ppt/slides/slide5.xml" Id="R7a52c802174e410b" /><Relationship Type="http://schemas.openxmlformats.org/officeDocument/2006/relationships/slide" Target="/ppt/slides/slide6.xml" Id="R3a4074ac3e0341a3" /><Relationship Type="http://schemas.openxmlformats.org/officeDocument/2006/relationships/slide" Target="/ppt/slides/slide7.xml" Id="Rda9d5f4b24de4150" /><Relationship Type="http://schemas.openxmlformats.org/officeDocument/2006/relationships/slide" Target="/ppt/slides/slide8.xml" Id="Rc29d695778b546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3952cdb50c44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68bd82e90d4bc5" /><Relationship Type="http://schemas.openxmlformats.org/officeDocument/2006/relationships/notesMaster" Target="/ppt/notesMasters/notesMaster1.xml" Id="Reb1835eac2094e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c9bcf6776141c0" /><Relationship Type="http://schemas.openxmlformats.org/officeDocument/2006/relationships/notesMaster" Target="/ppt/notesMasters/notesMaster1.xml" Id="R644d2264e6de4a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41177ae5c44198" /><Relationship Type="http://schemas.openxmlformats.org/officeDocument/2006/relationships/notesMaster" Target="/ppt/notesMasters/notesMaster1.xml" Id="Rcf4dfd49b75641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79770b627e469a" /><Relationship Type="http://schemas.openxmlformats.org/officeDocument/2006/relationships/notesMaster" Target="/ppt/notesMasters/notesMaster1.xml" Id="Rb60933ab35484d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338231402f46c8" /><Relationship Type="http://schemas.openxmlformats.org/officeDocument/2006/relationships/notesMaster" Target="/ppt/notesMasters/notesMaster1.xml" Id="Re6a3245af9ad45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1fb59e368d473e" /><Relationship Type="http://schemas.openxmlformats.org/officeDocument/2006/relationships/notesMaster" Target="/ppt/notesMasters/notesMaster1.xml" Id="Ra4b07f81f9154d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489ee848354514" /><Relationship Type="http://schemas.openxmlformats.org/officeDocument/2006/relationships/notesMaster" Target="/ppt/notesMasters/notesMaster1.xml" Id="R8a0f82ce7cb744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70f992b16e41a0" /><Relationship Type="http://schemas.openxmlformats.org/officeDocument/2006/relationships/notesMaster" Target="/ppt/notesMasters/notesMaster1.xml" Id="R53ea14abfe9d4e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storyline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Native business metrics from Content Analysis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Native business metrics from Content Analysis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Timeline derived from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Targets and guardrails from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71bb4ab6e49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3f027354d9490c" /><Relationship Type="http://schemas.openxmlformats.org/officeDocument/2006/relationships/slideLayout" Target="/ppt/slideLayouts/slideLayout1.xml" Id="R19abc7cb046d44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abc7cb046d44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cd0dc44b2405a" /><Relationship Type="http://schemas.openxmlformats.org/officeDocument/2006/relationships/notesSlide" Target="/ppt/notesSlides/notesSlide1.xml" Id="Rfdd5fceb27ed4f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9b8d6b44d4721" /><Relationship Type="http://schemas.openxmlformats.org/officeDocument/2006/relationships/notesSlide" Target="/ppt/notesSlides/notesSlide2.xml" Id="Re873de454bf741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ace520be64067" /><Relationship Type="http://schemas.openxmlformats.org/officeDocument/2006/relationships/notesSlide" Target="/ppt/notesSlides/notesSlide3.xml" Id="Ra0ffa1b7715d49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5d309c3364095" /><Relationship Type="http://schemas.openxmlformats.org/officeDocument/2006/relationships/chart" Target="/ppt/slides/charts/chart1.xml" Id="R441f83e916844dbb" /><Relationship Type="http://schemas.openxmlformats.org/officeDocument/2006/relationships/notesSlide" Target="/ppt/notesSlides/notesSlide4.xml" Id="Rfc11602259bd47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dfa06bf50412f" /><Relationship Type="http://schemas.openxmlformats.org/officeDocument/2006/relationships/notesSlide" Target="/ppt/notesSlides/notesSlide5.xml" Id="R13192a341c9c4f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824b76a0d4840" /><Relationship Type="http://schemas.openxmlformats.org/officeDocument/2006/relationships/notesSlide" Target="/ppt/notesSlides/notesSlide6.xml" Id="R4c0e4a30878348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378f1b71342db" /><Relationship Type="http://schemas.openxmlformats.org/officeDocument/2006/relationships/notesSlide" Target="/ppt/notesSlides/notesSlide7.xml" Id="R8f044e49dfdc41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a949f94534a7a" /><Relationship Type="http://schemas.openxmlformats.org/officeDocument/2006/relationships/notesSlide" Target="/ppt/notesSlides/notesSlide8.xml" Id="R2eab6b78bce34d1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准时交付率</c:v>
          </c:tx>
          <c:spPr>
            <a:solidFill xmlns:a="http://schemas.openxmlformats.org/drawingml/2006/main">
              <a:srgbClr val="113558"/>
            </a:solidFill>
          </c:spPr>
          <c:cat>
            <c:strLit>
              <c:ptCount val="2"/>
              <c:pt idx="0">
                <c:v>基期</c:v>
              </c:pt>
              <c:pt idx="1">
                <c:v>当前</c:v>
              </c:pt>
            </c:strLit>
          </c:cat>
          <c:val>
            <c:numLit>
              <c:formatCode>General</c:formatCode>
              <c:ptCount val="2"/>
              <c:pt idx="0">
                <c:v>94</c:v>
              </c:pt>
              <c:pt idx="1">
                <c:v>88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3233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48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485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side-field">
            <a:extLst xmlns:a="http://schemas.openxmlformats.org/drawingml/2006/main">
              <a:ext uri="{FF2B5EF4-FFF2-40B4-BE49-F238E27FC236}">
                <a16:creationId xmlns:a16="http://schemas.microsoft.com/office/drawing/2014/main" id="{178065F7-08D4-4254-9FD4-8FCC8E54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signal">
            <a:extLst xmlns:a="http://schemas.openxmlformats.org/drawingml/2006/main">
              <a:ext uri="{FF2B5EF4-FFF2-40B4-BE49-F238E27FC236}">
                <a16:creationId xmlns:a16="http://schemas.microsoft.com/office/drawing/2014/main" id="{5592815C-DB66-46BC-AAF5-C63C8EFA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514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69C2FCC-6CC2-44C7-854C-EA5A0901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AFC0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spc="2">
                <a:solidFill>
                  <a:srgbClr val="AFC0CE"/>
                </a:solidFill>
                <a:latin typeface="Microsoft YaHei"/>
                <a:ea typeface="Microsoft YaHei"/>
                <a:cs typeface="Microsoft YaHei"/>
              </a:rPr>
              <a:t>OPERATING DECISION BRIEF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C23E638-A0C5-4044-B9CC-3CBCDB89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42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制造服务运营与数字质量改进简报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FA8D9BD-C8F7-4DB3-A67A-5ADC4648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7D3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C7D3DD"/>
                </a:solidFill>
                <a:latin typeface="Microsoft YaHei"/>
                <a:ea typeface="Microsoft YaHei"/>
                <a:cs typeface="Microsoft YaHei"/>
              </a:rPr>
              <a:t>形成可执行的运营改进决策</a:t>
            </a:r>
          </a:p>
        </p:txBody>
      </p:sp>
      <p:sp>
        <p:nvSpPr>
          <p:cNvPr id="6" name="cover-edition">
            <a:extLst xmlns:a="http://schemas.openxmlformats.org/drawingml/2006/main">
              <a:ext uri="{FF2B5EF4-FFF2-40B4-BE49-F238E27FC236}">
                <a16:creationId xmlns:a16="http://schemas.microsoft.com/office/drawing/2014/main" id="{B91F94FF-DAE6-427A-9AB5-3CC1DB10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  <a:p xmlns:a="http://schemas.openxmlformats.org/drawingml/2006/main">
            <a:pPr>
              <a:def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/ 01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19866EF4-AEC7-43D8-973B-9D2DE76A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38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PPT FACTORY · PHASE 1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D4F0937-905E-4D56-A8AF-A4F5B117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91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280085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F3638F72-D77F-4AEA-B4B6-F3E7FD15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EE95E43B-6AD4-4E87-9A4E-EC26AB56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CE028626-A0AB-4C11-8BF2-CDBF1BD9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EF55460-2640-449D-82C9-B4C452CA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B98929-8C08-4B8E-B31C-4DD629C7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核心判断与关键依据</a:t>
            </a:r>
          </a:p>
        </p:txBody>
      </p:sp>
      <p:sp>
        <p:nvSpPr>
          <p:cNvPr id="6" name="summary-answer-field">
            <a:extLst xmlns:a="http://schemas.openxmlformats.org/drawingml/2006/main">
              <a:ext uri="{FF2B5EF4-FFF2-40B4-BE49-F238E27FC236}">
                <a16:creationId xmlns:a16="http://schemas.microsoft.com/office/drawing/2014/main" id="{67F7C09F-388E-45D0-87D6-03C815AD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3816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mmary-answer-label">
            <a:extLst xmlns:a="http://schemas.openxmlformats.org/drawingml/2006/main">
              <a:ext uri="{FF2B5EF4-FFF2-40B4-BE49-F238E27FC236}">
                <a16:creationId xmlns:a16="http://schemas.microsoft.com/office/drawing/2014/main" id="{6E3624AC-77FA-45ED-A317-3FB3D967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2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CORE ANSWER</a:t>
            </a:r>
          </a:p>
        </p:txBody>
      </p:sp>
      <p:sp>
        <p:nvSpPr>
          <p:cNvPr id="8" name="summary-answer">
            <a:extLst xmlns:a="http://schemas.openxmlformats.org/drawingml/2006/main">
              <a:ext uri="{FF2B5EF4-FFF2-40B4-BE49-F238E27FC236}">
                <a16:creationId xmlns:a16="http://schemas.microsoft.com/office/drawing/2014/main" id="{053CA738-2262-42BE-9659-25DEE9E0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未来两个季度不应继续铺开零散系统，而应把交付准时率、一次检验通过率和设备停机时间作为同一条运营链路治理。</a:t>
            </a:r>
          </a:p>
        </p:txBody>
      </p:sp>
      <p:sp>
        <p:nvSpPr>
          <p:cNvPr id="9" name="summary-index-1">
            <a:extLst xmlns:a="http://schemas.openxmlformats.org/drawingml/2006/main">
              <a:ext uri="{FF2B5EF4-FFF2-40B4-BE49-F238E27FC236}">
                <a16:creationId xmlns:a16="http://schemas.microsoft.com/office/drawing/2014/main" id="{3573FFE8-FC56-42E1-B7A7-338AFA07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summary-point-1">
            <a:extLst xmlns:a="http://schemas.openxmlformats.org/drawingml/2006/main">
              <a:ext uri="{FF2B5EF4-FFF2-40B4-BE49-F238E27FC236}">
                <a16:creationId xmlns:a16="http://schemas.microsoft.com/office/drawing/2014/main" id="{DC0B091D-6223-407C-B2CE-9E12AF02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43075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试点应先覆盖华东两座工厂，再根据可复制性决定扩围。</a:t>
            </a:r>
          </a:p>
        </p:txBody>
      </p:sp>
      <p:sp>
        <p:nvSpPr>
          <p:cNvPr id="11" name="summary-rule-1">
            <a:extLst xmlns:a="http://schemas.openxmlformats.org/drawingml/2006/main">
              <a:ext uri="{FF2B5EF4-FFF2-40B4-BE49-F238E27FC236}">
                <a16:creationId xmlns:a16="http://schemas.microsoft.com/office/drawing/2014/main" id="{C6B6FEB3-1FAD-4B3C-AF24-B7683051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574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mmary-index-2">
            <a:extLst xmlns:a="http://schemas.openxmlformats.org/drawingml/2006/main">
              <a:ext uri="{FF2B5EF4-FFF2-40B4-BE49-F238E27FC236}">
                <a16:creationId xmlns:a16="http://schemas.microsoft.com/office/drawing/2014/main" id="{E8DB4BBF-97BF-414D-901A-A8E7C554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622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summary-point-2">
            <a:extLst xmlns:a="http://schemas.openxmlformats.org/drawingml/2006/main">
              <a:ext uri="{FF2B5EF4-FFF2-40B4-BE49-F238E27FC236}">
                <a16:creationId xmlns:a16="http://schemas.microsoft.com/office/drawing/2014/main" id="{0B06F898-DA6D-470F-AE8F-91438559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43225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过去 12 个月订单量增长 18%，但准时交付率由 94% 降至 88%。</a:t>
            </a:r>
          </a:p>
        </p:txBody>
      </p:sp>
      <p:sp>
        <p:nvSpPr>
          <p:cNvPr id="14" name="summary-rule-2">
            <a:extLst xmlns:a="http://schemas.openxmlformats.org/drawingml/2006/main">
              <a:ext uri="{FF2B5EF4-FFF2-40B4-BE49-F238E27FC236}">
                <a16:creationId xmlns:a16="http://schemas.microsoft.com/office/drawing/2014/main" id="{92E4105C-65D0-44EF-8888-89D22B69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05211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05A81D22-35F4-41BF-B961-8C3369E0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2D5F8056-1B26-408C-AA7F-258C407A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066C2826-39EA-4817-80FC-06211D26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9AB41E1-1265-4A59-AC5F-1F4BA794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02D38D-29ED-4B89-A3F5-D83F80AD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运营问题必须按一条链路治理</a:t>
            </a:r>
          </a:p>
        </p:txBody>
      </p:sp>
      <p:sp>
        <p:nvSpPr>
          <p:cNvPr id="6" name="editorial-answer-field">
            <a:extLst xmlns:a="http://schemas.openxmlformats.org/drawingml/2006/main">
              <a:ext uri="{FF2B5EF4-FFF2-40B4-BE49-F238E27FC236}">
                <a16:creationId xmlns:a16="http://schemas.microsoft.com/office/drawing/2014/main" id="{E295065B-7147-4398-A24F-61E2B686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ditorial-kicker">
            <a:extLst xmlns:a="http://schemas.openxmlformats.org/drawingml/2006/main">
              <a:ext uri="{FF2B5EF4-FFF2-40B4-BE49-F238E27FC236}">
                <a16:creationId xmlns:a16="http://schemas.microsoft.com/office/drawing/2014/main" id="{101F68CA-9FD6-49A2-8F48-5CFDB3E8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OPERATING PRINCIPLE</a:t>
            </a:r>
          </a:p>
        </p:txBody>
      </p:sp>
      <p:sp>
        <p:nvSpPr>
          <p:cNvPr id="8" name="editorial-claim">
            <a:extLst xmlns:a="http://schemas.openxmlformats.org/drawingml/2006/main">
              <a:ext uri="{FF2B5EF4-FFF2-40B4-BE49-F238E27FC236}">
                <a16:creationId xmlns:a16="http://schemas.microsoft.com/office/drawing/2014/main" id="{97301BE5-C862-434A-868A-7CE0EE26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未来两个季度不应继续铺开零散系统</a:t>
            </a:r>
          </a:p>
        </p:txBody>
      </p:sp>
      <p:sp>
        <p:nvSpPr>
          <p:cNvPr id="9" name="editorial-caption">
            <a:extLst xmlns:a="http://schemas.openxmlformats.org/drawingml/2006/main">
              <a:ext uri="{FF2B5EF4-FFF2-40B4-BE49-F238E27FC236}">
                <a16:creationId xmlns:a16="http://schemas.microsoft.com/office/drawing/2014/main" id="{D590A39B-107A-400C-8B6F-84BBDE74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从单点系统建设转向跨环节经营闭环</a:t>
            </a:r>
          </a:p>
        </p:txBody>
      </p:sp>
      <p:sp>
        <p:nvSpPr>
          <p:cNvPr id="10" name="editorial-number-1">
            <a:extLst xmlns:a="http://schemas.openxmlformats.org/drawingml/2006/main">
              <a:ext uri="{FF2B5EF4-FFF2-40B4-BE49-F238E27FC236}">
                <a16:creationId xmlns:a16="http://schemas.microsoft.com/office/drawing/2014/main" id="{DBBB4DEA-E039-4670-BA68-4AE9FCCB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editorial-proof-1">
            <a:extLst xmlns:a="http://schemas.openxmlformats.org/drawingml/2006/main">
              <a:ext uri="{FF2B5EF4-FFF2-40B4-BE49-F238E27FC236}">
                <a16:creationId xmlns:a16="http://schemas.microsoft.com/office/drawing/2014/main" id="{5D3B32BC-3B49-4673-A438-DF442E63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38325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而应把交付准时率、一次检验通过率和设备停机时间作为同一条运营链路治理</a:t>
            </a:r>
          </a:p>
        </p:txBody>
      </p:sp>
      <p:sp>
        <p:nvSpPr>
          <p:cNvPr id="12" name="editorial-proof-rule-1">
            <a:extLst xmlns:a="http://schemas.openxmlformats.org/drawingml/2006/main">
              <a:ext uri="{FF2B5EF4-FFF2-40B4-BE49-F238E27FC236}">
                <a16:creationId xmlns:a16="http://schemas.microsoft.com/office/drawing/2014/main" id="{86E84A24-C34B-47E6-9F0A-C14C5273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955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ditorial-number-2">
            <a:extLst xmlns:a="http://schemas.openxmlformats.org/drawingml/2006/main">
              <a:ext uri="{FF2B5EF4-FFF2-40B4-BE49-F238E27FC236}">
                <a16:creationId xmlns:a16="http://schemas.microsoft.com/office/drawing/2014/main" id="{B8DC7BD0-75D1-444D-AC96-C3CF80ED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622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editorial-proof-2">
            <a:extLst xmlns:a="http://schemas.openxmlformats.org/drawingml/2006/main">
              <a:ext uri="{FF2B5EF4-FFF2-40B4-BE49-F238E27FC236}">
                <a16:creationId xmlns:a16="http://schemas.microsoft.com/office/drawing/2014/main" id="{E220A75A-6FB6-4D90-9FAC-3A07D857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43225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试点应先覆盖华东两座工厂，再根据可复制性决定扩围。</a:t>
            </a:r>
          </a:p>
        </p:txBody>
      </p:sp>
      <p:sp>
        <p:nvSpPr>
          <p:cNvPr id="15" name="editorial-proof-rule-2">
            <a:extLst xmlns:a="http://schemas.openxmlformats.org/drawingml/2006/main">
              <a:ext uri="{FF2B5EF4-FFF2-40B4-BE49-F238E27FC236}">
                <a16:creationId xmlns:a16="http://schemas.microsoft.com/office/drawing/2014/main" id="{E505CEE8-E3DC-4E40-9DB6-B1CC398A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004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721342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0F711A7-38D9-4718-9363-28EE26F9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30541C1A-B1EB-4B61-B776-52E68CCB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C22833B5-A56E-40CA-A4DE-277C285E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EFA22F-4186-467D-8898-28A93C62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E5256-9DD9-4A79-80B0-2C44A1E0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过去 12 个月订单量增长 18%，但准时交付率由 94% 降至 88%。</a:t>
            </a:r>
          </a:p>
        </p:txBody>
      </p:sp>
      <p:sp>
        <p:nvSpPr>
          <p:cNvPr id="6" name="metric-chart-field">
            <a:extLst xmlns:a="http://schemas.openxmlformats.org/drawingml/2006/main">
              <a:ext uri="{FF2B5EF4-FFF2-40B4-BE49-F238E27FC236}">
                <a16:creationId xmlns:a16="http://schemas.microsoft.com/office/drawing/2014/main" id="{16E898D0-3024-42BD-B8F0-6FE6603B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066800" y="2190750"/>
          <a:ext xmlns:a="http://schemas.openxmlformats.org/drawingml/2006/main" cx="61912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1f83e916844dbb"/>
          </a:graphicData>
        </a:graphic>
      </p:graphicFrame>
      <p:sp>
        <p:nvSpPr>
          <p:cNvPr id="8" name="metric-decision-field">
            <a:extLst xmlns:a="http://schemas.openxmlformats.org/drawingml/2006/main">
              <a:ext uri="{FF2B5EF4-FFF2-40B4-BE49-F238E27FC236}">
                <a16:creationId xmlns:a16="http://schemas.microsoft.com/office/drawing/2014/main" id="{4FF94657-CE3A-4B67-B61B-0F45C06F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delta-label">
            <a:extLst xmlns:a="http://schemas.openxmlformats.org/drawingml/2006/main">
              <a:ext uri="{FF2B5EF4-FFF2-40B4-BE49-F238E27FC236}">
                <a16:creationId xmlns:a16="http://schemas.microsoft.com/office/drawing/2014/main" id="{2DFBB5AB-DC4A-430A-9295-123B0B97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71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OPERATING GAP</a:t>
            </a:r>
          </a:p>
        </p:txBody>
      </p:sp>
      <p:sp>
        <p:nvSpPr>
          <p:cNvPr id="10" name="metric-delta">
            <a:extLst xmlns:a="http://schemas.openxmlformats.org/drawingml/2006/main">
              <a:ext uri="{FF2B5EF4-FFF2-40B4-BE49-F238E27FC236}">
                <a16:creationId xmlns:a16="http://schemas.microsoft.com/office/drawing/2014/main" id="{C912325B-7AFA-4EED-BB5B-C8B6B89D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670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-6 pp</a:t>
            </a:r>
          </a:p>
        </p:txBody>
      </p:sp>
      <p:sp>
        <p:nvSpPr>
          <p:cNvPr id="11" name="metric-decision-copy">
            <a:extLst xmlns:a="http://schemas.openxmlformats.org/drawingml/2006/main">
              <a:ext uri="{FF2B5EF4-FFF2-40B4-BE49-F238E27FC236}">
                <a16:creationId xmlns:a16="http://schemas.microsoft.com/office/drawing/2014/main" id="{ED644A13-FA50-400A-B8B4-2C7BC9D2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62375"/>
            <a:ext cx="2333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返工成本占制造成本的 4.6%，其中 57% 来自三类重复质量缺陷。</a:t>
            </a:r>
          </a:p>
        </p:txBody>
      </p:sp>
    </p:spTree>
    <p:extLst>
      <p:ext uri="{BB962C8B-B14F-4D97-AF65-F5344CB8AC3E}">
        <p14:creationId xmlns:p14="http://schemas.microsoft.com/office/powerpoint/2010/main" val="14835677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72061260-166B-439C-BB4A-0827F87B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A92ACBFD-8522-4AFB-BAE8-74775F24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FF3C9F7B-91C3-4423-AF02-AB948DA4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7AE4FCF-A70B-4D76-B8CD-4ED99D0E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A7938D-909C-456F-95F2-8C6D8893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12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6" name="metric-band-1">
            <a:extLst xmlns:a="http://schemas.openxmlformats.org/drawingml/2006/main">
              <a:ext uri="{FF2B5EF4-FFF2-40B4-BE49-F238E27FC236}">
                <a16:creationId xmlns:a16="http://schemas.microsoft.com/office/drawing/2014/main" id="{61B2F73E-6F15-4665-BD6F-69099CD5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57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53DC645A-184A-46AE-938C-A0431586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126小时</a:t>
            </a:r>
          </a:p>
        </p:txBody>
      </p:sp>
      <p:sp>
        <p:nvSpPr>
          <p:cNvPr id="8" name="metric-context-1">
            <a:extLst xmlns:a="http://schemas.openxmlformats.org/drawingml/2006/main">
              <a:ext uri="{FF2B5EF4-FFF2-40B4-BE49-F238E27FC236}">
                <a16:creationId xmlns:a16="http://schemas.microsoft.com/office/drawing/2014/main" id="{3CF20D41-F52D-4A71-9A96-0F398291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9" name="metric-band-2">
            <a:extLst xmlns:a="http://schemas.openxmlformats.org/drawingml/2006/main">
              <a:ext uri="{FF2B5EF4-FFF2-40B4-BE49-F238E27FC236}">
                <a16:creationId xmlns:a16="http://schemas.microsoft.com/office/drawing/2014/main" id="{F2A9A977-FDF4-450A-B35E-4DCB6DF7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3257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sp>
        <p:nvSpPr>
          <p:cNvPr id="10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AF96257B-E43D-44CC-AEFE-DDE08629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35%</a:t>
            </a:r>
          </a:p>
        </p:txBody>
      </p:sp>
      <p:sp>
        <p:nvSpPr>
          <p:cNvPr id="11" name="metric-context-2">
            <a:extLst xmlns:a="http://schemas.openxmlformats.org/drawingml/2006/main">
              <a:ext uri="{FF2B5EF4-FFF2-40B4-BE49-F238E27FC236}">
                <a16:creationId xmlns:a16="http://schemas.microsoft.com/office/drawing/2014/main" id="{8FDA835C-A1C5-448C-92F0-E6A4137C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12" name="metric-band-3">
            <a:extLst xmlns:a="http://schemas.openxmlformats.org/drawingml/2006/main">
              <a:ext uri="{FF2B5EF4-FFF2-40B4-BE49-F238E27FC236}">
                <a16:creationId xmlns:a16="http://schemas.microsoft.com/office/drawing/2014/main" id="{7544B5DB-B8D4-417A-915B-041A6C5B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57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sp>
        <p:nvSpPr>
          <p:cNvPr id="13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75F6478F-AA96-411F-A7E4-2F972781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11.4天</a:t>
            </a:r>
          </a:p>
        </p:txBody>
      </p:sp>
      <p:sp>
        <p:nvSpPr>
          <p:cNvPr id="14" name="metric-context-3">
            <a:extLst xmlns:a="http://schemas.openxmlformats.org/drawingml/2006/main">
              <a:ext uri="{FF2B5EF4-FFF2-40B4-BE49-F238E27FC236}">
                <a16:creationId xmlns:a16="http://schemas.microsoft.com/office/drawing/2014/main" id="{AD512C18-7E06-4287-888D-7AD22936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当前质量异常从发现到关闭平均需要 11.4 天，跨部门等待占其中 6.2 天。</a:t>
            </a:r>
          </a:p>
        </p:txBody>
      </p:sp>
    </p:spTree>
    <p:extLst>
      <p:ext uri="{BB962C8B-B14F-4D97-AF65-F5344CB8AC3E}">
        <p14:creationId xmlns:p14="http://schemas.microsoft.com/office/powerpoint/2010/main" val="11354928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BBB25713-989F-42A2-854B-BA699B31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9398E493-D106-4F11-8E9F-7860E559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721C93D9-0419-4F86-B24A-224507C6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3551AF-A251-48FD-9423-B3393B7E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2EC775-9CDE-4847-AD9E-10997A2C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718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第一阶段用 8 周建立统一事件编码和日级看板；第二阶段将质量异常、设备状态和交付承诺打通。</a:t>
            </a:r>
          </a:p>
        </p:txBody>
      </p:sp>
      <p:sp>
        <p:nvSpPr>
          <p:cNvPr id="6" name="timeline-spine">
            <a:extLst xmlns:a="http://schemas.openxmlformats.org/drawingml/2006/main">
              <a:ext uri="{FF2B5EF4-FFF2-40B4-BE49-F238E27FC236}">
                <a16:creationId xmlns:a16="http://schemas.microsoft.com/office/drawing/2014/main" id="{174A7381-DEDE-4BC2-9E86-0553AE05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81350"/>
            <a:ext cx="781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8C525190-39FF-49DA-88C2-733D30EA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step-1">
            <a:extLst xmlns:a="http://schemas.openxmlformats.org/drawingml/2006/main">
              <a:ext uri="{FF2B5EF4-FFF2-40B4-BE49-F238E27FC236}">
                <a16:creationId xmlns:a16="http://schemas.microsoft.com/office/drawing/2014/main" id="{77730D7E-6FF3-412D-96DA-05871685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9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28FF71D4-AC69-439D-A707-791131A7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建立基线 · 8周</a:t>
            </a:r>
          </a:p>
        </p:txBody>
      </p:sp>
      <p:sp>
        <p:nvSpPr>
          <p:cNvPr id="10" name="timeline-copy-1">
            <a:extLst xmlns:a="http://schemas.openxmlformats.org/drawingml/2006/main">
              <a:ext uri="{FF2B5EF4-FFF2-40B4-BE49-F238E27FC236}">
                <a16:creationId xmlns:a16="http://schemas.microsoft.com/office/drawing/2014/main" id="{545BFCB2-8310-4B53-B7FA-BDCA81CA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第一阶段用 8 周建立统一事件编码和日级看板；第二阶段将质量异常、设备状态和交付承诺打通。</a:t>
            </a:r>
          </a:p>
        </p:txBody>
      </p:sp>
      <p:sp>
        <p:nvSpPr>
          <p:cNvPr id="11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4D0B3CAD-F3C2-47A3-81DB-6E1659B0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step-2">
            <a:extLst xmlns:a="http://schemas.openxmlformats.org/drawingml/2006/main">
              <a:ext uri="{FF2B5EF4-FFF2-40B4-BE49-F238E27FC236}">
                <a16:creationId xmlns:a16="http://schemas.microsoft.com/office/drawing/2014/main" id="{0895BD4D-7653-438D-8664-E669A527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19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97995C8C-CD58-4587-BA00-40D4B69F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打通运营链路</a:t>
            </a:r>
          </a:p>
        </p:txBody>
      </p:sp>
      <p:sp>
        <p:nvSpPr>
          <p:cNvPr id="14" name="timeline-copy-2">
            <a:extLst xmlns:a="http://schemas.openxmlformats.org/drawingml/2006/main">
              <a:ext uri="{FF2B5EF4-FFF2-40B4-BE49-F238E27FC236}">
                <a16:creationId xmlns:a16="http://schemas.microsoft.com/office/drawing/2014/main" id="{CB0E0082-9C8A-447A-B443-51CE1BC7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预算优先投向数据治理、现场流程和责任机制，不以采购更多大屏作为成果。</a:t>
            </a:r>
          </a:p>
        </p:txBody>
      </p:sp>
      <p:sp>
        <p:nvSpPr>
          <p:cNvPr id="15" name="timeline-decision">
            <a:extLst xmlns:a="http://schemas.openxmlformats.org/drawingml/2006/main">
              <a:ext uri="{FF2B5EF4-FFF2-40B4-BE49-F238E27FC236}">
                <a16:creationId xmlns:a16="http://schemas.microsoft.com/office/drawing/2014/main" id="{155D1A35-4040-430E-BD96-A8AC2E2C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91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先统一事件与责任口径，再扩展算法和系统覆盖。</a:t>
            </a:r>
          </a:p>
        </p:txBody>
      </p:sp>
    </p:spTree>
    <p:extLst>
      <p:ext uri="{BB962C8B-B14F-4D97-AF65-F5344CB8AC3E}">
        <p14:creationId xmlns:p14="http://schemas.microsoft.com/office/powerpoint/2010/main" val="6435766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DBC4A3-9F18-4D8D-A873-7919A6CD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2538D94C-BCEF-4A5F-823E-C29AC3DB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79FBC2FF-22A6-4CD2-9BE2-6CB3DD15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0139D3D-D97A-44FB-AA0A-A1246A1E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27C240-D82F-4C45-A2E3-F6F65C3C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目标明确，但扩围必须经过两道门槛</a:t>
            </a:r>
          </a:p>
        </p:txBody>
      </p:sp>
      <p:sp>
        <p:nvSpPr>
          <p:cNvPr id="6" name="target-value-1">
            <a:extLst xmlns:a="http://schemas.openxmlformats.org/drawingml/2006/main">
              <a:ext uri="{FF2B5EF4-FFF2-40B4-BE49-F238E27FC236}">
                <a16:creationId xmlns:a16="http://schemas.microsoft.com/office/drawing/2014/main" id="{37213834-6DE6-48A4-A0B8-6DCB56E8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93%</a:t>
            </a:r>
          </a:p>
        </p:txBody>
      </p:sp>
      <p:sp>
        <p:nvSpPr>
          <p:cNvPr id="7" name="target-context-1">
            <a:extLst xmlns:a="http://schemas.openxmlformats.org/drawingml/2006/main">
              <a:ext uri="{FF2B5EF4-FFF2-40B4-BE49-F238E27FC236}">
                <a16:creationId xmlns:a16="http://schemas.microsoft.com/office/drawing/2014/main" id="{0C81B857-C389-4000-905E-01A55717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8" name="target-value-2">
            <a:extLst xmlns:a="http://schemas.openxmlformats.org/drawingml/2006/main">
              <a:ext uri="{FF2B5EF4-FFF2-40B4-BE49-F238E27FC236}">
                <a16:creationId xmlns:a16="http://schemas.microsoft.com/office/drawing/2014/main" id="{9EB09228-8512-4C34-BEFA-ED78AAA9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3个百分点</a:t>
            </a:r>
          </a:p>
        </p:txBody>
      </p:sp>
      <p:sp>
        <p:nvSpPr>
          <p:cNvPr id="9" name="target-context-2">
            <a:extLst xmlns:a="http://schemas.openxmlformats.org/drawingml/2006/main">
              <a:ext uri="{FF2B5EF4-FFF2-40B4-BE49-F238E27FC236}">
                <a16:creationId xmlns:a16="http://schemas.microsoft.com/office/drawing/2014/main" id="{74CB7E12-54AC-4955-B24B-9C8C0134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0" name="target-value-3">
            <a:extLst xmlns:a="http://schemas.openxmlformats.org/drawingml/2006/main">
              <a:ext uri="{FF2B5EF4-FFF2-40B4-BE49-F238E27FC236}">
                <a16:creationId xmlns:a16="http://schemas.microsoft.com/office/drawing/2014/main" id="{1EE58CBB-D1D4-4B56-8D0A-4E1C9887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7天</a:t>
            </a:r>
          </a:p>
        </p:txBody>
      </p:sp>
      <p:sp>
        <p:nvSpPr>
          <p:cNvPr id="11" name="target-context-3">
            <a:extLst xmlns:a="http://schemas.openxmlformats.org/drawingml/2006/main">
              <a:ext uri="{FF2B5EF4-FFF2-40B4-BE49-F238E27FC236}">
                <a16:creationId xmlns:a16="http://schemas.microsoft.com/office/drawing/2014/main" id="{2C425006-3B61-45B0-BEC7-D95A2D1D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2" name="gate-field">
            <a:extLst xmlns:a="http://schemas.openxmlformats.org/drawingml/2006/main">
              <a:ext uri="{FF2B5EF4-FFF2-40B4-BE49-F238E27FC236}">
                <a16:creationId xmlns:a16="http://schemas.microsoft.com/office/drawing/2014/main" id="{48521210-D1EF-4DED-A2C1-0D7D96AE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44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ate-label">
            <a:extLst xmlns:a="http://schemas.openxmlformats.org/drawingml/2006/main">
              <a:ext uri="{FF2B5EF4-FFF2-40B4-BE49-F238E27FC236}">
                <a16:creationId xmlns:a16="http://schemas.microsoft.com/office/drawing/2014/main" id="{9200D974-B729-4FDF-96F2-EB63E2B3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GO / NO-GO</a:t>
            </a:r>
          </a:p>
        </p:txBody>
      </p:sp>
      <p:sp>
        <p:nvSpPr>
          <p:cNvPr id="14" name="gate-copy">
            <a:extLst xmlns:a="http://schemas.openxmlformats.org/drawingml/2006/main">
              <a:ext uri="{FF2B5EF4-FFF2-40B4-BE49-F238E27FC236}">
                <a16:creationId xmlns:a16="http://schemas.microsoft.com/office/drawing/2014/main" id="{54FC0026-00C7-45B1-BBBE-A3A7F8DA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57675"/>
            <a:ext cx="771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如果基础事件编码在第 4 周仍未达到 95% 完整率，应暂停算法扩展；如果一线录入额外耗时超过每班 10 分钟，应先重做流程。</a:t>
            </a:r>
          </a:p>
        </p:txBody>
      </p:sp>
    </p:spTree>
    <p:extLst>
      <p:ext uri="{BB962C8B-B14F-4D97-AF65-F5344CB8AC3E}">
        <p14:creationId xmlns:p14="http://schemas.microsoft.com/office/powerpoint/2010/main" val="17021642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accent">
            <a:extLst xmlns:a="http://schemas.openxmlformats.org/drawingml/2006/main">
              <a:ext uri="{FF2B5EF4-FFF2-40B4-BE49-F238E27FC236}">
                <a16:creationId xmlns:a16="http://schemas.microsoft.com/office/drawing/2014/main" id="{6C17547C-CFC2-4A85-B6C1-A855400E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23BFC51F-81A0-4BFF-AB91-BBD4EF83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0EEB312F-2D9B-48CD-B6A7-9233FC3E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D818D7-3058-416D-8C23-10692C87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08 / 08</a:t>
            </a:r>
          </a:p>
        </p:txBody>
      </p:sp>
      <p:sp>
        <p:nvSpPr>
          <p:cNvPr id="5" name="conclusion-answer-field">
            <a:extLst xmlns:a="http://schemas.openxmlformats.org/drawingml/2006/main">
              <a:ext uri="{FF2B5EF4-FFF2-40B4-BE49-F238E27FC236}">
                <a16:creationId xmlns:a16="http://schemas.microsoft.com/office/drawing/2014/main" id="{328F9296-554A-41A5-A334-68ED62CA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65F62D33-6FFB-4B54-8781-738D4F26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</p:txBody>
      </p:sp>
      <p:sp>
        <p:nvSpPr>
          <p:cNvPr id="7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D00985BA-6520-4278-9D84-9B14A6CC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先做两厂试点，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用结果决定扩围</a:t>
            </a:r>
          </a:p>
        </p:txBody>
      </p:sp>
      <p:sp>
        <p:nvSpPr>
          <p:cNvPr id="8" name="conclusion-subtitle">
            <a:extLst xmlns:a="http://schemas.openxmlformats.org/drawingml/2006/main">
              <a:ext uri="{FF2B5EF4-FFF2-40B4-BE49-F238E27FC236}">
                <a16:creationId xmlns:a16="http://schemas.microsoft.com/office/drawing/2014/main" id="{5A9C54AB-D044-4CB0-A089-47BBA323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数据治理、现场流程和责任机制优先于新增大屏。</a:t>
            </a:r>
          </a:p>
        </p:txBody>
      </p:sp>
      <p:sp>
        <p:nvSpPr>
          <p:cNvPr id="9" name="conclusion-index-1">
            <a:extLst xmlns:a="http://schemas.openxmlformats.org/drawingml/2006/main">
              <a:ext uri="{FF2B5EF4-FFF2-40B4-BE49-F238E27FC236}">
                <a16:creationId xmlns:a16="http://schemas.microsoft.com/office/drawing/2014/main" id="{33E06637-473E-42C6-B16C-86E7F2F3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conclusion-point-1">
            <a:extLst xmlns:a="http://schemas.openxmlformats.org/drawingml/2006/main">
              <a:ext uri="{FF2B5EF4-FFF2-40B4-BE49-F238E27FC236}">
                <a16:creationId xmlns:a16="http://schemas.microsoft.com/office/drawing/2014/main" id="{F56D19F8-0F45-4198-B452-40663EED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2402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1" name="conclusion-rule-1">
            <a:extLst xmlns:a="http://schemas.openxmlformats.org/drawingml/2006/main">
              <a:ext uri="{FF2B5EF4-FFF2-40B4-BE49-F238E27FC236}">
                <a16:creationId xmlns:a16="http://schemas.microsoft.com/office/drawing/2014/main" id="{75B8C171-F650-4057-98C2-F54F4548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clusion-index-2">
            <a:extLst xmlns:a="http://schemas.openxmlformats.org/drawingml/2006/main">
              <a:ext uri="{FF2B5EF4-FFF2-40B4-BE49-F238E27FC236}">
                <a16:creationId xmlns:a16="http://schemas.microsoft.com/office/drawing/2014/main" id="{D61A1657-88BB-40CA-A556-E6ACF9D7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conclusion-point-2">
            <a:extLst xmlns:a="http://schemas.openxmlformats.org/drawingml/2006/main">
              <a:ext uri="{FF2B5EF4-FFF2-40B4-BE49-F238E27FC236}">
                <a16:creationId xmlns:a16="http://schemas.microsoft.com/office/drawing/2014/main" id="{E96CA889-3C88-421B-8C7C-D8265F1F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146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如果基础事件编码在第 4 周仍未达到 95% 完整率，应暂停算法扩展；如果一线录入额外耗时超过每班 10 分钟，应先重做流程。</a:t>
            </a:r>
          </a:p>
        </p:txBody>
      </p:sp>
      <p:sp>
        <p:nvSpPr>
          <p:cNvPr id="14" name="conclusion-rule-2">
            <a:extLst xmlns:a="http://schemas.openxmlformats.org/drawingml/2006/main">
              <a:ext uri="{FF2B5EF4-FFF2-40B4-BE49-F238E27FC236}">
                <a16:creationId xmlns:a16="http://schemas.microsoft.com/office/drawing/2014/main" id="{650885BB-99CB-428F-8DE8-BCC9498E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clusion-index-3">
            <a:extLst xmlns:a="http://schemas.openxmlformats.org/drawingml/2006/main">
              <a:ext uri="{FF2B5EF4-FFF2-40B4-BE49-F238E27FC236}">
                <a16:creationId xmlns:a16="http://schemas.microsoft.com/office/drawing/2014/main" id="{9C90DFBD-688E-4FB1-95C2-67932876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conclusion-point-3">
            <a:extLst xmlns:a="http://schemas.openxmlformats.org/drawingml/2006/main">
              <a:ext uri="{FF2B5EF4-FFF2-40B4-BE49-F238E27FC236}">
                <a16:creationId xmlns:a16="http://schemas.microsoft.com/office/drawing/2014/main" id="{1F0EBCFC-E80F-4EA9-9D05-AB1238D3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0527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所有指标需保留工厂、产线和产品层级口径，避免用总体平均掩盖局部问题。</a:t>
            </a:r>
          </a:p>
        </p:txBody>
      </p:sp>
      <p:sp>
        <p:nvSpPr>
          <p:cNvPr id="17" name="conclusion-rule-3">
            <a:extLst xmlns:a="http://schemas.openxmlformats.org/drawingml/2006/main">
              <a:ext uri="{FF2B5EF4-FFF2-40B4-BE49-F238E27FC236}">
                <a16:creationId xmlns:a16="http://schemas.microsoft.com/office/drawing/2014/main" id="{4893DCED-7E1D-45F1-9061-4072AB9B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9675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9568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2026-08-22T11:54:14.6330000Z</dcterms:created>
  <dcterms:modified xsi:type="dcterms:W3CDTF">2026-08-22T11:54:14.6330000Z</dcterms:modified>
</coreProperties>
</file>