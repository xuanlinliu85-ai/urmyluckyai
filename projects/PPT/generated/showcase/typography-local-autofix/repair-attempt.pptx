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b8b1d989dc422f" /><Relationship Type="http://schemas.openxmlformats.org/officeDocument/2006/relationships/extended-properties" Target="/docProps/app.xml" Id="R6c289e586ecd449c" /><Relationship Type="http://schemas.openxmlformats.org/officeDocument/2006/relationships/officeDocument" Target="/ppt/presentation.xml" Id="R8440db5ec22e43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2cb655c8954eb6"/>
  </p:sldMasterIdLst>
  <p:notesMasterIdLst>
    <p:notesMasterId xmlns:r="http://schemas.openxmlformats.org/officeDocument/2006/relationships" r:id="Ra80bb912690b407d"/>
  </p:notesMasterIdLst>
  <p:sldIdLst>
    <p:sldId xmlns:r="http://schemas.openxmlformats.org/officeDocument/2006/relationships" id="256" r:id="Re9ffc39cbf204d80"/>
    <p:sldId xmlns:r="http://schemas.openxmlformats.org/officeDocument/2006/relationships" id="257" r:id="R9fc6ca4b61fe4a66"/>
    <p:sldId xmlns:r="http://schemas.openxmlformats.org/officeDocument/2006/relationships" id="258" r:id="R85223871d5c6414d"/>
    <p:sldId xmlns:r="http://schemas.openxmlformats.org/officeDocument/2006/relationships" id="259" r:id="R28b3c689deb64966"/>
    <p:sldId xmlns:r="http://schemas.openxmlformats.org/officeDocument/2006/relationships" id="260" r:id="Rb303763c8e6a4192"/>
    <p:sldId xmlns:r="http://schemas.openxmlformats.org/officeDocument/2006/relationships" id="261" r:id="R350b2830f2e241dc"/>
    <p:sldId xmlns:r="http://schemas.openxmlformats.org/officeDocument/2006/relationships" id="262" r:id="R9bc491aeefac4a4c"/>
    <p:sldId xmlns:r="http://schemas.openxmlformats.org/officeDocument/2006/relationships" id="263" r:id="R88411e4f354144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69c41336fe453b" /><Relationship Type="http://schemas.openxmlformats.org/officeDocument/2006/relationships/slideMaster" Target="/ppt/slideMasters/slideMaster1.xml" Id="R652cb655c8954eb6" /><Relationship Type="http://schemas.openxmlformats.org/officeDocument/2006/relationships/notesMaster" Target="/ppt/notesMasters/notesMaster1.xml" Id="Ra80bb912690b407d" /><Relationship Type="http://schemas.openxmlformats.org/officeDocument/2006/relationships/presProps" Target="/ppt/presProps.xml" Id="R666d7254d35d46e5" /><Relationship Type="http://schemas.openxmlformats.org/officeDocument/2006/relationships/tableStyles" Target="/ppt/tableStyles.xml" Id="R745f6b2ef7ef4309" /><Relationship Type="http://schemas.openxmlformats.org/officeDocument/2006/relationships/slide" Target="/ppt/slides/slide1.xml" Id="Re9ffc39cbf204d80" /><Relationship Type="http://schemas.openxmlformats.org/officeDocument/2006/relationships/slide" Target="/ppt/slides/slide2.xml" Id="R9fc6ca4b61fe4a66" /><Relationship Type="http://schemas.openxmlformats.org/officeDocument/2006/relationships/slide" Target="/ppt/slides/slide3.xml" Id="R85223871d5c6414d" /><Relationship Type="http://schemas.openxmlformats.org/officeDocument/2006/relationships/slide" Target="/ppt/slides/slide4.xml" Id="R28b3c689deb64966" /><Relationship Type="http://schemas.openxmlformats.org/officeDocument/2006/relationships/slide" Target="/ppt/slides/slide5.xml" Id="Rb303763c8e6a4192" /><Relationship Type="http://schemas.openxmlformats.org/officeDocument/2006/relationships/slide" Target="/ppt/slides/slide6.xml" Id="R350b2830f2e241dc" /><Relationship Type="http://schemas.openxmlformats.org/officeDocument/2006/relationships/slide" Target="/ppt/slides/slide7.xml" Id="R9bc491aeefac4a4c" /><Relationship Type="http://schemas.openxmlformats.org/officeDocument/2006/relationships/slide" Target="/ppt/slides/slide8.xml" Id="R88411e4f354144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f5cbb181f649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b35e11424b4584" /><Relationship Type="http://schemas.openxmlformats.org/officeDocument/2006/relationships/notesMaster" Target="/ppt/notesMasters/notesMaster1.xml" Id="R42ec0e32152c41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91477fd14d418b" /><Relationship Type="http://schemas.openxmlformats.org/officeDocument/2006/relationships/notesMaster" Target="/ppt/notesMasters/notesMaster1.xml" Id="Rc738d985e34b40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61936a749a4c76" /><Relationship Type="http://schemas.openxmlformats.org/officeDocument/2006/relationships/notesMaster" Target="/ppt/notesMasters/notesMaster1.xml" Id="Rdebc1f2377fb4a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82badf0ebd4def" /><Relationship Type="http://schemas.openxmlformats.org/officeDocument/2006/relationships/notesMaster" Target="/ppt/notesMasters/notesMaster1.xml" Id="R670ef0ab54c647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b47b244514448e" /><Relationship Type="http://schemas.openxmlformats.org/officeDocument/2006/relationships/notesMaster" Target="/ppt/notesMasters/notesMaster1.xml" Id="R9111336abad048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03467d12064a66" /><Relationship Type="http://schemas.openxmlformats.org/officeDocument/2006/relationships/notesMaster" Target="/ppt/notesMasters/notesMaster1.xml" Id="R9b2bc817431f4d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2d4517fdb04c7b" /><Relationship Type="http://schemas.openxmlformats.org/officeDocument/2006/relationships/notesMaster" Target="/ppt/notesMasters/notesMaster1.xml" Id="Rf5d6069d62e24a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6c2a1c5d104171" /><Relationship Type="http://schemas.openxmlformats.org/officeDocument/2006/relationships/notesMaster" Target="/ppt/notesMasters/notesMaster1.xml" Id="R325bf9f8a71e4c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storyline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Native business metrics from Content Analysis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Native business metrics from Content Analysis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Timeline derived from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Targets and guardrails from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4c49a1d3349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9a2b29e3ba4cf2" /><Relationship Type="http://schemas.openxmlformats.org/officeDocument/2006/relationships/slideLayout" Target="/ppt/slideLayouts/slideLayout1.xml" Id="R1b104e202f304e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104e202f304e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df32bc39d4397" /><Relationship Type="http://schemas.openxmlformats.org/officeDocument/2006/relationships/notesSlide" Target="/ppt/notesSlides/notesSlide1.xml" Id="R001f8f7140fa44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1b95bd2a24590" /><Relationship Type="http://schemas.openxmlformats.org/officeDocument/2006/relationships/notesSlide" Target="/ppt/notesSlides/notesSlide2.xml" Id="Rdfb254ba72434c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cf665df484e8a" /><Relationship Type="http://schemas.openxmlformats.org/officeDocument/2006/relationships/notesSlide" Target="/ppt/notesSlides/notesSlide3.xml" Id="R51292706bc6443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22ee409a64f77" /><Relationship Type="http://schemas.openxmlformats.org/officeDocument/2006/relationships/chart" Target="/ppt/slides/charts/chart1.xml" Id="Racd4b7881d9f4464" /><Relationship Type="http://schemas.openxmlformats.org/officeDocument/2006/relationships/notesSlide" Target="/ppt/notesSlides/notesSlide4.xml" Id="R60a47dcf86784b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60cb8db184f7e" /><Relationship Type="http://schemas.openxmlformats.org/officeDocument/2006/relationships/notesSlide" Target="/ppt/notesSlides/notesSlide5.xml" Id="R674596ff9daa4e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26807cdd64ddc" /><Relationship Type="http://schemas.openxmlformats.org/officeDocument/2006/relationships/notesSlide" Target="/ppt/notesSlides/notesSlide6.xml" Id="R9118da5c56a44d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a689344f04a1c" /><Relationship Type="http://schemas.openxmlformats.org/officeDocument/2006/relationships/notesSlide" Target="/ppt/notesSlides/notesSlide7.xml" Id="Rea96ef87392845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a6298cdb041b8" /><Relationship Type="http://schemas.openxmlformats.org/officeDocument/2006/relationships/notesSlide" Target="/ppt/notesSlides/notesSlide8.xml" Id="R7e551589c0e3486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准时交付率</c:v>
          </c:tx>
          <c:spPr>
            <a:solidFill xmlns:a="http://schemas.openxmlformats.org/drawingml/2006/main">
              <a:srgbClr val="113558"/>
            </a:solidFill>
          </c:spPr>
          <c:cat>
            <c:strLit>
              <c:ptCount val="2"/>
              <c:pt idx="0">
                <c:v>基期</c:v>
              </c:pt>
              <c:pt idx="1">
                <c:v>当前</c:v>
              </c:pt>
            </c:strLit>
          </c:cat>
          <c:val>
            <c:numLit>
              <c:formatCode>General</c:formatCode>
              <c:ptCount val="2"/>
              <c:pt idx="0">
                <c:v>94</c:v>
              </c:pt>
              <c:pt idx="1">
                <c:v>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3233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48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48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side-field">
            <a:extLst xmlns:a="http://schemas.openxmlformats.org/drawingml/2006/main">
              <a:ext uri="{FF2B5EF4-FFF2-40B4-BE49-F238E27FC236}">
                <a16:creationId xmlns:a16="http://schemas.microsoft.com/office/drawing/2014/main" id="{694EDE86-FA56-4E15-B53C-6FF164EF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signal">
            <a:extLst xmlns:a="http://schemas.openxmlformats.org/drawingml/2006/main">
              <a:ext uri="{FF2B5EF4-FFF2-40B4-BE49-F238E27FC236}">
                <a16:creationId xmlns:a16="http://schemas.microsoft.com/office/drawing/2014/main" id="{B82F0CF0-03A5-4337-9950-F6C6AB30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514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345AE8A-6424-4594-9DEB-534653D3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AFC0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spc="2">
                <a:solidFill>
                  <a:srgbClr val="AFC0CE"/>
                </a:solidFill>
                <a:latin typeface="Microsoft YaHei"/>
                <a:ea typeface="Microsoft YaHei"/>
                <a:cs typeface="Microsoft YaHei"/>
              </a:rPr>
              <a:t>OPERATING DECISION BRIEF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90D1337-5E6C-4A9A-B48C-81AB3C30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42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制造服务运营与数字质量改进简报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0F73954-947B-484F-89D1-196E5142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7D3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C7D3DD"/>
                </a:solidFill>
                <a:latin typeface="Microsoft YaHei"/>
                <a:ea typeface="Microsoft YaHei"/>
                <a:cs typeface="Microsoft YaHei"/>
              </a:rPr>
              <a:t>形成可执行的运营改进决策</a:t>
            </a:r>
          </a:p>
        </p:txBody>
      </p:sp>
      <p:sp>
        <p:nvSpPr>
          <p:cNvPr id="6" name="cover-edition">
            <a:extLst xmlns:a="http://schemas.openxmlformats.org/drawingml/2006/main">
              <a:ext uri="{FF2B5EF4-FFF2-40B4-BE49-F238E27FC236}">
                <a16:creationId xmlns:a16="http://schemas.microsoft.com/office/drawing/2014/main" id="{53F8F133-C8C8-44A0-B756-95B029B1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  <a:p xmlns:a="http://schemas.openxmlformats.org/drawingml/2006/main">
            <a:pPr>
              <a:def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/ 01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2C8E8926-CB7E-4215-BF41-ED3F30CE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38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PPT FACTORY · PHASE 1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DDAD7D-6BE9-46D1-8878-596C8F61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91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510826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947AFA69-8B6B-49DC-8F98-12C8F690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78298EA1-5950-4902-9254-7ED13D6D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B5A3DE88-22DF-43AC-A381-120E34FA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FF6A57-05A2-4150-A262-044E9684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4FFB89-78FD-4863-9E93-C2C25125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核心判断与关键依据</a:t>
            </a:r>
          </a:p>
        </p:txBody>
      </p:sp>
      <p:sp>
        <p:nvSpPr>
          <p:cNvPr id="6" name="summary-answer-field">
            <a:extLst xmlns:a="http://schemas.openxmlformats.org/drawingml/2006/main">
              <a:ext uri="{FF2B5EF4-FFF2-40B4-BE49-F238E27FC236}">
                <a16:creationId xmlns:a16="http://schemas.microsoft.com/office/drawing/2014/main" id="{702ED45D-7715-40C1-A320-653FFF95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3816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mmary-answer-label">
            <a:extLst xmlns:a="http://schemas.openxmlformats.org/drawingml/2006/main">
              <a:ext uri="{FF2B5EF4-FFF2-40B4-BE49-F238E27FC236}">
                <a16:creationId xmlns:a16="http://schemas.microsoft.com/office/drawing/2014/main" id="{C4CE2CB9-DA9B-4741-BCE1-9D36FB87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2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2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CORE ANSWER</a:t>
            </a:r>
          </a:p>
        </p:txBody>
      </p:sp>
      <p:sp>
        <p:nvSpPr>
          <p:cNvPr id="8" name="summary-answer">
            <a:extLst xmlns:a="http://schemas.openxmlformats.org/drawingml/2006/main">
              <a:ext uri="{FF2B5EF4-FFF2-40B4-BE49-F238E27FC236}">
                <a16:creationId xmlns:a16="http://schemas.microsoft.com/office/drawing/2014/main" id="{E26153AD-4696-484E-9F3D-69218F5E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未来两个季度不应继续铺开零散系统，而应把交付准时率、一次检验通过率和设备停机时间作为同一条运营链路治理。</a:t>
            </a:r>
          </a:p>
        </p:txBody>
      </p:sp>
      <p:sp>
        <p:nvSpPr>
          <p:cNvPr id="9" name="summary-index-1">
            <a:extLst xmlns:a="http://schemas.openxmlformats.org/drawingml/2006/main">
              <a:ext uri="{FF2B5EF4-FFF2-40B4-BE49-F238E27FC236}">
                <a16:creationId xmlns:a16="http://schemas.microsoft.com/office/drawing/2014/main" id="{DB96D374-DD8E-4602-AB58-41A55019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summary-point-1">
            <a:extLst xmlns:a="http://schemas.openxmlformats.org/drawingml/2006/main">
              <a:ext uri="{FF2B5EF4-FFF2-40B4-BE49-F238E27FC236}">
                <a16:creationId xmlns:a16="http://schemas.microsoft.com/office/drawing/2014/main" id="{65020E99-090A-43F8-A01A-6714E668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43075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试点应先覆盖华东两座工厂，再根据可复制性决定扩围。</a:t>
            </a:r>
          </a:p>
        </p:txBody>
      </p:sp>
      <p:sp>
        <p:nvSpPr>
          <p:cNvPr id="11" name="summary-rule-1">
            <a:extLst xmlns:a="http://schemas.openxmlformats.org/drawingml/2006/main">
              <a:ext uri="{FF2B5EF4-FFF2-40B4-BE49-F238E27FC236}">
                <a16:creationId xmlns:a16="http://schemas.microsoft.com/office/drawing/2014/main" id="{0F652352-3F89-456C-8A64-7A3D54CB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574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mmary-index-2">
            <a:extLst xmlns:a="http://schemas.openxmlformats.org/drawingml/2006/main">
              <a:ext uri="{FF2B5EF4-FFF2-40B4-BE49-F238E27FC236}">
                <a16:creationId xmlns:a16="http://schemas.microsoft.com/office/drawing/2014/main" id="{115A298F-09AF-4539-BEC3-EFFF1168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622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summary-point-2">
            <a:extLst xmlns:a="http://schemas.openxmlformats.org/drawingml/2006/main">
              <a:ext uri="{FF2B5EF4-FFF2-40B4-BE49-F238E27FC236}">
                <a16:creationId xmlns:a16="http://schemas.microsoft.com/office/drawing/2014/main" id="{48BC05F8-0B9D-4662-94E3-D8B309F9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43225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14" name="summary-rule-2">
            <a:extLst xmlns:a="http://schemas.openxmlformats.org/drawingml/2006/main">
              <a:ext uri="{FF2B5EF4-FFF2-40B4-BE49-F238E27FC236}">
                <a16:creationId xmlns:a16="http://schemas.microsoft.com/office/drawing/2014/main" id="{33A32D85-4F4C-4CA3-AC40-E7C578CE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1409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858B98E2-F093-4F29-A944-9034571D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7FF51B38-DF87-4086-868D-30F97B1A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C6D4C1B2-FA0C-425F-8C06-5C929C04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46AEE6-D4F4-4041-93C2-FADEA3CD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B5A0E7-2512-42C1-92D1-EB059588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运营问题必须按一条链路治理</a:t>
            </a:r>
          </a:p>
        </p:txBody>
      </p:sp>
      <p:sp>
        <p:nvSpPr>
          <p:cNvPr id="6" name="editorial-answer-field">
            <a:extLst xmlns:a="http://schemas.openxmlformats.org/drawingml/2006/main">
              <a:ext uri="{FF2B5EF4-FFF2-40B4-BE49-F238E27FC236}">
                <a16:creationId xmlns:a16="http://schemas.microsoft.com/office/drawing/2014/main" id="{FD02DB8A-7E9C-4AC0-BB29-46821C63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ditorial-kicker">
            <a:extLst xmlns:a="http://schemas.openxmlformats.org/drawingml/2006/main">
              <a:ext uri="{FF2B5EF4-FFF2-40B4-BE49-F238E27FC236}">
                <a16:creationId xmlns:a16="http://schemas.microsoft.com/office/drawing/2014/main" id="{7BCE6DF7-E214-4F2E-8B8A-76A6A50B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OPERATING PRINCIPLE</a:t>
            </a:r>
          </a:p>
        </p:txBody>
      </p:sp>
      <p:sp>
        <p:nvSpPr>
          <p:cNvPr id="8" name="editorial-claim">
            <a:extLst xmlns:a="http://schemas.openxmlformats.org/drawingml/2006/main">
              <a:ext uri="{FF2B5EF4-FFF2-40B4-BE49-F238E27FC236}">
                <a16:creationId xmlns:a16="http://schemas.microsoft.com/office/drawing/2014/main" id="{01C30C3E-6252-4A31-85F9-AEC734DF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未来两个季度不应继续铺开零散系统</a:t>
            </a:r>
          </a:p>
        </p:txBody>
      </p:sp>
      <p:sp>
        <p:nvSpPr>
          <p:cNvPr id="9" name="editorial-caption">
            <a:extLst xmlns:a="http://schemas.openxmlformats.org/drawingml/2006/main">
              <a:ext uri="{FF2B5EF4-FFF2-40B4-BE49-F238E27FC236}">
                <a16:creationId xmlns:a16="http://schemas.microsoft.com/office/drawing/2014/main" id="{581A5341-B034-4EF6-815D-4CE56298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从单点系统建设转向跨环节经营闭环</a:t>
            </a:r>
          </a:p>
        </p:txBody>
      </p:sp>
      <p:sp>
        <p:nvSpPr>
          <p:cNvPr id="10" name="editorial-number-1">
            <a:extLst xmlns:a="http://schemas.openxmlformats.org/drawingml/2006/main">
              <a:ext uri="{FF2B5EF4-FFF2-40B4-BE49-F238E27FC236}">
                <a16:creationId xmlns:a16="http://schemas.microsoft.com/office/drawing/2014/main" id="{4DB79BA6-FFB7-4C28-97A3-C0A7D182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editorial-proof-1">
            <a:extLst xmlns:a="http://schemas.openxmlformats.org/drawingml/2006/main">
              <a:ext uri="{FF2B5EF4-FFF2-40B4-BE49-F238E27FC236}">
                <a16:creationId xmlns:a16="http://schemas.microsoft.com/office/drawing/2014/main" id="{07C0EA6B-A6C1-4A8D-8920-40CAB665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38325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而应把交付准时率、一次检验通过率和设备停机时间作为同一条运营链路治理</a:t>
            </a:r>
          </a:p>
        </p:txBody>
      </p:sp>
      <p:sp>
        <p:nvSpPr>
          <p:cNvPr id="12" name="editorial-proof-rule-1">
            <a:extLst xmlns:a="http://schemas.openxmlformats.org/drawingml/2006/main">
              <a:ext uri="{FF2B5EF4-FFF2-40B4-BE49-F238E27FC236}">
                <a16:creationId xmlns:a16="http://schemas.microsoft.com/office/drawing/2014/main" id="{15A8F8E1-23FA-4E8C-8FF4-880EB799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955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ditorial-number-2">
            <a:extLst xmlns:a="http://schemas.openxmlformats.org/drawingml/2006/main">
              <a:ext uri="{FF2B5EF4-FFF2-40B4-BE49-F238E27FC236}">
                <a16:creationId xmlns:a16="http://schemas.microsoft.com/office/drawing/2014/main" id="{0DB0B290-208B-47BB-85F4-36EC858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622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editorial-proof-2">
            <a:extLst xmlns:a="http://schemas.openxmlformats.org/drawingml/2006/main">
              <a:ext uri="{FF2B5EF4-FFF2-40B4-BE49-F238E27FC236}">
                <a16:creationId xmlns:a16="http://schemas.microsoft.com/office/drawing/2014/main" id="{E8A7B7A9-B406-4A50-89E4-E30DE6EB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43225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试点应先覆盖华东两座工厂，再根据可复制性决定扩围。</a:t>
            </a:r>
          </a:p>
        </p:txBody>
      </p:sp>
      <p:sp>
        <p:nvSpPr>
          <p:cNvPr id="15" name="editorial-proof-rule-2">
            <a:extLst xmlns:a="http://schemas.openxmlformats.org/drawingml/2006/main">
              <a:ext uri="{FF2B5EF4-FFF2-40B4-BE49-F238E27FC236}">
                <a16:creationId xmlns:a16="http://schemas.microsoft.com/office/drawing/2014/main" id="{CB57375A-29E7-494D-8244-8A1FA5FA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004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5743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392797F-BF96-47C8-87EC-ACF8AF92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59818C01-5671-4F77-97B8-E22955F9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F73AA51F-0ACD-48ED-BEDF-1E5132F3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37FEB1-AE7C-4C96-8FBD-7C20031C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1B7986-48F2-4C65-AAAE-6C605EB9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6" name="metric-chart-field">
            <a:extLst xmlns:a="http://schemas.openxmlformats.org/drawingml/2006/main">
              <a:ext uri="{FF2B5EF4-FFF2-40B4-BE49-F238E27FC236}">
                <a16:creationId xmlns:a16="http://schemas.microsoft.com/office/drawing/2014/main" id="{FB1599C3-E89F-4901-8AD7-08E75398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066800" y="2190750"/>
          <a:ext xmlns:a="http://schemas.openxmlformats.org/drawingml/2006/main" cx="61912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d4b7881d9f4464"/>
          </a:graphicData>
        </a:graphic>
      </p:graphicFrame>
      <p:sp>
        <p:nvSpPr>
          <p:cNvPr id="8" name="metric-decision-field">
            <a:extLst xmlns:a="http://schemas.openxmlformats.org/drawingml/2006/main">
              <a:ext uri="{FF2B5EF4-FFF2-40B4-BE49-F238E27FC236}">
                <a16:creationId xmlns:a16="http://schemas.microsoft.com/office/drawing/2014/main" id="{6C0BDF22-D879-4B64-8105-879733FF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delta-label">
            <a:extLst xmlns:a="http://schemas.openxmlformats.org/drawingml/2006/main">
              <a:ext uri="{FF2B5EF4-FFF2-40B4-BE49-F238E27FC236}">
                <a16:creationId xmlns:a16="http://schemas.microsoft.com/office/drawing/2014/main" id="{EA9D7739-8B17-4539-A1B2-2C80636D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71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OPERATING GAP</a:t>
            </a:r>
          </a:p>
        </p:txBody>
      </p:sp>
      <p:sp>
        <p:nvSpPr>
          <p:cNvPr id="10" name="metric-delta">
            <a:extLst xmlns:a="http://schemas.openxmlformats.org/drawingml/2006/main">
              <a:ext uri="{FF2B5EF4-FFF2-40B4-BE49-F238E27FC236}">
                <a16:creationId xmlns:a16="http://schemas.microsoft.com/office/drawing/2014/main" id="{141CA738-3272-4CFB-BBE0-A9E298BF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670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-6 pp</a:t>
            </a:r>
          </a:p>
        </p:txBody>
      </p:sp>
      <p:sp>
        <p:nvSpPr>
          <p:cNvPr id="11" name="metric-decision-copy">
            <a:extLst xmlns:a="http://schemas.openxmlformats.org/drawingml/2006/main">
              <a:ext uri="{FF2B5EF4-FFF2-40B4-BE49-F238E27FC236}">
                <a16:creationId xmlns:a16="http://schemas.microsoft.com/office/drawing/2014/main" id="{A7573A9E-2802-4937-82A3-0B02EA00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62375"/>
            <a:ext cx="2333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返工成本占制造成本的 4.6%，其中 57% 来自三类重复质量缺陷。</a:t>
            </a:r>
          </a:p>
        </p:txBody>
      </p:sp>
    </p:spTree>
    <p:extLst>
      <p:ext uri="{BB962C8B-B14F-4D97-AF65-F5344CB8AC3E}">
        <p14:creationId xmlns:p14="http://schemas.microsoft.com/office/powerpoint/2010/main" val="614238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C388D6-1D9D-4358-B515-9385097D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A80E1A2B-B8C8-421B-B3A0-535776CE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C1663164-155A-4655-AF53-534E7035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AEC7BE-F7D2-49F1-95F4-9753A1E5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EBCD9E-941F-4FF1-A2BF-7A8C4017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6" name="metric-band-1">
            <a:extLst xmlns:a="http://schemas.openxmlformats.org/drawingml/2006/main">
              <a:ext uri="{FF2B5EF4-FFF2-40B4-BE49-F238E27FC236}">
                <a16:creationId xmlns:a16="http://schemas.microsoft.com/office/drawing/2014/main" id="{DF84A456-4DCB-4E48-8CC0-1783AFAF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3E9AD23C-B6AB-40D9-803B-585D2222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126小时</a:t>
            </a:r>
          </a:p>
        </p:txBody>
      </p:sp>
      <p:sp>
        <p:nvSpPr>
          <p:cNvPr id="8" name="metric-context-1">
            <a:extLst xmlns:a="http://schemas.openxmlformats.org/drawingml/2006/main">
              <a:ext uri="{FF2B5EF4-FFF2-40B4-BE49-F238E27FC236}">
                <a16:creationId xmlns:a16="http://schemas.microsoft.com/office/drawing/2014/main" id="{EAFF5ABA-8635-4D97-9280-FF022B6F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9" name="metric-band-2">
            <a:extLst xmlns:a="http://schemas.openxmlformats.org/drawingml/2006/main">
              <a:ext uri="{FF2B5EF4-FFF2-40B4-BE49-F238E27FC236}">
                <a16:creationId xmlns:a16="http://schemas.microsoft.com/office/drawing/2014/main" id="{55A7DC0A-A19C-4598-B4BE-8767B324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sp>
        <p:nvSpPr>
          <p:cNvPr id="10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96614752-F0C3-4F6B-87B6-E31537D6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35%</a:t>
            </a:r>
          </a:p>
        </p:txBody>
      </p:sp>
      <p:sp>
        <p:nvSpPr>
          <p:cNvPr id="11" name="metric-context-2">
            <a:extLst xmlns:a="http://schemas.openxmlformats.org/drawingml/2006/main">
              <a:ext uri="{FF2B5EF4-FFF2-40B4-BE49-F238E27FC236}">
                <a16:creationId xmlns:a16="http://schemas.microsoft.com/office/drawing/2014/main" id="{DADE6697-8C59-4C80-B915-B007BD41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12" name="metric-band-3">
            <a:extLst xmlns:a="http://schemas.openxmlformats.org/drawingml/2006/main">
              <a:ext uri="{FF2B5EF4-FFF2-40B4-BE49-F238E27FC236}">
                <a16:creationId xmlns:a16="http://schemas.microsoft.com/office/drawing/2014/main" id="{18565C2A-5FE6-46EC-A17E-247691F5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sp>
        <p:nvSpPr>
          <p:cNvPr id="13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A9308FBB-6E3B-488B-98C9-29874B68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11.4天</a:t>
            </a:r>
          </a:p>
        </p:txBody>
      </p:sp>
      <p:sp>
        <p:nvSpPr>
          <p:cNvPr id="14" name="metric-context-3">
            <a:extLst xmlns:a="http://schemas.openxmlformats.org/drawingml/2006/main">
              <a:ext uri="{FF2B5EF4-FFF2-40B4-BE49-F238E27FC236}">
                <a16:creationId xmlns:a16="http://schemas.microsoft.com/office/drawing/2014/main" id="{94374288-0A20-4490-AB41-1EBC02C3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当前质量异常从发现到关闭平均需要 11.4 天，跨部门等待占其中 6.2 天。</a:t>
            </a:r>
          </a:p>
        </p:txBody>
      </p:sp>
    </p:spTree>
    <p:extLst>
      <p:ext uri="{BB962C8B-B14F-4D97-AF65-F5344CB8AC3E}">
        <p14:creationId xmlns:p14="http://schemas.microsoft.com/office/powerpoint/2010/main" val="364277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3F006CC6-7678-4DAA-B2FA-017D95DB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49C07764-9F6F-4499-9EA0-AB4D3B76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CC9A79A1-652F-4593-BF9D-9E208BF6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2F8F8E-51E9-4FB1-9B67-FDF65190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BEEBAC-13C5-4468-BF0D-0E7F6467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112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第一阶段用 8 周建立统一事件编码和日级看板；第二阶段将质量异常、设备状态和交付承诺打通。</a:t>
            </a:r>
          </a:p>
        </p:txBody>
      </p:sp>
      <p:sp>
        <p:nvSpPr>
          <p:cNvPr id="6" name="timeline-spine">
            <a:extLst xmlns:a="http://schemas.openxmlformats.org/drawingml/2006/main">
              <a:ext uri="{FF2B5EF4-FFF2-40B4-BE49-F238E27FC236}">
                <a16:creationId xmlns:a16="http://schemas.microsoft.com/office/drawing/2014/main" id="{2F8ADCFE-05A5-4593-9F2C-B46FB61F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81350"/>
            <a:ext cx="781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E67A1495-D76D-4EDF-B722-60A8EA7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step-1">
            <a:extLst xmlns:a="http://schemas.openxmlformats.org/drawingml/2006/main">
              <a:ext uri="{FF2B5EF4-FFF2-40B4-BE49-F238E27FC236}">
                <a16:creationId xmlns:a16="http://schemas.microsoft.com/office/drawing/2014/main" id="{384112E3-2F25-4496-96E8-57D71E5F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9EC11B69-4C8C-4D85-9DD9-A320875D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建立基线 · 8周</a:t>
            </a:r>
          </a:p>
        </p:txBody>
      </p:sp>
      <p:sp>
        <p:nvSpPr>
          <p:cNvPr id="10" name="timeline-copy-1">
            <a:extLst xmlns:a="http://schemas.openxmlformats.org/drawingml/2006/main">
              <a:ext uri="{FF2B5EF4-FFF2-40B4-BE49-F238E27FC236}">
                <a16:creationId xmlns:a16="http://schemas.microsoft.com/office/drawing/2014/main" id="{48568F58-31DB-400E-B284-5462D279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第一阶段用 8 周建立统一事件编码和日级看板；第二阶段将质量异常、设备状态和交付承诺打通。</a:t>
            </a:r>
          </a:p>
        </p:txBody>
      </p:sp>
      <p:sp>
        <p:nvSpPr>
          <p:cNvPr id="11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EF0EA6C2-1B30-4548-9B8F-B7559149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step-2">
            <a:extLst xmlns:a="http://schemas.openxmlformats.org/drawingml/2006/main">
              <a:ext uri="{FF2B5EF4-FFF2-40B4-BE49-F238E27FC236}">
                <a16:creationId xmlns:a16="http://schemas.microsoft.com/office/drawing/2014/main" id="{65CEF3B3-609D-44A0-9866-561AFC1D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8AE9C823-7143-4B9D-9669-B844C105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打通运营链路</a:t>
            </a:r>
          </a:p>
        </p:txBody>
      </p:sp>
      <p:sp>
        <p:nvSpPr>
          <p:cNvPr id="14" name="timeline-copy-2">
            <a:extLst xmlns:a="http://schemas.openxmlformats.org/drawingml/2006/main">
              <a:ext uri="{FF2B5EF4-FFF2-40B4-BE49-F238E27FC236}">
                <a16:creationId xmlns:a16="http://schemas.microsoft.com/office/drawing/2014/main" id="{6DCE567A-CA93-4BE7-BBA3-34EC2A96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预算优先投向数据治理、现场流程和责任机制，不以采购更多大屏作为成果。</a:t>
            </a:r>
          </a:p>
        </p:txBody>
      </p:sp>
      <p:sp>
        <p:nvSpPr>
          <p:cNvPr id="15" name="timeline-decision">
            <a:extLst xmlns:a="http://schemas.openxmlformats.org/drawingml/2006/main">
              <a:ext uri="{FF2B5EF4-FFF2-40B4-BE49-F238E27FC236}">
                <a16:creationId xmlns:a16="http://schemas.microsoft.com/office/drawing/2014/main" id="{8A54A4A7-38BD-4E11-BFFC-E0310733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91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先统一事件与责任口径，再扩展算法和系统覆盖。</a:t>
            </a:r>
          </a:p>
        </p:txBody>
      </p:sp>
    </p:spTree>
    <p:extLst>
      <p:ext uri="{BB962C8B-B14F-4D97-AF65-F5344CB8AC3E}">
        <p14:creationId xmlns:p14="http://schemas.microsoft.com/office/powerpoint/2010/main" val="16062829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EE06893E-394F-4675-B4E7-F20814BD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0890E748-D5F0-4272-B090-98F3E21F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FF38C0DC-1FF6-4EC2-94C9-8130FFA5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80DFB6-9531-4AC8-8A72-F823C3B0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FD8F81-DC8E-46C5-B39D-072BA6D2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目标明确，但扩围必须经过两道门槛</a:t>
            </a:r>
          </a:p>
        </p:txBody>
      </p:sp>
      <p:sp>
        <p:nvSpPr>
          <p:cNvPr id="6" name="target-value-1">
            <a:extLst xmlns:a="http://schemas.openxmlformats.org/drawingml/2006/main">
              <a:ext uri="{FF2B5EF4-FFF2-40B4-BE49-F238E27FC236}">
                <a16:creationId xmlns:a16="http://schemas.microsoft.com/office/drawing/2014/main" id="{1ECFD75D-2B5A-47F1-A25D-C42B9867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93%</a:t>
            </a:r>
          </a:p>
        </p:txBody>
      </p:sp>
      <p:sp>
        <p:nvSpPr>
          <p:cNvPr id="7" name="target-context-1">
            <a:extLst xmlns:a="http://schemas.openxmlformats.org/drawingml/2006/main">
              <a:ext uri="{FF2B5EF4-FFF2-40B4-BE49-F238E27FC236}">
                <a16:creationId xmlns:a16="http://schemas.microsoft.com/office/drawing/2014/main" id="{5C546F3D-BFD9-4A50-A7D0-69B1401D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8" name="target-value-2">
            <a:extLst xmlns:a="http://schemas.openxmlformats.org/drawingml/2006/main">
              <a:ext uri="{FF2B5EF4-FFF2-40B4-BE49-F238E27FC236}">
                <a16:creationId xmlns:a16="http://schemas.microsoft.com/office/drawing/2014/main" id="{49D61FC1-D05B-4092-95D3-58B60978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3个百分点</a:t>
            </a:r>
          </a:p>
        </p:txBody>
      </p:sp>
      <p:sp>
        <p:nvSpPr>
          <p:cNvPr id="9" name="target-context-2">
            <a:extLst xmlns:a="http://schemas.openxmlformats.org/drawingml/2006/main">
              <a:ext uri="{FF2B5EF4-FFF2-40B4-BE49-F238E27FC236}">
                <a16:creationId xmlns:a16="http://schemas.microsoft.com/office/drawing/2014/main" id="{7FC28E13-3D9C-4AF2-AE62-1894BA4D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0" name="target-value-3">
            <a:extLst xmlns:a="http://schemas.openxmlformats.org/drawingml/2006/main">
              <a:ext uri="{FF2B5EF4-FFF2-40B4-BE49-F238E27FC236}">
                <a16:creationId xmlns:a16="http://schemas.microsoft.com/office/drawing/2014/main" id="{580786A8-EBAD-454E-9343-25DD9D55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7天</a:t>
            </a:r>
          </a:p>
        </p:txBody>
      </p:sp>
      <p:sp>
        <p:nvSpPr>
          <p:cNvPr id="11" name="target-context-3">
            <a:extLst xmlns:a="http://schemas.openxmlformats.org/drawingml/2006/main">
              <a:ext uri="{FF2B5EF4-FFF2-40B4-BE49-F238E27FC236}">
                <a16:creationId xmlns:a16="http://schemas.microsoft.com/office/drawing/2014/main" id="{42C93CF9-BBC3-4846-97A7-1EEAC828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2" name="gate-field">
            <a:extLst xmlns:a="http://schemas.openxmlformats.org/drawingml/2006/main">
              <a:ext uri="{FF2B5EF4-FFF2-40B4-BE49-F238E27FC236}">
                <a16:creationId xmlns:a16="http://schemas.microsoft.com/office/drawing/2014/main" id="{AA4F78F1-C5DD-412A-8264-05ABFE9E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44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ate-label">
            <a:extLst xmlns:a="http://schemas.openxmlformats.org/drawingml/2006/main">
              <a:ext uri="{FF2B5EF4-FFF2-40B4-BE49-F238E27FC236}">
                <a16:creationId xmlns:a16="http://schemas.microsoft.com/office/drawing/2014/main" id="{3579146D-204A-4CD9-84CC-7425829E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GO / NO-GO</a:t>
            </a:r>
          </a:p>
        </p:txBody>
      </p:sp>
      <p:sp>
        <p:nvSpPr>
          <p:cNvPr id="14" name="gate-copy">
            <a:extLst xmlns:a="http://schemas.openxmlformats.org/drawingml/2006/main">
              <a:ext uri="{FF2B5EF4-FFF2-40B4-BE49-F238E27FC236}">
                <a16:creationId xmlns:a16="http://schemas.microsoft.com/office/drawing/2014/main" id="{AD32EDBB-6D7C-4D7F-9AC3-BC98BD41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57675"/>
            <a:ext cx="771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如果基础事件编码在第 4 周仍未达到 95% 完整率，应暂停算法扩展；如果一线录入额外耗时超过每班 10 分钟，应先重做流程。</a:t>
            </a:r>
          </a:p>
        </p:txBody>
      </p:sp>
    </p:spTree>
    <p:extLst>
      <p:ext uri="{BB962C8B-B14F-4D97-AF65-F5344CB8AC3E}">
        <p14:creationId xmlns:p14="http://schemas.microsoft.com/office/powerpoint/2010/main" val="10792630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727251E0-4976-402D-BF14-3CA73874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2382D537-F96C-48C3-B261-2264B704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73FC49D7-81F4-439A-B2DA-2D45F9C8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9AA823-B349-4AB3-8C79-333D13E9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  <p:sp>
        <p:nvSpPr>
          <p:cNvPr id="5" name="conclusion-answer-field">
            <a:extLst xmlns:a="http://schemas.openxmlformats.org/drawingml/2006/main">
              <a:ext uri="{FF2B5EF4-FFF2-40B4-BE49-F238E27FC236}">
                <a16:creationId xmlns:a16="http://schemas.microsoft.com/office/drawing/2014/main" id="{B881D024-9D41-4BB6-A435-250082F8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AAD15068-2548-4DFE-9701-DCEEEE24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</p:txBody>
      </p:sp>
      <p:sp>
        <p:nvSpPr>
          <p:cNvPr id="7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E7892F89-3568-427F-B604-7469154F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先做两厂试点，</a:t>
            </a:r>
          </a:p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用结果决定扩围</a:t>
            </a:r>
          </a:p>
        </p:txBody>
      </p:sp>
      <p:sp>
        <p:nvSpPr>
          <p:cNvPr id="8" name="conclusion-subtitle">
            <a:extLst xmlns:a="http://schemas.openxmlformats.org/drawingml/2006/main">
              <a:ext uri="{FF2B5EF4-FFF2-40B4-BE49-F238E27FC236}">
                <a16:creationId xmlns:a16="http://schemas.microsoft.com/office/drawing/2014/main" id="{D8C4BB70-B71C-45FE-8AAB-AC0C2E68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数据治理、现场流程和责任机制优先于新增大屏。</a:t>
            </a:r>
          </a:p>
        </p:txBody>
      </p:sp>
      <p:sp>
        <p:nvSpPr>
          <p:cNvPr id="9" name="conclusion-index-1">
            <a:extLst xmlns:a="http://schemas.openxmlformats.org/drawingml/2006/main">
              <a:ext uri="{FF2B5EF4-FFF2-40B4-BE49-F238E27FC236}">
                <a16:creationId xmlns:a16="http://schemas.microsoft.com/office/drawing/2014/main" id="{F7F7217B-9D5D-4D63-979E-477F60B9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conclusion-point-1">
            <a:extLst xmlns:a="http://schemas.openxmlformats.org/drawingml/2006/main">
              <a:ext uri="{FF2B5EF4-FFF2-40B4-BE49-F238E27FC236}">
                <a16:creationId xmlns:a16="http://schemas.microsoft.com/office/drawing/2014/main" id="{9AE735BE-311C-4523-9D12-C8030E04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2402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1" name="conclusion-rule-1">
            <a:extLst xmlns:a="http://schemas.openxmlformats.org/drawingml/2006/main">
              <a:ext uri="{FF2B5EF4-FFF2-40B4-BE49-F238E27FC236}">
                <a16:creationId xmlns:a16="http://schemas.microsoft.com/office/drawing/2014/main" id="{809E503F-B3E7-407C-9DCF-1D156E18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clusion-index-2">
            <a:extLst xmlns:a="http://schemas.openxmlformats.org/drawingml/2006/main">
              <a:ext uri="{FF2B5EF4-FFF2-40B4-BE49-F238E27FC236}">
                <a16:creationId xmlns:a16="http://schemas.microsoft.com/office/drawing/2014/main" id="{38575985-0C61-4853-B16F-1CC9027F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conclusion-point-2">
            <a:extLst xmlns:a="http://schemas.openxmlformats.org/drawingml/2006/main">
              <a:ext uri="{FF2B5EF4-FFF2-40B4-BE49-F238E27FC236}">
                <a16:creationId xmlns:a16="http://schemas.microsoft.com/office/drawing/2014/main" id="{4818C4CF-4A16-4D9C-9BF3-8ABA3A2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146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如果基础事件编码在第 4 周仍未达到 95% 完整率，应暂停算法扩展；如果一线录入额外耗时超过每班 10 分钟，应先重做流程。</a:t>
            </a:r>
          </a:p>
        </p:txBody>
      </p:sp>
      <p:sp>
        <p:nvSpPr>
          <p:cNvPr id="14" name="conclusion-rule-2">
            <a:extLst xmlns:a="http://schemas.openxmlformats.org/drawingml/2006/main">
              <a:ext uri="{FF2B5EF4-FFF2-40B4-BE49-F238E27FC236}">
                <a16:creationId xmlns:a16="http://schemas.microsoft.com/office/drawing/2014/main" id="{98D971A5-2042-42D5-9ACE-BD096B9F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clusion-index-3">
            <a:extLst xmlns:a="http://schemas.openxmlformats.org/drawingml/2006/main">
              <a:ext uri="{FF2B5EF4-FFF2-40B4-BE49-F238E27FC236}">
                <a16:creationId xmlns:a16="http://schemas.microsoft.com/office/drawing/2014/main" id="{D360E388-65A4-4A06-A703-96006159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conclusion-point-3">
            <a:extLst xmlns:a="http://schemas.openxmlformats.org/drawingml/2006/main">
              <a:ext uri="{FF2B5EF4-FFF2-40B4-BE49-F238E27FC236}">
                <a16:creationId xmlns:a16="http://schemas.microsoft.com/office/drawing/2014/main" id="{7003DE78-0F1B-4FFC-B302-1A11400B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0527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所有指标需保留工厂、产线和产品层级口径，避免用总体平均掩盖局部问题。</a:t>
            </a:r>
          </a:p>
        </p:txBody>
      </p:sp>
      <p:sp>
        <p:nvSpPr>
          <p:cNvPr id="17" name="conclusion-rule-3">
            <a:extLst xmlns:a="http://schemas.openxmlformats.org/drawingml/2006/main">
              <a:ext uri="{FF2B5EF4-FFF2-40B4-BE49-F238E27FC236}">
                <a16:creationId xmlns:a16="http://schemas.microsoft.com/office/drawing/2014/main" id="{291D5DF7-1B2B-457E-A1C0-0D66AFB8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967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6050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2026-08-22T12:33:18.7660000Z</dcterms:created>
  <dcterms:modified xsi:type="dcterms:W3CDTF">2026-08-22T12:33:18.7660000Z</dcterms:modified>
</coreProperties>
</file>