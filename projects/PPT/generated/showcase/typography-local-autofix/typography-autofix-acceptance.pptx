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a4459278734a0f" /><Relationship Type="http://schemas.openxmlformats.org/officeDocument/2006/relationships/extended-properties" Target="/docProps/app.xml" Id="Rac8ec13645e14180" /><Relationship Type="http://schemas.openxmlformats.org/officeDocument/2006/relationships/officeDocument" Target="/ppt/presentation.xml" Id="Rb725f0e348614c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81a6c4ef0e47de"/>
  </p:sldMasterIdLst>
  <p:notesMasterIdLst>
    <p:notesMasterId xmlns:r="http://schemas.openxmlformats.org/officeDocument/2006/relationships" r:id="Ra3faf4cea804472f"/>
  </p:notesMasterIdLst>
  <p:sldIdLst>
    <p:sldId xmlns:r="http://schemas.openxmlformats.org/officeDocument/2006/relationships" id="256" r:id="Red6fde4754af4843"/>
    <p:sldId xmlns:r="http://schemas.openxmlformats.org/officeDocument/2006/relationships" id="257" r:id="R30fd3a2d77834371"/>
    <p:sldId xmlns:r="http://schemas.openxmlformats.org/officeDocument/2006/relationships" id="258" r:id="R23846e9dca934240"/>
    <p:sldId xmlns:r="http://schemas.openxmlformats.org/officeDocument/2006/relationships" id="259" r:id="R23b190362da746e0"/>
    <p:sldId xmlns:r="http://schemas.openxmlformats.org/officeDocument/2006/relationships" id="260" r:id="Rb45b544aa0b444d6"/>
    <p:sldId xmlns:r="http://schemas.openxmlformats.org/officeDocument/2006/relationships" id="261" r:id="Rf605e24737824954"/>
    <p:sldId xmlns:r="http://schemas.openxmlformats.org/officeDocument/2006/relationships" id="262" r:id="Rc19be3a73b824640"/>
    <p:sldId xmlns:r="http://schemas.openxmlformats.org/officeDocument/2006/relationships" id="263" r:id="R0c08472fe8924a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31c58414264ee8" /><Relationship Type="http://schemas.openxmlformats.org/officeDocument/2006/relationships/slideMaster" Target="/ppt/slideMasters/slideMaster1.xml" Id="Re881a6c4ef0e47de" /><Relationship Type="http://schemas.openxmlformats.org/officeDocument/2006/relationships/notesMaster" Target="/ppt/notesMasters/notesMaster1.xml" Id="Ra3faf4cea804472f" /><Relationship Type="http://schemas.openxmlformats.org/officeDocument/2006/relationships/presProps" Target="/ppt/presProps.xml" Id="R1a306090b21c44fa" /><Relationship Type="http://schemas.openxmlformats.org/officeDocument/2006/relationships/tableStyles" Target="/ppt/tableStyles.xml" Id="R97d1215dc9a24ff3" /><Relationship Type="http://schemas.openxmlformats.org/officeDocument/2006/relationships/slide" Target="/ppt/slides/slide1.xml" Id="Red6fde4754af4843" /><Relationship Type="http://schemas.openxmlformats.org/officeDocument/2006/relationships/slide" Target="/ppt/slides/slide2.xml" Id="R30fd3a2d77834371" /><Relationship Type="http://schemas.openxmlformats.org/officeDocument/2006/relationships/slide" Target="/ppt/slides/slide3.xml" Id="R23846e9dca934240" /><Relationship Type="http://schemas.openxmlformats.org/officeDocument/2006/relationships/slide" Target="/ppt/slides/slide4.xml" Id="R23b190362da746e0" /><Relationship Type="http://schemas.openxmlformats.org/officeDocument/2006/relationships/slide" Target="/ppt/slides/slide5.xml" Id="Rb45b544aa0b444d6" /><Relationship Type="http://schemas.openxmlformats.org/officeDocument/2006/relationships/slide" Target="/ppt/slides/slide6.xml" Id="Rf605e24737824954" /><Relationship Type="http://schemas.openxmlformats.org/officeDocument/2006/relationships/slide" Target="/ppt/slides/slide7.xml" Id="Rc19be3a73b824640" /><Relationship Type="http://schemas.openxmlformats.org/officeDocument/2006/relationships/slide" Target="/ppt/slides/slide8.xml" Id="R0c08472fe8924a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b2e69c52644f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fe7175dd55493f" /><Relationship Type="http://schemas.openxmlformats.org/officeDocument/2006/relationships/notesMaster" Target="/ppt/notesMasters/notesMaster1.xml" Id="R2362d5ab307e40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3c896c87574e73" /><Relationship Type="http://schemas.openxmlformats.org/officeDocument/2006/relationships/notesMaster" Target="/ppt/notesMasters/notesMaster1.xml" Id="Re8529d99c0734a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bda0fb9f0646f8" /><Relationship Type="http://schemas.openxmlformats.org/officeDocument/2006/relationships/notesMaster" Target="/ppt/notesMasters/notesMaster1.xml" Id="R4de677d42f7742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8ef195562c4a25" /><Relationship Type="http://schemas.openxmlformats.org/officeDocument/2006/relationships/notesMaster" Target="/ppt/notesMasters/notesMaster1.xml" Id="Rc3decf07c6694f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db2a412fb7414c" /><Relationship Type="http://schemas.openxmlformats.org/officeDocument/2006/relationships/notesMaster" Target="/ppt/notesMasters/notesMaster1.xml" Id="Rae6b691fe78a4b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833911c25c4402" /><Relationship Type="http://schemas.openxmlformats.org/officeDocument/2006/relationships/notesMaster" Target="/ppt/notesMasters/notesMaster1.xml" Id="R55fc47a5291045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fc0d61dea34750" /><Relationship Type="http://schemas.openxmlformats.org/officeDocument/2006/relationships/notesMaster" Target="/ppt/notesMasters/notesMaster1.xml" Id="R902c3b2c0a8d4e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29b8bceb784a76" /><Relationship Type="http://schemas.openxmlformats.org/officeDocument/2006/relationships/notesMaster" Target="/ppt/notesMasters/notesMaster1.xml" Id="R1e0c2be8c9564f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storyline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Native business metrics from Content Analysis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Timeline derived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material.</a:t>
            </a:r>
          </a:p>
          <a:p xmlns:a="http://schemas.openxmlformats.org/drawingml/2006/main">
            <a:r>
              <a:t>- Targets and guardrails from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material and derived Slide Plan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44330955248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6d797b81b94052" /><Relationship Type="http://schemas.openxmlformats.org/officeDocument/2006/relationships/slideLayout" Target="/ppt/slideLayouts/slideLayout1.xml" Id="R545376742f244d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5376742f244d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ccb003a114e8e" /><Relationship Type="http://schemas.openxmlformats.org/officeDocument/2006/relationships/notesSlide" Target="/ppt/notesSlides/notesSlide1.xml" Id="Rc1c0b57d12db4d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0ff63cd534875" /><Relationship Type="http://schemas.openxmlformats.org/officeDocument/2006/relationships/notesSlide" Target="/ppt/notesSlides/notesSlide2.xml" Id="Re9fa505ae53f4d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28bcd68a84f1d" /><Relationship Type="http://schemas.openxmlformats.org/officeDocument/2006/relationships/notesSlide" Target="/ppt/notesSlides/notesSlide3.xml" Id="Rd96f6bb61c7e49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6c05a70634df9" /><Relationship Type="http://schemas.openxmlformats.org/officeDocument/2006/relationships/chart" Target="/ppt/slides/charts/chart1.xml" Id="Ra6ca4665d7a640e9" /><Relationship Type="http://schemas.openxmlformats.org/officeDocument/2006/relationships/notesSlide" Target="/ppt/notesSlides/notesSlide4.xml" Id="Rce7dac870c0940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59b6a126c40e3" /><Relationship Type="http://schemas.openxmlformats.org/officeDocument/2006/relationships/notesSlide" Target="/ppt/notesSlides/notesSlide5.xml" Id="R86731ae7ccf141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7d1f26ca6439e" /><Relationship Type="http://schemas.openxmlformats.org/officeDocument/2006/relationships/notesSlide" Target="/ppt/notesSlides/notesSlide6.xml" Id="R246998608e454b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e8778dec94059" /><Relationship Type="http://schemas.openxmlformats.org/officeDocument/2006/relationships/notesSlide" Target="/ppt/notesSlides/notesSlide7.xml" Id="R44a2114940f545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1b164633a4011" /><Relationship Type="http://schemas.openxmlformats.org/officeDocument/2006/relationships/notesSlide" Target="/ppt/notesSlides/notesSlide8.xml" Id="Rc798b2e16dc94dd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准时交付率</c:v>
          </c:tx>
          <c:spPr>
            <a:solidFill xmlns:a="http://schemas.openxmlformats.org/drawingml/2006/main">
              <a:srgbClr val="113558"/>
            </a:solidFill>
          </c:spPr>
          <c:cat>
            <c:strLit>
              <c:ptCount val="2"/>
              <c:pt idx="0">
                <c:v>基期</c:v>
              </c:pt>
              <c:pt idx="1">
                <c:v>当前</c:v>
              </c:pt>
            </c:strLit>
          </c:cat>
          <c:val>
            <c:numLit>
              <c:formatCode>General</c:formatCode>
              <c:ptCount val="2"/>
              <c:pt idx="0">
                <c:v>94</c:v>
              </c:pt>
              <c:pt idx="1">
                <c:v>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3233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485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485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side-field">
            <a:extLst xmlns:a="http://schemas.openxmlformats.org/drawingml/2006/main">
              <a:ext uri="{FF2B5EF4-FFF2-40B4-BE49-F238E27FC236}">
                <a16:creationId xmlns:a16="http://schemas.microsoft.com/office/drawing/2014/main" id="{BEF6761F-8D2E-45D3-8619-429BC5D8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FB361698-8DF6-4720-B96A-5F3CACEC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514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DF7D15F-B500-42D2-8492-39817281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spc="2">
                <a:solidFill>
                  <a:srgbClr val="AFC0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spc="2">
                <a:solidFill>
                  <a:srgbClr val="AFC0CE"/>
                </a:solidFill>
                <a:latin typeface="Microsoft YaHei"/>
                <a:ea typeface="Microsoft YaHei"/>
                <a:cs typeface="Microsoft YaHei"/>
              </a:rPr>
              <a:t>OPERATING DECISION BRIEF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5B9A4FE-B3BF-465E-88E5-E6BC452A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制造服务运营与数字质量改进简报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4189C04-897F-4D0A-B82E-FADA65C0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C7D3DD"/>
                </a:solidFill>
                <a:latin typeface="Microsoft YaHei"/>
                <a:ea typeface="Microsoft YaHei"/>
                <a:cs typeface="Microsoft YaHei"/>
              </a:rPr>
              <a:t>形成可执行的运营改进决策</a:t>
            </a:r>
          </a:p>
        </p:txBody>
      </p:sp>
      <p:sp>
        <p:nvSpPr>
          <p:cNvPr id="6" name="cover-edition">
            <a:extLst xmlns:a="http://schemas.openxmlformats.org/drawingml/2006/main">
              <a:ext uri="{FF2B5EF4-FFF2-40B4-BE49-F238E27FC236}">
                <a16:creationId xmlns:a16="http://schemas.microsoft.com/office/drawing/2014/main" id="{F780D532-1282-4070-A6E3-2C876ED7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  <a:p xmlns:a="http://schemas.openxmlformats.org/drawingml/2006/main">
            <a:pPr>
              <a:def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B2239"/>
                </a:solidFill>
                <a:latin typeface="Microsoft YaHei"/>
                <a:ea typeface="Microsoft YaHei"/>
                <a:cs typeface="Microsoft YaHei"/>
              </a:rPr>
              <a:t>/ 01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EC5FC377-A503-44A3-ACA1-A574B1B8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PPT FACTORY · PHASE 1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5EAA8E-12F4-4CE5-A243-FA1AA2D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91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6761816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E078549C-1301-495D-AB29-B437C8FB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F4A9061C-8C64-4C5E-B8D6-5F4AD6A0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AA09EEDE-FFEE-4E6F-938F-5A722B60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5E606F-B0BF-443E-8F3C-041E288B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A78C8A-0395-4C82-A879-008933CD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核心判断与关键依据</a:t>
            </a:r>
          </a:p>
        </p:txBody>
      </p:sp>
      <p:sp>
        <p:nvSpPr>
          <p:cNvPr id="6" name="summary-answer-field">
            <a:extLst xmlns:a="http://schemas.openxmlformats.org/drawingml/2006/main">
              <a:ext uri="{FF2B5EF4-FFF2-40B4-BE49-F238E27FC236}">
                <a16:creationId xmlns:a16="http://schemas.microsoft.com/office/drawing/2014/main" id="{429FF754-3ED7-490C-A452-A9943548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3816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mary-answer-label">
            <a:extLst xmlns:a="http://schemas.openxmlformats.org/drawingml/2006/main">
              <a:ext uri="{FF2B5EF4-FFF2-40B4-BE49-F238E27FC236}">
                <a16:creationId xmlns:a16="http://schemas.microsoft.com/office/drawing/2014/main" id="{FC67CE32-FEDB-48A0-9E98-161064CD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2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2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CORE ANSWER</a:t>
            </a:r>
          </a:p>
        </p:txBody>
      </p:sp>
      <p:sp>
        <p:nvSpPr>
          <p:cNvPr id="8" name="summary-answer">
            <a:extLst xmlns:a="http://schemas.openxmlformats.org/drawingml/2006/main">
              <a:ext uri="{FF2B5EF4-FFF2-40B4-BE49-F238E27FC236}">
                <a16:creationId xmlns:a16="http://schemas.microsoft.com/office/drawing/2014/main" id="{D408D814-926F-435A-832F-C1B1AC07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未来两个季度不应继续铺开零散系统，而应把交付准时率、一次检验通过率和设备停机时间作为同一条运营链路治理。</a:t>
            </a:r>
          </a:p>
        </p:txBody>
      </p:sp>
      <p:sp>
        <p:nvSpPr>
          <p:cNvPr id="9" name="summary-index-1">
            <a:extLst xmlns:a="http://schemas.openxmlformats.org/drawingml/2006/main">
              <a:ext uri="{FF2B5EF4-FFF2-40B4-BE49-F238E27FC236}">
                <a16:creationId xmlns:a16="http://schemas.microsoft.com/office/drawing/2014/main" id="{D21AECC6-484F-416F-9736-38634FD6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27C4A6C1-3A93-4D7E-A241-8BB17D1E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4307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1" name="summary-rule-1">
            <a:extLst xmlns:a="http://schemas.openxmlformats.org/drawingml/2006/main">
              <a:ext uri="{FF2B5EF4-FFF2-40B4-BE49-F238E27FC236}">
                <a16:creationId xmlns:a16="http://schemas.microsoft.com/office/drawing/2014/main" id="{71838CFF-7FEA-480E-A811-6005A443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57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index-2">
            <a:extLst xmlns:a="http://schemas.openxmlformats.org/drawingml/2006/main">
              <a:ext uri="{FF2B5EF4-FFF2-40B4-BE49-F238E27FC236}">
                <a16:creationId xmlns:a16="http://schemas.microsoft.com/office/drawing/2014/main" id="{11C83213-4B5C-47F5-851D-81CCF3C7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4336D49E-0B56-4757-B0A4-701597E5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14" name="summary-rule-2">
            <a:extLst xmlns:a="http://schemas.openxmlformats.org/drawingml/2006/main">
              <a:ext uri="{FF2B5EF4-FFF2-40B4-BE49-F238E27FC236}">
                <a16:creationId xmlns:a16="http://schemas.microsoft.com/office/drawing/2014/main" id="{B9C47B82-DD12-4E89-9ECC-8455DA1A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4847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012D53D8-F715-4C53-AD30-118DDFDD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7961506D-64DD-475B-B526-4CE27CCC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3538E2F0-288B-426A-9D0E-0FD044DF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2E4336-33E8-478F-B9BF-B67AC835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52F008-D0CD-4C62-9091-AB57D0EF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运营问题必须按一条链路治理</a:t>
            </a:r>
          </a:p>
        </p:txBody>
      </p:sp>
      <p:sp>
        <p:nvSpPr>
          <p:cNvPr id="6" name="editorial-answer-field">
            <a:extLst xmlns:a="http://schemas.openxmlformats.org/drawingml/2006/main">
              <a:ext uri="{FF2B5EF4-FFF2-40B4-BE49-F238E27FC236}">
                <a16:creationId xmlns:a16="http://schemas.microsoft.com/office/drawing/2014/main" id="{1A498A33-F03C-4C81-A6A5-3632B23B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435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itorial-kicker">
            <a:extLst xmlns:a="http://schemas.openxmlformats.org/drawingml/2006/main">
              <a:ext uri="{FF2B5EF4-FFF2-40B4-BE49-F238E27FC236}">
                <a16:creationId xmlns:a16="http://schemas.microsoft.com/office/drawing/2014/main" id="{74DE6119-16E1-4DED-9286-014E7ADC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OPERATING PRINCIPLE</a:t>
            </a:r>
          </a:p>
        </p:txBody>
      </p:sp>
      <p:sp>
        <p:nvSpPr>
          <p:cNvPr id="8" name="editorial-claim">
            <a:extLst xmlns:a="http://schemas.openxmlformats.org/drawingml/2006/main">
              <a:ext uri="{FF2B5EF4-FFF2-40B4-BE49-F238E27FC236}">
                <a16:creationId xmlns:a16="http://schemas.microsoft.com/office/drawing/2014/main" id="{B4EE84AF-63B5-41D9-B4EE-FF361A77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未来两个季度不应继续铺开零散系统</a:t>
            </a:r>
          </a:p>
        </p:txBody>
      </p:sp>
      <p:sp>
        <p:nvSpPr>
          <p:cNvPr id="9" name="editorial-caption">
            <a:extLst xmlns:a="http://schemas.openxmlformats.org/drawingml/2006/main">
              <a:ext uri="{FF2B5EF4-FFF2-40B4-BE49-F238E27FC236}">
                <a16:creationId xmlns:a16="http://schemas.microsoft.com/office/drawing/2014/main" id="{307FBB89-87A2-41AB-9FD2-251092A8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从单点系统建设转向跨环节经营闭环</a:t>
            </a:r>
          </a:p>
        </p:txBody>
      </p:sp>
      <p:sp>
        <p:nvSpPr>
          <p:cNvPr id="10" name="editorial-number-1">
            <a:extLst xmlns:a="http://schemas.openxmlformats.org/drawingml/2006/main">
              <a:ext uri="{FF2B5EF4-FFF2-40B4-BE49-F238E27FC236}">
                <a16:creationId xmlns:a16="http://schemas.microsoft.com/office/drawing/2014/main" id="{08248C27-3EBF-4220-89C2-FEF25A7C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editorial-proof-1">
            <a:extLst xmlns:a="http://schemas.openxmlformats.org/drawingml/2006/main">
              <a:ext uri="{FF2B5EF4-FFF2-40B4-BE49-F238E27FC236}">
                <a16:creationId xmlns:a16="http://schemas.microsoft.com/office/drawing/2014/main" id="{9297F4F7-888B-4419-B8EE-8D4B4CF7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383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而应把交付准时率、一次检验通过率和设备停机时间作为同一条运营链路治理</a:t>
            </a:r>
          </a:p>
        </p:txBody>
      </p:sp>
      <p:sp>
        <p:nvSpPr>
          <p:cNvPr id="12" name="editorial-proof-rule-1">
            <a:extLst xmlns:a="http://schemas.openxmlformats.org/drawingml/2006/main">
              <a:ext uri="{FF2B5EF4-FFF2-40B4-BE49-F238E27FC236}">
                <a16:creationId xmlns:a16="http://schemas.microsoft.com/office/drawing/2014/main" id="{4597C90A-D571-4AEF-9E36-BE6F8973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955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orial-number-2">
            <a:extLst xmlns:a="http://schemas.openxmlformats.org/drawingml/2006/main">
              <a:ext uri="{FF2B5EF4-FFF2-40B4-BE49-F238E27FC236}">
                <a16:creationId xmlns:a16="http://schemas.microsoft.com/office/drawing/2014/main" id="{0C215FE9-4C13-4BA2-A045-14EC69F8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6227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ditorial-proof-2">
            <a:extLst xmlns:a="http://schemas.openxmlformats.org/drawingml/2006/main">
              <a:ext uri="{FF2B5EF4-FFF2-40B4-BE49-F238E27FC236}">
                <a16:creationId xmlns:a16="http://schemas.microsoft.com/office/drawing/2014/main" id="{C1EBED52-8E96-4CD3-9F3E-923B5C1D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43225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试点应先覆盖华东两座工厂，再根据可复制性决定扩围。</a:t>
            </a:r>
          </a:p>
        </p:txBody>
      </p:sp>
      <p:sp>
        <p:nvSpPr>
          <p:cNvPr id="15" name="editorial-proof-rule-2">
            <a:extLst xmlns:a="http://schemas.openxmlformats.org/drawingml/2006/main">
              <a:ext uri="{FF2B5EF4-FFF2-40B4-BE49-F238E27FC236}">
                <a16:creationId xmlns:a16="http://schemas.microsoft.com/office/drawing/2014/main" id="{546C6C30-26C6-4A28-B8FA-D788D782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32300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accent">
            <a:extLst xmlns:a="http://schemas.openxmlformats.org/drawingml/2006/main">
              <a:ext uri="{FF2B5EF4-FFF2-40B4-BE49-F238E27FC236}">
                <a16:creationId xmlns:a16="http://schemas.microsoft.com/office/drawing/2014/main" id="{734D29E2-AAD0-42C0-8CB9-47226DCD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E38D594B-97F9-45E6-AAC8-9D128678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00A04773-6903-418B-AABF-55D26A1C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93EFC3E-BC43-48EC-BC3A-F6857ABF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D28A85-62DC-41E5-A046-513B6F45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过去 12 个月订单量增长 18%，但准时交付率由 94% 降至 88%。</a:t>
            </a:r>
          </a:p>
        </p:txBody>
      </p:sp>
      <p:sp>
        <p:nvSpPr>
          <p:cNvPr id="6" name="metric-chart-field">
            <a:extLst xmlns:a="http://schemas.openxmlformats.org/drawingml/2006/main">
              <a:ext uri="{FF2B5EF4-FFF2-40B4-BE49-F238E27FC236}">
                <a16:creationId xmlns:a16="http://schemas.microsoft.com/office/drawing/2014/main" id="{945D0A44-A34F-4FD3-825E-ACEB37CF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066800" y="2190750"/>
          <a:ext xmlns:a="http://schemas.openxmlformats.org/drawingml/2006/main" cx="6191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ca4665d7a640e9"/>
          </a:graphicData>
        </a:graphic>
      </p:graphicFrame>
      <p:sp>
        <p:nvSpPr>
          <p:cNvPr id="8" name="metric-decision-field">
            <a:extLst xmlns:a="http://schemas.openxmlformats.org/drawingml/2006/main">
              <a:ext uri="{FF2B5EF4-FFF2-40B4-BE49-F238E27FC236}">
                <a16:creationId xmlns:a16="http://schemas.microsoft.com/office/drawing/2014/main" id="{898C5835-88E5-4BAB-B0CC-E6CC55C9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delta-label">
            <a:extLst xmlns:a="http://schemas.openxmlformats.org/drawingml/2006/main">
              <a:ext uri="{FF2B5EF4-FFF2-40B4-BE49-F238E27FC236}">
                <a16:creationId xmlns:a16="http://schemas.microsoft.com/office/drawing/2014/main" id="{82A5B019-4E4D-4BF0-9C2E-061EC9BA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71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OPERATING GAP</a:t>
            </a:r>
          </a:p>
        </p:txBody>
      </p:sp>
      <p:sp>
        <p:nvSpPr>
          <p:cNvPr id="10" name="metric-delta">
            <a:extLst xmlns:a="http://schemas.openxmlformats.org/drawingml/2006/main">
              <a:ext uri="{FF2B5EF4-FFF2-40B4-BE49-F238E27FC236}">
                <a16:creationId xmlns:a16="http://schemas.microsoft.com/office/drawing/2014/main" id="{35E85CA9-9A9B-49F4-8AA9-D6BFF569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670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-6 pp</a:t>
            </a:r>
          </a:p>
        </p:txBody>
      </p:sp>
      <p:sp>
        <p:nvSpPr>
          <p:cNvPr id="11" name="metric-decision-copy">
            <a:extLst xmlns:a="http://schemas.openxmlformats.org/drawingml/2006/main">
              <a:ext uri="{FF2B5EF4-FFF2-40B4-BE49-F238E27FC236}">
                <a16:creationId xmlns:a16="http://schemas.microsoft.com/office/drawing/2014/main" id="{597E9444-A862-4290-BB57-8D391568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62375"/>
            <a:ext cx="2333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返工成本占制造成本的 4.6%，其中 57% 来自三类重复质量缺陷。</a:t>
            </a:r>
          </a:p>
        </p:txBody>
      </p:sp>
    </p:spTree>
    <p:extLst>
      <p:ext uri="{BB962C8B-B14F-4D97-AF65-F5344CB8AC3E}">
        <p14:creationId xmlns:p14="http://schemas.microsoft.com/office/powerpoint/2010/main" val="14747301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2A668695-AF2A-4BB7-870D-A577F5F9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D42F20A4-48FC-415F-93AC-E97BA954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D1A253EA-AAA8-4C03-AF00-1DB99B17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4FFC7E-01D7-40FD-BF59-1562DAA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F78F4C-6085-496F-B412-86EE42DA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312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6" name="metric-band-1">
            <a:extLst xmlns:a="http://schemas.openxmlformats.org/drawingml/2006/main">
              <a:ext uri="{FF2B5EF4-FFF2-40B4-BE49-F238E27FC236}">
                <a16:creationId xmlns:a16="http://schemas.microsoft.com/office/drawing/2014/main" id="{F7EA5B8C-DE43-43AD-B60C-55F455C9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A785EB61-2D6D-48F9-8637-ABA0705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126小时</a:t>
            </a:r>
          </a:p>
        </p:txBody>
      </p:sp>
      <p:sp>
        <p:nvSpPr>
          <p:cNvPr id="8" name="metric-context-1">
            <a:extLst xmlns:a="http://schemas.openxmlformats.org/drawingml/2006/main">
              <a:ext uri="{FF2B5EF4-FFF2-40B4-BE49-F238E27FC236}">
                <a16:creationId xmlns:a16="http://schemas.microsoft.com/office/drawing/2014/main" id="{EC4C6D4A-0845-4D42-BB51-4F773652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9" name="metric-band-2">
            <a:extLst xmlns:a="http://schemas.openxmlformats.org/drawingml/2006/main">
              <a:ext uri="{FF2B5EF4-FFF2-40B4-BE49-F238E27FC236}">
                <a16:creationId xmlns:a16="http://schemas.microsoft.com/office/drawing/2014/main" id="{E2313BE5-3AED-4966-A383-2B8AA4FD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0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6D405BC7-2EB2-4FD7-A413-B0937A59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35%</a:t>
            </a:r>
          </a:p>
        </p:txBody>
      </p:sp>
      <p:sp>
        <p:nvSpPr>
          <p:cNvPr id="11" name="metric-context-2">
            <a:extLst xmlns:a="http://schemas.openxmlformats.org/drawingml/2006/main">
              <a:ext uri="{FF2B5EF4-FFF2-40B4-BE49-F238E27FC236}">
                <a16:creationId xmlns:a16="http://schemas.microsoft.com/office/drawing/2014/main" id="{6E772474-8436-4038-9A3F-FDB27106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关键设备非计划停机为每月 126 小时，维护团队估计其中 35% 可通过预测性维护避免。</a:t>
            </a:r>
          </a:p>
        </p:txBody>
      </p:sp>
      <p:sp>
        <p:nvSpPr>
          <p:cNvPr id="12" name="metric-band-3">
            <a:extLst xmlns:a="http://schemas.openxmlformats.org/drawingml/2006/main">
              <a:ext uri="{FF2B5EF4-FFF2-40B4-BE49-F238E27FC236}">
                <a16:creationId xmlns:a16="http://schemas.microsoft.com/office/drawing/2014/main" id="{2FAF7CFA-4353-416F-9308-CE381E34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575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F1"/>
            </a:solidFill>
            <a:prstDash val="solid"/>
          </a:ln>
        </p:spPr>
      </p:sp>
      <p:sp>
        <p:nvSpPr>
          <p:cNvPr id="13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ACB19DF7-3B16-4C64-8D73-9B09ECDD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11.4天</a:t>
            </a:r>
          </a:p>
        </p:txBody>
      </p:sp>
      <p:sp>
        <p:nvSpPr>
          <p:cNvPr id="14" name="metric-context-3">
            <a:extLst xmlns:a="http://schemas.openxmlformats.org/drawingml/2006/main">
              <a:ext uri="{FF2B5EF4-FFF2-40B4-BE49-F238E27FC236}">
                <a16:creationId xmlns:a16="http://schemas.microsoft.com/office/drawing/2014/main" id="{9916718A-6B13-40C3-8684-1138195C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当前质量异常从发现到关闭平均需要 11.4 天，跨部门等待占其中 6.2 天。</a:t>
            </a:r>
          </a:p>
        </p:txBody>
      </p:sp>
    </p:spTree>
    <p:extLst>
      <p:ext uri="{BB962C8B-B14F-4D97-AF65-F5344CB8AC3E}">
        <p14:creationId xmlns:p14="http://schemas.microsoft.com/office/powerpoint/2010/main" val="2070275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accent">
            <a:extLst xmlns:a="http://schemas.openxmlformats.org/drawingml/2006/main">
              <a:ext uri="{FF2B5EF4-FFF2-40B4-BE49-F238E27FC236}">
                <a16:creationId xmlns:a16="http://schemas.microsoft.com/office/drawing/2014/main" id="{DFDA2F0C-01FB-4149-8D04-FBCAA3E0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4F4B112F-02D6-4081-8973-B8B9EE29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0D35E85E-AC29-448E-BFF5-48C80299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ED16E7-133F-47C5-8894-69055CCE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CB6A06-1589-474E-9B34-4BB92ADD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718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6" name="timeline-spine">
            <a:extLst xmlns:a="http://schemas.openxmlformats.org/drawingml/2006/main">
              <a:ext uri="{FF2B5EF4-FFF2-40B4-BE49-F238E27FC236}">
                <a16:creationId xmlns:a16="http://schemas.microsoft.com/office/drawing/2014/main" id="{CFD62D69-ED06-4389-979E-D3B11AF4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81350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F9E0E456-9355-41D6-8663-9CA67E14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step-1">
            <a:extLst xmlns:a="http://schemas.openxmlformats.org/drawingml/2006/main">
              <a:ext uri="{FF2B5EF4-FFF2-40B4-BE49-F238E27FC236}">
                <a16:creationId xmlns:a16="http://schemas.microsoft.com/office/drawing/2014/main" id="{1E6DF205-BA07-4829-B90E-2E113FAF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EAFE4BDE-526F-434B-9528-9F844AB0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建立基线 · 8周</a:t>
            </a:r>
          </a:p>
        </p:txBody>
      </p:sp>
      <p:sp>
        <p:nvSpPr>
          <p:cNvPr id="10" name="timeline-copy-1">
            <a:extLst xmlns:a="http://schemas.openxmlformats.org/drawingml/2006/main">
              <a:ext uri="{FF2B5EF4-FFF2-40B4-BE49-F238E27FC236}">
                <a16:creationId xmlns:a16="http://schemas.microsoft.com/office/drawing/2014/main" id="{5A80B968-C2EB-4C3E-B0E1-16E1955E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第一阶段用 8 周建立统一事件编码和日级看板；第二阶段将质量异常、设备状态和交付承诺打通。</a:t>
            </a:r>
          </a:p>
        </p:txBody>
      </p:sp>
      <p:sp>
        <p:nvSpPr>
          <p:cNvPr id="11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9394D6F4-EEED-44F2-97FE-B6874689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step-2">
            <a:extLst xmlns:a="http://schemas.openxmlformats.org/drawingml/2006/main">
              <a:ext uri="{FF2B5EF4-FFF2-40B4-BE49-F238E27FC236}">
                <a16:creationId xmlns:a16="http://schemas.microsoft.com/office/drawing/2014/main" id="{E4398D52-CDF5-453F-BD35-55C1F1A9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19425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21EAC570-CF8F-4D69-8B3B-05D2BBA5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打通运营链路</a:t>
            </a:r>
          </a:p>
        </p:txBody>
      </p:sp>
      <p:sp>
        <p:nvSpPr>
          <p:cNvPr id="14" name="timeline-copy-2">
            <a:extLst xmlns:a="http://schemas.openxmlformats.org/drawingml/2006/main">
              <a:ext uri="{FF2B5EF4-FFF2-40B4-BE49-F238E27FC236}">
                <a16:creationId xmlns:a16="http://schemas.microsoft.com/office/drawing/2014/main" id="{3CF81F6A-6ED8-4BC0-AFBD-5230DCC3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52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预算优先投向数据治理、现场流程和责任机制，不以采购更多大屏作为成果。</a:t>
            </a:r>
          </a:p>
        </p:txBody>
      </p:sp>
      <p:sp>
        <p:nvSpPr>
          <p:cNvPr id="15" name="timeline-decision">
            <a:extLst xmlns:a="http://schemas.openxmlformats.org/drawingml/2006/main">
              <a:ext uri="{FF2B5EF4-FFF2-40B4-BE49-F238E27FC236}">
                <a16:creationId xmlns:a16="http://schemas.microsoft.com/office/drawing/2014/main" id="{8FCF4331-A73F-4812-A5FB-A805B01E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91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先统一事件与责任口径，再扩展算法和系统覆盖。</a:t>
            </a:r>
          </a:p>
        </p:txBody>
      </p:sp>
    </p:spTree>
    <p:extLst>
      <p:ext uri="{BB962C8B-B14F-4D97-AF65-F5344CB8AC3E}">
        <p14:creationId xmlns:p14="http://schemas.microsoft.com/office/powerpoint/2010/main" val="13171296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accent">
            <a:extLst xmlns:a="http://schemas.openxmlformats.org/drawingml/2006/main">
              <a:ext uri="{FF2B5EF4-FFF2-40B4-BE49-F238E27FC236}">
                <a16:creationId xmlns:a16="http://schemas.microsoft.com/office/drawing/2014/main" id="{C54C3294-7D32-4FF4-AF0E-1C09C5AB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95E6FD95-493A-42BC-847A-A21F28E5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FE580A9A-85C3-42DE-B248-A3C7616E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F176DD-9B7B-4186-9E8E-7F13C825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1CEBB5-5F95-4B43-9B53-726328C3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目标明确，但扩围必须经过两道门槛</a:t>
            </a:r>
          </a:p>
        </p:txBody>
      </p:sp>
      <p:sp>
        <p:nvSpPr>
          <p:cNvPr id="6" name="target-value-1">
            <a:extLst xmlns:a="http://schemas.openxmlformats.org/drawingml/2006/main">
              <a:ext uri="{FF2B5EF4-FFF2-40B4-BE49-F238E27FC236}">
                <a16:creationId xmlns:a16="http://schemas.microsoft.com/office/drawing/2014/main" id="{E096AE0B-8E37-4064-A1BD-24711106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3558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7" name="target-context-1">
            <a:extLst xmlns:a="http://schemas.openxmlformats.org/drawingml/2006/main">
              <a:ext uri="{FF2B5EF4-FFF2-40B4-BE49-F238E27FC236}">
                <a16:creationId xmlns:a16="http://schemas.microsoft.com/office/drawing/2014/main" id="{E4CDC197-A5A8-45FC-9015-FE0DBF81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8" name="target-value-2">
            <a:extLst xmlns:a="http://schemas.openxmlformats.org/drawingml/2006/main">
              <a:ext uri="{FF2B5EF4-FFF2-40B4-BE49-F238E27FC236}">
                <a16:creationId xmlns:a16="http://schemas.microsoft.com/office/drawing/2014/main" id="{52A41B18-11D4-4D03-AB9A-308952EE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3个百分点</a:t>
            </a:r>
          </a:p>
        </p:txBody>
      </p:sp>
      <p:sp>
        <p:nvSpPr>
          <p:cNvPr id="9" name="target-context-2">
            <a:extLst xmlns:a="http://schemas.openxmlformats.org/drawingml/2006/main">
              <a:ext uri="{FF2B5EF4-FFF2-40B4-BE49-F238E27FC236}">
                <a16:creationId xmlns:a16="http://schemas.microsoft.com/office/drawing/2014/main" id="{B92DF1BA-EB68-407D-8420-8235ACDF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0" name="target-value-3">
            <a:extLst xmlns:a="http://schemas.openxmlformats.org/drawingml/2006/main">
              <a:ext uri="{FF2B5EF4-FFF2-40B4-BE49-F238E27FC236}">
                <a16:creationId xmlns:a16="http://schemas.microsoft.com/office/drawing/2014/main" id="{62304AFC-8FFC-41D9-A72E-18E7B637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7天</a:t>
            </a:r>
          </a:p>
        </p:txBody>
      </p:sp>
      <p:sp>
        <p:nvSpPr>
          <p:cNvPr id="11" name="target-context-3">
            <a:extLst xmlns:a="http://schemas.openxmlformats.org/drawingml/2006/main">
              <a:ext uri="{FF2B5EF4-FFF2-40B4-BE49-F238E27FC236}">
                <a16:creationId xmlns:a16="http://schemas.microsoft.com/office/drawing/2014/main" id="{A5A2FACE-149D-45DB-B587-762534DF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2" name="gate-field">
            <a:extLst xmlns:a="http://schemas.openxmlformats.org/drawingml/2006/main">
              <a:ext uri="{FF2B5EF4-FFF2-40B4-BE49-F238E27FC236}">
                <a16:creationId xmlns:a16="http://schemas.microsoft.com/office/drawing/2014/main" id="{876908DA-00B3-4529-B63D-0F7AD118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744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ate-label">
            <a:extLst xmlns:a="http://schemas.openxmlformats.org/drawingml/2006/main">
              <a:ext uri="{FF2B5EF4-FFF2-40B4-BE49-F238E27FC236}">
                <a16:creationId xmlns:a16="http://schemas.microsoft.com/office/drawing/2014/main" id="{07710B65-A57A-4ACD-8329-718CD788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GO / NO-GO</a:t>
            </a:r>
          </a:p>
        </p:txBody>
      </p:sp>
      <p:sp>
        <p:nvSpPr>
          <p:cNvPr id="14" name="gate-copy">
            <a:extLst xmlns:a="http://schemas.openxmlformats.org/drawingml/2006/main">
              <a:ext uri="{FF2B5EF4-FFF2-40B4-BE49-F238E27FC236}">
                <a16:creationId xmlns:a16="http://schemas.microsoft.com/office/drawing/2014/main" id="{1D7597DF-4664-4F69-9EE8-8B997DE2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771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</p:spTree>
    <p:extLst>
      <p:ext uri="{BB962C8B-B14F-4D97-AF65-F5344CB8AC3E}">
        <p14:creationId xmlns:p14="http://schemas.microsoft.com/office/powerpoint/2010/main" val="470595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accent">
            <a:extLst xmlns:a="http://schemas.openxmlformats.org/drawingml/2006/main">
              <a:ext uri="{FF2B5EF4-FFF2-40B4-BE49-F238E27FC236}">
                <a16:creationId xmlns:a16="http://schemas.microsoft.com/office/drawing/2014/main" id="{A2ECBA74-242E-47DB-86E1-78221850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3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mark">
            <a:extLst xmlns:a="http://schemas.openxmlformats.org/drawingml/2006/main">
              <a:ext uri="{FF2B5EF4-FFF2-40B4-BE49-F238E27FC236}">
                <a16:creationId xmlns:a16="http://schemas.microsoft.com/office/drawing/2014/main" id="{DC976DD3-A3B0-4EB2-AA12-F5D6387A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71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irection-label">
            <a:extLst xmlns:a="http://schemas.openxmlformats.org/drawingml/2006/main">
              <a:ext uri="{FF2B5EF4-FFF2-40B4-BE49-F238E27FC236}">
                <a16:creationId xmlns:a16="http://schemas.microsoft.com/office/drawing/2014/main" id="{084A0411-1EF4-426F-AB1F-5B8E9E92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 spc="1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B · 经营分析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292F29-878E-495F-992B-1AFAD396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57925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67485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5" name="conclusion-answer-field">
            <a:extLst xmlns:a="http://schemas.openxmlformats.org/drawingml/2006/main">
              <a:ext uri="{FF2B5EF4-FFF2-40B4-BE49-F238E27FC236}">
                <a16:creationId xmlns:a16="http://schemas.microsoft.com/office/drawing/2014/main" id="{882C0678-DD42-41AF-8660-FB0A00A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clusion-label">
            <a:extLst xmlns:a="http://schemas.openxmlformats.org/drawingml/2006/main">
              <a:ext uri="{FF2B5EF4-FFF2-40B4-BE49-F238E27FC236}">
                <a16:creationId xmlns:a16="http://schemas.microsoft.com/office/drawing/2014/main" id="{994BA389-C594-42B0-ADA8-5EEB28C4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spc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</p:txBody>
      </p:sp>
      <p:sp>
        <p:nvSpPr>
          <p:cNvPr id="7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5D4B2AF9-2B02-4DF9-A0DB-1A88313E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先做两厂试点，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用结果决定扩围</a:t>
            </a:r>
          </a:p>
        </p:txBody>
      </p:sp>
      <p:sp>
        <p:nvSpPr>
          <p:cNvPr id="8" name="conclusion-subtitle">
            <a:extLst xmlns:a="http://schemas.openxmlformats.org/drawingml/2006/main">
              <a:ext uri="{FF2B5EF4-FFF2-40B4-BE49-F238E27FC236}">
                <a16:creationId xmlns:a16="http://schemas.microsoft.com/office/drawing/2014/main" id="{F9FB471C-1A77-4754-8DCC-3395910B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D5E0E8"/>
                </a:solidFill>
                <a:latin typeface="Microsoft YaHei"/>
                <a:ea typeface="Microsoft YaHei"/>
                <a:cs typeface="Microsoft YaHei"/>
              </a:rPr>
              <a:t>数据治理、现场流程和责任机制优先于新增大屏。</a:t>
            </a:r>
          </a:p>
        </p:txBody>
      </p:sp>
      <p:sp>
        <p:nvSpPr>
          <p:cNvPr id="9" name="conclusion-index-1">
            <a:extLst xmlns:a="http://schemas.openxmlformats.org/drawingml/2006/main">
              <a:ext uri="{FF2B5EF4-FFF2-40B4-BE49-F238E27FC236}">
                <a16:creationId xmlns:a16="http://schemas.microsoft.com/office/drawing/2014/main" id="{56B91F98-67A8-46F3-984B-D8710E8E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conclusion-point-1">
            <a:extLst xmlns:a="http://schemas.openxmlformats.org/drawingml/2006/main">
              <a:ext uri="{FF2B5EF4-FFF2-40B4-BE49-F238E27FC236}">
                <a16:creationId xmlns:a16="http://schemas.microsoft.com/office/drawing/2014/main" id="{D95E3053-49C0-49ED-991A-57E02A6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2402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试点目标是把准时交付率恢复至 93%，一次检验通过率提高 3 个百分点，并将异常关闭周期压缩至 7 天以内。</a:t>
            </a:r>
          </a:p>
        </p:txBody>
      </p:sp>
      <p:sp>
        <p:nvSpPr>
          <p:cNvPr id="11" name="conclusion-rule-1">
            <a:extLst xmlns:a="http://schemas.openxmlformats.org/drawingml/2006/main">
              <a:ext uri="{FF2B5EF4-FFF2-40B4-BE49-F238E27FC236}">
                <a16:creationId xmlns:a16="http://schemas.microsoft.com/office/drawing/2014/main" id="{77AE5D94-BCFE-4F7C-9A60-EB45BA6E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clusion-index-2">
            <a:extLst xmlns:a="http://schemas.openxmlformats.org/drawingml/2006/main">
              <a:ext uri="{FF2B5EF4-FFF2-40B4-BE49-F238E27FC236}">
                <a16:creationId xmlns:a16="http://schemas.microsoft.com/office/drawing/2014/main" id="{2A21997C-05C7-4F42-B739-9DB9284D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conclusion-point-2">
            <a:extLst xmlns:a="http://schemas.openxmlformats.org/drawingml/2006/main">
              <a:ext uri="{FF2B5EF4-FFF2-40B4-BE49-F238E27FC236}">
                <a16:creationId xmlns:a16="http://schemas.microsoft.com/office/drawing/2014/main" id="{1C16E7FD-ED1A-4C20-B7F3-41E69817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146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如果基础事件编码在第 4 周仍未达到 95% 完整率，应暂停算法扩展；如果一线录入额外耗时超过每班 10 分钟，应先重做流程。</a:t>
            </a:r>
          </a:p>
        </p:txBody>
      </p:sp>
      <p:sp>
        <p:nvSpPr>
          <p:cNvPr id="14" name="conclusion-rule-2">
            <a:extLst xmlns:a="http://schemas.openxmlformats.org/drawingml/2006/main">
              <a:ext uri="{FF2B5EF4-FFF2-40B4-BE49-F238E27FC236}">
                <a16:creationId xmlns:a16="http://schemas.microsoft.com/office/drawing/2014/main" id="{69F2C6B3-836D-4B39-9547-77C30372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clusion-index-3">
            <a:extLst xmlns:a="http://schemas.openxmlformats.org/drawingml/2006/main">
              <a:ext uri="{FF2B5EF4-FFF2-40B4-BE49-F238E27FC236}">
                <a16:creationId xmlns:a16="http://schemas.microsoft.com/office/drawing/2014/main" id="{F2384F10-BD39-449E-83FB-DC3908AC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433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18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conclusion-point-3">
            <a:extLst xmlns:a="http://schemas.openxmlformats.org/drawingml/2006/main">
              <a:ext uri="{FF2B5EF4-FFF2-40B4-BE49-F238E27FC236}">
                <a16:creationId xmlns:a16="http://schemas.microsoft.com/office/drawing/2014/main" id="{D7E35C27-EBFD-442B-B7B4-F8D9C133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0527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335"/>
                </a:solidFill>
                <a:latin typeface="Microsoft YaHei"/>
                <a:ea typeface="Microsoft YaHei"/>
                <a:cs typeface="Microsoft YaHei"/>
              </a:rPr>
              <a:t>所有指标需保留工厂、产线和产品层级口径，避免用总体平均掩盖局部问题。</a:t>
            </a:r>
          </a:p>
        </p:txBody>
      </p:sp>
      <p:sp>
        <p:nvSpPr>
          <p:cNvPr id="17" name="conclusion-rule-3">
            <a:extLst xmlns:a="http://schemas.openxmlformats.org/drawingml/2006/main">
              <a:ext uri="{FF2B5EF4-FFF2-40B4-BE49-F238E27FC236}">
                <a16:creationId xmlns:a16="http://schemas.microsoft.com/office/drawing/2014/main" id="{434EBEC3-95BA-4CC0-BD6D-6C9F92F2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967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1632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2026-08-22T12:35:49.3020000Z</dcterms:created>
  <dcterms:modified xsi:type="dcterms:W3CDTF">2026-08-22T12:35:49.3030000Z</dcterms:modified>
</coreProperties>
</file>