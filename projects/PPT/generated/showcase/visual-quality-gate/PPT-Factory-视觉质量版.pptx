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a6418dd72a4631" /><Relationship Type="http://schemas.openxmlformats.org/officeDocument/2006/relationships/extended-properties" Target="/docProps/app.xml" Id="Ra5015fd9934f4632" /><Relationship Type="http://schemas.openxmlformats.org/officeDocument/2006/relationships/officeDocument" Target="/ppt/presentation.xml" Id="Rf0b4fafc76844e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855d1b7e1f4977"/>
  </p:sldMasterIdLst>
  <p:notesMasterIdLst>
    <p:notesMasterId xmlns:r="http://schemas.openxmlformats.org/officeDocument/2006/relationships" r:id="R7ce14e20fa21462e"/>
  </p:notesMasterIdLst>
  <p:sldIdLst>
    <p:sldId xmlns:r="http://schemas.openxmlformats.org/officeDocument/2006/relationships" id="256" r:id="R8e723b6f82dd4358"/>
    <p:sldId xmlns:r="http://schemas.openxmlformats.org/officeDocument/2006/relationships" id="257" r:id="R3fb1f55d15984fe5"/>
    <p:sldId xmlns:r="http://schemas.openxmlformats.org/officeDocument/2006/relationships" id="258" r:id="Rf46b6ab38c9245bc"/>
    <p:sldId xmlns:r="http://schemas.openxmlformats.org/officeDocument/2006/relationships" id="259" r:id="R2e3f922a699e48a3"/>
    <p:sldId xmlns:r="http://schemas.openxmlformats.org/officeDocument/2006/relationships" id="260" r:id="R2f25a6b98e0f4b52"/>
    <p:sldId xmlns:r="http://schemas.openxmlformats.org/officeDocument/2006/relationships" id="261" r:id="Rac6560d279844448"/>
    <p:sldId xmlns:r="http://schemas.openxmlformats.org/officeDocument/2006/relationships" id="262" r:id="R943795ec8b8a4715"/>
    <p:sldId xmlns:r="http://schemas.openxmlformats.org/officeDocument/2006/relationships" id="263" r:id="R24539b00aa2f41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40a16fa22a463d" /><Relationship Type="http://schemas.openxmlformats.org/officeDocument/2006/relationships/slideMaster" Target="/ppt/slideMasters/slideMaster1.xml" Id="R24855d1b7e1f4977" /><Relationship Type="http://schemas.openxmlformats.org/officeDocument/2006/relationships/notesMaster" Target="/ppt/notesMasters/notesMaster1.xml" Id="R7ce14e20fa21462e" /><Relationship Type="http://schemas.openxmlformats.org/officeDocument/2006/relationships/presProps" Target="/ppt/presProps.xml" Id="R086e0eccbd4745d2" /><Relationship Type="http://schemas.openxmlformats.org/officeDocument/2006/relationships/tableStyles" Target="/ppt/tableStyles.xml" Id="Re2a94621ef1e4b51" /><Relationship Type="http://schemas.openxmlformats.org/officeDocument/2006/relationships/slide" Target="/ppt/slides/slide1.xml" Id="R8e723b6f82dd4358" /><Relationship Type="http://schemas.openxmlformats.org/officeDocument/2006/relationships/slide" Target="/ppt/slides/slide2.xml" Id="R3fb1f55d15984fe5" /><Relationship Type="http://schemas.openxmlformats.org/officeDocument/2006/relationships/slide" Target="/ppt/slides/slide3.xml" Id="Rf46b6ab38c9245bc" /><Relationship Type="http://schemas.openxmlformats.org/officeDocument/2006/relationships/slide" Target="/ppt/slides/slide4.xml" Id="R2e3f922a699e48a3" /><Relationship Type="http://schemas.openxmlformats.org/officeDocument/2006/relationships/slide" Target="/ppt/slides/slide5.xml" Id="R2f25a6b98e0f4b52" /><Relationship Type="http://schemas.openxmlformats.org/officeDocument/2006/relationships/slide" Target="/ppt/slides/slide6.xml" Id="Rac6560d279844448" /><Relationship Type="http://schemas.openxmlformats.org/officeDocument/2006/relationships/slide" Target="/ppt/slides/slide7.xml" Id="R943795ec8b8a4715" /><Relationship Type="http://schemas.openxmlformats.org/officeDocument/2006/relationships/slide" Target="/ppt/slides/slide8.xml" Id="R24539b00aa2f41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4cd4f24ca842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5c26204e164bf5" /><Relationship Type="http://schemas.openxmlformats.org/officeDocument/2006/relationships/notesMaster" Target="/ppt/notesMasters/notesMaster1.xml" Id="Rb0d65d0b64a94e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da7c9f6cc2412e" /><Relationship Type="http://schemas.openxmlformats.org/officeDocument/2006/relationships/notesMaster" Target="/ppt/notesMasters/notesMaster1.xml" Id="Rb0cdc403799e4e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9031a6f9e6425b" /><Relationship Type="http://schemas.openxmlformats.org/officeDocument/2006/relationships/notesMaster" Target="/ppt/notesMasters/notesMaster1.xml" Id="R290eb2a0e08c4f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de9810277b4b98" /><Relationship Type="http://schemas.openxmlformats.org/officeDocument/2006/relationships/notesMaster" Target="/ppt/notesMasters/notesMaster1.xml" Id="Rf85b007cdc414d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e6374cb15f4e73" /><Relationship Type="http://schemas.openxmlformats.org/officeDocument/2006/relationships/notesMaster" Target="/ppt/notesMasters/notesMaster1.xml" Id="R0ae0486d963a4a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854b7babff4b41" /><Relationship Type="http://schemas.openxmlformats.org/officeDocument/2006/relationships/notesMaster" Target="/ppt/notesMasters/notesMaster1.xml" Id="Rcf989be21d7a42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7cd77898884e55" /><Relationship Type="http://schemas.openxmlformats.org/officeDocument/2006/relationships/notesMaster" Target="/ppt/notesMasters/notesMaster1.xml" Id="R7d3be00477f74f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1249c815044e58" /><Relationship Type="http://schemas.openxmlformats.org/officeDocument/2006/relationships/notesMaster" Target="/ppt/notesMasters/notesMaster1.xml" Id="Raa935a1870ee49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storyline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Native business metrics from Content Analysis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Native business metrics from Content Analysis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Timeline derived from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Targets and guardrails from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c583d7789c46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7a6ac4790d445f" /><Relationship Type="http://schemas.openxmlformats.org/officeDocument/2006/relationships/slideLayout" Target="/ppt/slideLayouts/slideLayout1.xml" Id="R1fcb64927f1949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cb64927f1949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7255df04744b4" /><Relationship Type="http://schemas.openxmlformats.org/officeDocument/2006/relationships/notesSlide" Target="/ppt/notesSlides/notesSlide1.xml" Id="R8218741068c045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a0f5d6a394461" /><Relationship Type="http://schemas.openxmlformats.org/officeDocument/2006/relationships/notesSlide" Target="/ppt/notesSlides/notesSlide2.xml" Id="R89876d2132a44d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8ea95ac794a19" /><Relationship Type="http://schemas.openxmlformats.org/officeDocument/2006/relationships/notesSlide" Target="/ppt/notesSlides/notesSlide3.xml" Id="R0079e1ff102348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9607cc6cf448d" /><Relationship Type="http://schemas.openxmlformats.org/officeDocument/2006/relationships/chart" Target="/ppt/slides/charts/chart1.xml" Id="R464111ee4bf54530" /><Relationship Type="http://schemas.openxmlformats.org/officeDocument/2006/relationships/notesSlide" Target="/ppt/notesSlides/notesSlide4.xml" Id="R08d16e40f69242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a231a3f274848" /><Relationship Type="http://schemas.openxmlformats.org/officeDocument/2006/relationships/notesSlide" Target="/ppt/notesSlides/notesSlide5.xml" Id="R74bb82050f6545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86b9c850f41c7" /><Relationship Type="http://schemas.openxmlformats.org/officeDocument/2006/relationships/notesSlide" Target="/ppt/notesSlides/notesSlide6.xml" Id="Ra3a87e02c52048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a45551e25441d" /><Relationship Type="http://schemas.openxmlformats.org/officeDocument/2006/relationships/notesSlide" Target="/ppt/notesSlides/notesSlide7.xml" Id="R57e9718ba4704f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f863a92ea42aa" /><Relationship Type="http://schemas.openxmlformats.org/officeDocument/2006/relationships/notesSlide" Target="/ppt/notesSlides/notesSlide8.xml" Id="Rc53b30828ffe4a3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准时交付率</c:v>
          </c:tx>
          <c:spPr>
            <a:solidFill xmlns:a="http://schemas.openxmlformats.org/drawingml/2006/main">
              <a:srgbClr val="113558"/>
            </a:solidFill>
          </c:spPr>
          <c:cat>
            <c:strLit>
              <c:ptCount val="2"/>
              <c:pt idx="0">
                <c:v>基期</c:v>
              </c:pt>
              <c:pt idx="1">
                <c:v>当前</c:v>
              </c:pt>
            </c:strLit>
          </c:cat>
          <c:val>
            <c:numLit>
              <c:formatCode>General</c:formatCode>
              <c:ptCount val="2"/>
              <c:pt idx="0">
                <c:v>94</c:v>
              </c:pt>
              <c:pt idx="1">
                <c:v>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3233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48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485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side-field">
            <a:extLst xmlns:a="http://schemas.openxmlformats.org/drawingml/2006/main">
              <a:ext uri="{FF2B5EF4-FFF2-40B4-BE49-F238E27FC236}">
                <a16:creationId xmlns:a16="http://schemas.microsoft.com/office/drawing/2014/main" id="{2827E546-69CB-4AFA-A9CB-5EDAB257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signal">
            <a:extLst xmlns:a="http://schemas.openxmlformats.org/drawingml/2006/main">
              <a:ext uri="{FF2B5EF4-FFF2-40B4-BE49-F238E27FC236}">
                <a16:creationId xmlns:a16="http://schemas.microsoft.com/office/drawing/2014/main" id="{3F6F39A2-3CEB-49CE-A840-20DF3D23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514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BB36BA9-7CDE-4FE5-900C-6EC39FC7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AFC0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spc="2">
                <a:solidFill>
                  <a:srgbClr val="AFC0CE"/>
                </a:solidFill>
                <a:latin typeface="Microsoft YaHei"/>
                <a:ea typeface="Microsoft YaHei"/>
                <a:cs typeface="Microsoft YaHei"/>
              </a:rPr>
              <a:t>OPERATING DECISION BRIEF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882BAB1-4EBF-4252-9F57-28D4EC2F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42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制造服务运营与数字质量改进简报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1808AD3-F6FC-404C-9AC4-E44D0FC4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7D3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C7D3DD"/>
                </a:solidFill>
                <a:latin typeface="Microsoft YaHei"/>
                <a:ea typeface="Microsoft YaHei"/>
                <a:cs typeface="Microsoft YaHei"/>
              </a:rPr>
              <a:t>形成可执行的运营改进决策</a:t>
            </a:r>
          </a:p>
        </p:txBody>
      </p:sp>
      <p:sp>
        <p:nvSpPr>
          <p:cNvPr id="6" name="cover-edition">
            <a:extLst xmlns:a="http://schemas.openxmlformats.org/drawingml/2006/main">
              <a:ext uri="{FF2B5EF4-FFF2-40B4-BE49-F238E27FC236}">
                <a16:creationId xmlns:a16="http://schemas.microsoft.com/office/drawing/2014/main" id="{F2AF4E39-3743-4BCD-B362-600D3547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  <a:p xmlns:a="http://schemas.openxmlformats.org/drawingml/2006/main">
            <a:pPr>
              <a:def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/ 01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85539570-51E0-4CE8-B1F7-388DDC22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38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PPT FACTORY · PHASE 1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3CC6AB-DF63-4671-A21F-0F63EECF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91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3992032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7864CF08-CC9E-4322-842E-CD60AD43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1CB617F4-0BFD-47D1-819D-8120D785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FC93947D-D41D-444E-AEF3-4E782A2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51F592D-5967-412F-96E5-45AC719E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8825CE-5F9D-41A9-B598-C36C6553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核心判断与关键依据</a:t>
            </a:r>
          </a:p>
        </p:txBody>
      </p:sp>
      <p:sp>
        <p:nvSpPr>
          <p:cNvPr id="6" name="summary-answer-field">
            <a:extLst xmlns:a="http://schemas.openxmlformats.org/drawingml/2006/main">
              <a:ext uri="{FF2B5EF4-FFF2-40B4-BE49-F238E27FC236}">
                <a16:creationId xmlns:a16="http://schemas.microsoft.com/office/drawing/2014/main" id="{8988FFCE-70CD-465B-86C2-DCBC4533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3816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mmary-answer-label">
            <a:extLst xmlns:a="http://schemas.openxmlformats.org/drawingml/2006/main">
              <a:ext uri="{FF2B5EF4-FFF2-40B4-BE49-F238E27FC236}">
                <a16:creationId xmlns:a16="http://schemas.microsoft.com/office/drawing/2014/main" id="{AFCE9F54-F5B5-42D1-A418-3F13AE96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2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CORE ANSWER</a:t>
            </a:r>
          </a:p>
        </p:txBody>
      </p:sp>
      <p:sp>
        <p:nvSpPr>
          <p:cNvPr id="8" name="summary-answer">
            <a:extLst xmlns:a="http://schemas.openxmlformats.org/drawingml/2006/main">
              <a:ext uri="{FF2B5EF4-FFF2-40B4-BE49-F238E27FC236}">
                <a16:creationId xmlns:a16="http://schemas.microsoft.com/office/drawing/2014/main" id="{9104420E-F2DC-4162-B40D-13AF05CC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未来两个季度不应继续铺开零散系统，而应把交付准时率、一次检验通过率和设备停机时间作为同一条运营链路治理。</a:t>
            </a:r>
          </a:p>
        </p:txBody>
      </p:sp>
      <p:sp>
        <p:nvSpPr>
          <p:cNvPr id="9" name="summary-index-1">
            <a:extLst xmlns:a="http://schemas.openxmlformats.org/drawingml/2006/main">
              <a:ext uri="{FF2B5EF4-FFF2-40B4-BE49-F238E27FC236}">
                <a16:creationId xmlns:a16="http://schemas.microsoft.com/office/drawing/2014/main" id="{8BF59C33-1B2B-4B46-8A42-54C1EDCD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summary-point-1">
            <a:extLst xmlns:a="http://schemas.openxmlformats.org/drawingml/2006/main">
              <a:ext uri="{FF2B5EF4-FFF2-40B4-BE49-F238E27FC236}">
                <a16:creationId xmlns:a16="http://schemas.microsoft.com/office/drawing/2014/main" id="{2C8DE46D-BC60-4F7D-B57E-696415D1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43075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试点应先覆盖华东两座工厂，再根据可复制性决定扩围。</a:t>
            </a:r>
          </a:p>
        </p:txBody>
      </p:sp>
      <p:sp>
        <p:nvSpPr>
          <p:cNvPr id="11" name="summary-rule-1">
            <a:extLst xmlns:a="http://schemas.openxmlformats.org/drawingml/2006/main">
              <a:ext uri="{FF2B5EF4-FFF2-40B4-BE49-F238E27FC236}">
                <a16:creationId xmlns:a16="http://schemas.microsoft.com/office/drawing/2014/main" id="{4517725D-DBD9-4C98-92EF-892BDFBD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574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mmary-index-2">
            <a:extLst xmlns:a="http://schemas.openxmlformats.org/drawingml/2006/main">
              <a:ext uri="{FF2B5EF4-FFF2-40B4-BE49-F238E27FC236}">
                <a16:creationId xmlns:a16="http://schemas.microsoft.com/office/drawing/2014/main" id="{3FEBB554-CAA8-4D93-952C-1F7C8490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622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summary-point-2">
            <a:extLst xmlns:a="http://schemas.openxmlformats.org/drawingml/2006/main">
              <a:ext uri="{FF2B5EF4-FFF2-40B4-BE49-F238E27FC236}">
                <a16:creationId xmlns:a16="http://schemas.microsoft.com/office/drawing/2014/main" id="{EC642321-95CD-4301-87A1-06B2677A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43225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过去 12 个月订单量增长 18%，但准时交付率由 94% 降至 88%。</a:t>
            </a:r>
          </a:p>
        </p:txBody>
      </p:sp>
      <p:sp>
        <p:nvSpPr>
          <p:cNvPr id="14" name="summary-rule-2">
            <a:extLst xmlns:a="http://schemas.openxmlformats.org/drawingml/2006/main">
              <a:ext uri="{FF2B5EF4-FFF2-40B4-BE49-F238E27FC236}">
                <a16:creationId xmlns:a16="http://schemas.microsoft.com/office/drawing/2014/main" id="{02332C8B-E7D8-4A9D-B228-46F2D857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6293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4C64F7EA-D1E5-42FF-8581-699360E3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B4D5968D-19D4-459B-8461-2A77C888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8A75C9A9-E812-4C27-BDA8-16C04C3F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01ACD6-9EB9-4FF8-8426-79062B5D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A1DDD8-D57A-4779-87C6-F354F9E5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运营问题必须按一条链路治理</a:t>
            </a:r>
          </a:p>
        </p:txBody>
      </p:sp>
      <p:sp>
        <p:nvSpPr>
          <p:cNvPr id="6" name="editorial-answer-field">
            <a:extLst xmlns:a="http://schemas.openxmlformats.org/drawingml/2006/main">
              <a:ext uri="{FF2B5EF4-FFF2-40B4-BE49-F238E27FC236}">
                <a16:creationId xmlns:a16="http://schemas.microsoft.com/office/drawing/2014/main" id="{B1FED5ED-9B7E-4852-9F68-E2CED3A1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ditorial-kicker">
            <a:extLst xmlns:a="http://schemas.openxmlformats.org/drawingml/2006/main">
              <a:ext uri="{FF2B5EF4-FFF2-40B4-BE49-F238E27FC236}">
                <a16:creationId xmlns:a16="http://schemas.microsoft.com/office/drawing/2014/main" id="{96ABC4AC-7B3B-4CAA-9038-773161AE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OPERATING PRINCIPLE</a:t>
            </a:r>
          </a:p>
        </p:txBody>
      </p:sp>
      <p:sp>
        <p:nvSpPr>
          <p:cNvPr id="8" name="editorial-claim">
            <a:extLst xmlns:a="http://schemas.openxmlformats.org/drawingml/2006/main">
              <a:ext uri="{FF2B5EF4-FFF2-40B4-BE49-F238E27FC236}">
                <a16:creationId xmlns:a16="http://schemas.microsoft.com/office/drawing/2014/main" id="{BDE1FEBE-B77F-47AF-8B20-5D4B15D9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未来两个季度不应继续铺开零散系统</a:t>
            </a:r>
          </a:p>
        </p:txBody>
      </p:sp>
      <p:sp>
        <p:nvSpPr>
          <p:cNvPr id="9" name="editorial-caption">
            <a:extLst xmlns:a="http://schemas.openxmlformats.org/drawingml/2006/main">
              <a:ext uri="{FF2B5EF4-FFF2-40B4-BE49-F238E27FC236}">
                <a16:creationId xmlns:a16="http://schemas.microsoft.com/office/drawing/2014/main" id="{469D2560-DA96-4836-9A3A-39E7F66F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从单点系统建设转向跨环节经营闭环</a:t>
            </a:r>
          </a:p>
        </p:txBody>
      </p:sp>
      <p:sp>
        <p:nvSpPr>
          <p:cNvPr id="10" name="editorial-number-1">
            <a:extLst xmlns:a="http://schemas.openxmlformats.org/drawingml/2006/main">
              <a:ext uri="{FF2B5EF4-FFF2-40B4-BE49-F238E27FC236}">
                <a16:creationId xmlns:a16="http://schemas.microsoft.com/office/drawing/2014/main" id="{26B3F6E0-E030-4BAF-A138-6B3031EC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editorial-proof-1">
            <a:extLst xmlns:a="http://schemas.openxmlformats.org/drawingml/2006/main">
              <a:ext uri="{FF2B5EF4-FFF2-40B4-BE49-F238E27FC236}">
                <a16:creationId xmlns:a16="http://schemas.microsoft.com/office/drawing/2014/main" id="{A2A9EF6A-9ACA-4EC0-AD50-AB235925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38325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而应把交付准时率、一次检验通过率和设备停机时间作为同一条运营链路治理</a:t>
            </a:r>
          </a:p>
        </p:txBody>
      </p:sp>
      <p:sp>
        <p:nvSpPr>
          <p:cNvPr id="12" name="editorial-proof-rule-1">
            <a:extLst xmlns:a="http://schemas.openxmlformats.org/drawingml/2006/main">
              <a:ext uri="{FF2B5EF4-FFF2-40B4-BE49-F238E27FC236}">
                <a16:creationId xmlns:a16="http://schemas.microsoft.com/office/drawing/2014/main" id="{BCB0E6DA-570A-4A36-AB85-C8A8F754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955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ditorial-number-2">
            <a:extLst xmlns:a="http://schemas.openxmlformats.org/drawingml/2006/main">
              <a:ext uri="{FF2B5EF4-FFF2-40B4-BE49-F238E27FC236}">
                <a16:creationId xmlns:a16="http://schemas.microsoft.com/office/drawing/2014/main" id="{1AD83C3E-210E-4D62-85E8-BE6E547E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622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editorial-proof-2">
            <a:extLst xmlns:a="http://schemas.openxmlformats.org/drawingml/2006/main">
              <a:ext uri="{FF2B5EF4-FFF2-40B4-BE49-F238E27FC236}">
                <a16:creationId xmlns:a16="http://schemas.microsoft.com/office/drawing/2014/main" id="{8D1D1BAB-4203-4879-B15B-0A60E3C8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43225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试点应先覆盖华东两座工厂，再根据可复制性决定扩围。</a:t>
            </a:r>
          </a:p>
        </p:txBody>
      </p:sp>
      <p:sp>
        <p:nvSpPr>
          <p:cNvPr id="15" name="editorial-proof-rule-2">
            <a:extLst xmlns:a="http://schemas.openxmlformats.org/drawingml/2006/main">
              <a:ext uri="{FF2B5EF4-FFF2-40B4-BE49-F238E27FC236}">
                <a16:creationId xmlns:a16="http://schemas.microsoft.com/office/drawing/2014/main" id="{D2B1F575-8928-488A-8229-2252126B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004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5878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">
            <a:extLst xmlns:a="http://schemas.openxmlformats.org/drawingml/2006/main">
              <a:ext uri="{FF2B5EF4-FFF2-40B4-BE49-F238E27FC236}">
                <a16:creationId xmlns:a16="http://schemas.microsoft.com/office/drawing/2014/main" id="{5385EA31-C8C6-40E6-8C1B-FF20E933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CB6A674F-4368-4C51-B445-C19DF71A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EDCEFF9C-E85B-45E5-B6AD-4E56B9FC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C8BE029-BF30-470C-82DA-68948A3D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3E7408-E935-4A01-844E-DC588D3C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过去 12 个月订单量增长 18%，但准时交付率由 94% 降至 88%。</a:t>
            </a:r>
          </a:p>
        </p:txBody>
      </p:sp>
      <p:sp>
        <p:nvSpPr>
          <p:cNvPr id="6" name="metric-chart-field">
            <a:extLst xmlns:a="http://schemas.openxmlformats.org/drawingml/2006/main">
              <a:ext uri="{FF2B5EF4-FFF2-40B4-BE49-F238E27FC236}">
                <a16:creationId xmlns:a16="http://schemas.microsoft.com/office/drawing/2014/main" id="{878E4063-7D82-4416-ADDB-F506F303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066800" y="2190750"/>
          <a:ext xmlns:a="http://schemas.openxmlformats.org/drawingml/2006/main" cx="61912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4111ee4bf54530"/>
          </a:graphicData>
        </a:graphic>
      </p:graphicFrame>
      <p:sp>
        <p:nvSpPr>
          <p:cNvPr id="8" name="metric-decision-field">
            <a:extLst xmlns:a="http://schemas.openxmlformats.org/drawingml/2006/main">
              <a:ext uri="{FF2B5EF4-FFF2-40B4-BE49-F238E27FC236}">
                <a16:creationId xmlns:a16="http://schemas.microsoft.com/office/drawing/2014/main" id="{002B06A3-0E8E-4E0D-99AC-BAB56908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delta-label">
            <a:extLst xmlns:a="http://schemas.openxmlformats.org/drawingml/2006/main">
              <a:ext uri="{FF2B5EF4-FFF2-40B4-BE49-F238E27FC236}">
                <a16:creationId xmlns:a16="http://schemas.microsoft.com/office/drawing/2014/main" id="{56D3050B-EA04-45E8-9EE7-DDCBEECA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71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OPERATING GAP</a:t>
            </a:r>
          </a:p>
        </p:txBody>
      </p:sp>
      <p:sp>
        <p:nvSpPr>
          <p:cNvPr id="10" name="metric-delta">
            <a:extLst xmlns:a="http://schemas.openxmlformats.org/drawingml/2006/main">
              <a:ext uri="{FF2B5EF4-FFF2-40B4-BE49-F238E27FC236}">
                <a16:creationId xmlns:a16="http://schemas.microsoft.com/office/drawing/2014/main" id="{F8A75605-83F2-4CEC-AA03-9742433F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670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-6 pp</a:t>
            </a:r>
          </a:p>
        </p:txBody>
      </p:sp>
      <p:sp>
        <p:nvSpPr>
          <p:cNvPr id="11" name="metric-decision-copy">
            <a:extLst xmlns:a="http://schemas.openxmlformats.org/drawingml/2006/main">
              <a:ext uri="{FF2B5EF4-FFF2-40B4-BE49-F238E27FC236}">
                <a16:creationId xmlns:a16="http://schemas.microsoft.com/office/drawing/2014/main" id="{B6DC3373-0CA2-42B1-86E8-AFD63F8A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62375"/>
            <a:ext cx="2333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返工成本占制造成本的 4.6%，其中 57% 来自三类重复质量缺陷。</a:t>
            </a:r>
          </a:p>
        </p:txBody>
      </p:sp>
    </p:spTree>
    <p:extLst>
      <p:ext uri="{BB962C8B-B14F-4D97-AF65-F5344CB8AC3E}">
        <p14:creationId xmlns:p14="http://schemas.microsoft.com/office/powerpoint/2010/main" val="6201556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E1A9F4A2-BA94-461D-8A87-C204E680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360B6EBC-85DF-4548-8C22-70DA55A8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3E3841E6-6025-40CF-8D8F-245F2C00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2DE81E-3384-4961-9A26-DBD75884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866949-1A0D-4281-AB1B-BD2EC3D1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12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6" name="metric-band-1">
            <a:extLst xmlns:a="http://schemas.openxmlformats.org/drawingml/2006/main">
              <a:ext uri="{FF2B5EF4-FFF2-40B4-BE49-F238E27FC236}">
                <a16:creationId xmlns:a16="http://schemas.microsoft.com/office/drawing/2014/main" id="{300AE32F-1981-4C3B-A8E0-C16E10CD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04DF7141-AC74-4FAD-8D03-35298BB4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126小时</a:t>
            </a:r>
          </a:p>
        </p:txBody>
      </p:sp>
      <p:sp>
        <p:nvSpPr>
          <p:cNvPr id="8" name="metric-context-1">
            <a:extLst xmlns:a="http://schemas.openxmlformats.org/drawingml/2006/main">
              <a:ext uri="{FF2B5EF4-FFF2-40B4-BE49-F238E27FC236}">
                <a16:creationId xmlns:a16="http://schemas.microsoft.com/office/drawing/2014/main" id="{0D707280-57FC-4FEE-9212-09AFF4AB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9" name="metric-band-2">
            <a:extLst xmlns:a="http://schemas.openxmlformats.org/drawingml/2006/main">
              <a:ext uri="{FF2B5EF4-FFF2-40B4-BE49-F238E27FC236}">
                <a16:creationId xmlns:a16="http://schemas.microsoft.com/office/drawing/2014/main" id="{2AA29631-C21F-4A90-9722-6C95BC9B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sp>
        <p:nvSpPr>
          <p:cNvPr id="10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B3023D89-CE54-4595-BBC7-165E9A9D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35%</a:t>
            </a:r>
          </a:p>
        </p:txBody>
      </p:sp>
      <p:sp>
        <p:nvSpPr>
          <p:cNvPr id="11" name="metric-context-2">
            <a:extLst xmlns:a="http://schemas.openxmlformats.org/drawingml/2006/main">
              <a:ext uri="{FF2B5EF4-FFF2-40B4-BE49-F238E27FC236}">
                <a16:creationId xmlns:a16="http://schemas.microsoft.com/office/drawing/2014/main" id="{BDC28E5F-55E4-4D24-B1B4-499A4C35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12" name="metric-band-3">
            <a:extLst xmlns:a="http://schemas.openxmlformats.org/drawingml/2006/main">
              <a:ext uri="{FF2B5EF4-FFF2-40B4-BE49-F238E27FC236}">
                <a16:creationId xmlns:a16="http://schemas.microsoft.com/office/drawing/2014/main" id="{E3E1524E-F59A-49BD-9FBD-C7E043DA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sp>
        <p:nvSpPr>
          <p:cNvPr id="13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76AFB62B-89F2-45DA-AA6A-1743924F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11.4天</a:t>
            </a:r>
          </a:p>
        </p:txBody>
      </p:sp>
      <p:sp>
        <p:nvSpPr>
          <p:cNvPr id="14" name="metric-context-3">
            <a:extLst xmlns:a="http://schemas.openxmlformats.org/drawingml/2006/main">
              <a:ext uri="{FF2B5EF4-FFF2-40B4-BE49-F238E27FC236}">
                <a16:creationId xmlns:a16="http://schemas.microsoft.com/office/drawing/2014/main" id="{1E5BDAB6-1C5C-4D7B-B8EB-A0EA9E96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当前质量异常从发现到关闭平均需要 11.4 天，跨部门等待占其中 6.2 天。</a:t>
            </a:r>
          </a:p>
        </p:txBody>
      </p:sp>
    </p:spTree>
    <p:extLst>
      <p:ext uri="{BB962C8B-B14F-4D97-AF65-F5344CB8AC3E}">
        <p14:creationId xmlns:p14="http://schemas.microsoft.com/office/powerpoint/2010/main" val="56782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DFF9AEE2-DEFC-463B-AC9F-CE717918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06FF730E-39A0-4833-8923-B855D1EE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725F51FC-40F7-4457-BED1-414F3C27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6176A22-6F9E-45C7-8AE0-59F50932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27A0BE-9C3C-4D4A-9E2A-2E097C9A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718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第一阶段用 8 周建立统一事件编码和日级看板；第二阶段将质量异常、设备状态和交付承诺打通。</a:t>
            </a:r>
          </a:p>
        </p:txBody>
      </p:sp>
      <p:sp>
        <p:nvSpPr>
          <p:cNvPr id="6" name="timeline-spine">
            <a:extLst xmlns:a="http://schemas.openxmlformats.org/drawingml/2006/main">
              <a:ext uri="{FF2B5EF4-FFF2-40B4-BE49-F238E27FC236}">
                <a16:creationId xmlns:a16="http://schemas.microsoft.com/office/drawing/2014/main" id="{2B02B40D-7C49-46DB-BAF4-A1353A3E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81350"/>
            <a:ext cx="781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66043430-74A4-442C-B9AB-DB8A89DA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step-1">
            <a:extLst xmlns:a="http://schemas.openxmlformats.org/drawingml/2006/main">
              <a:ext uri="{FF2B5EF4-FFF2-40B4-BE49-F238E27FC236}">
                <a16:creationId xmlns:a16="http://schemas.microsoft.com/office/drawing/2014/main" id="{049AA9CA-3F0B-47E2-825A-AACC93AB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9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8805EE45-06A5-40FB-AB64-D03041E9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建立基线 · 8周</a:t>
            </a:r>
          </a:p>
        </p:txBody>
      </p:sp>
      <p:sp>
        <p:nvSpPr>
          <p:cNvPr id="10" name="timeline-copy-1">
            <a:extLst xmlns:a="http://schemas.openxmlformats.org/drawingml/2006/main">
              <a:ext uri="{FF2B5EF4-FFF2-40B4-BE49-F238E27FC236}">
                <a16:creationId xmlns:a16="http://schemas.microsoft.com/office/drawing/2014/main" id="{E0DA561B-BD74-4182-938B-45E6C2F0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第一阶段用 8 周建立统一事件编码和日级看板；第二阶段将质量异常、设备状态和交付承诺打通。</a:t>
            </a:r>
          </a:p>
        </p:txBody>
      </p:sp>
      <p:sp>
        <p:nvSpPr>
          <p:cNvPr id="11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B967B6FC-1953-4A4A-BF4A-45100AF1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step-2">
            <a:extLst xmlns:a="http://schemas.openxmlformats.org/drawingml/2006/main">
              <a:ext uri="{FF2B5EF4-FFF2-40B4-BE49-F238E27FC236}">
                <a16:creationId xmlns:a16="http://schemas.microsoft.com/office/drawing/2014/main" id="{D3B5DF47-4DE5-4720-B22B-FD7BB004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3EAC00FF-FFB2-481E-B4C0-1C39084F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打通运营链路</a:t>
            </a:r>
          </a:p>
        </p:txBody>
      </p:sp>
      <p:sp>
        <p:nvSpPr>
          <p:cNvPr id="14" name="timeline-copy-2">
            <a:extLst xmlns:a="http://schemas.openxmlformats.org/drawingml/2006/main">
              <a:ext uri="{FF2B5EF4-FFF2-40B4-BE49-F238E27FC236}">
                <a16:creationId xmlns:a16="http://schemas.microsoft.com/office/drawing/2014/main" id="{23D44D2D-5C66-48AB-85D4-865825F3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预算优先投向数据治理、现场流程和责任机制，不以采购更多大屏作为成果。</a:t>
            </a:r>
          </a:p>
        </p:txBody>
      </p:sp>
      <p:sp>
        <p:nvSpPr>
          <p:cNvPr id="15" name="timeline-decision">
            <a:extLst xmlns:a="http://schemas.openxmlformats.org/drawingml/2006/main">
              <a:ext uri="{FF2B5EF4-FFF2-40B4-BE49-F238E27FC236}">
                <a16:creationId xmlns:a16="http://schemas.microsoft.com/office/drawing/2014/main" id="{FE894070-64C7-4AD4-A348-75A70DD0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91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先统一事件与责任口径，再扩展算法和系统覆盖。</a:t>
            </a:r>
          </a:p>
        </p:txBody>
      </p:sp>
    </p:spTree>
    <p:extLst>
      <p:ext uri="{BB962C8B-B14F-4D97-AF65-F5344CB8AC3E}">
        <p14:creationId xmlns:p14="http://schemas.microsoft.com/office/powerpoint/2010/main" val="478092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1058B1C3-7199-4C47-9046-7B67C01F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F5DF6BE4-FC01-46DA-A178-039D0E9F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1CC0EC03-251F-4EAB-A35D-FF23E3D4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F0F609-ADA4-4962-B1BA-3DB67E97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48F36D-7FA3-4506-8B42-4AD956DF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目标明确，但扩围必须经过两道门槛</a:t>
            </a:r>
          </a:p>
        </p:txBody>
      </p:sp>
      <p:sp>
        <p:nvSpPr>
          <p:cNvPr id="6" name="target-value-1">
            <a:extLst xmlns:a="http://schemas.openxmlformats.org/drawingml/2006/main">
              <a:ext uri="{FF2B5EF4-FFF2-40B4-BE49-F238E27FC236}">
                <a16:creationId xmlns:a16="http://schemas.microsoft.com/office/drawing/2014/main" id="{DBD4FC4F-AF09-407C-957F-12FA32C0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93%</a:t>
            </a:r>
          </a:p>
        </p:txBody>
      </p:sp>
      <p:sp>
        <p:nvSpPr>
          <p:cNvPr id="7" name="target-context-1">
            <a:extLst xmlns:a="http://schemas.openxmlformats.org/drawingml/2006/main">
              <a:ext uri="{FF2B5EF4-FFF2-40B4-BE49-F238E27FC236}">
                <a16:creationId xmlns:a16="http://schemas.microsoft.com/office/drawing/2014/main" id="{15712B25-F352-41A5-80CB-ED809A03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8" name="target-value-2">
            <a:extLst xmlns:a="http://schemas.openxmlformats.org/drawingml/2006/main">
              <a:ext uri="{FF2B5EF4-FFF2-40B4-BE49-F238E27FC236}">
                <a16:creationId xmlns:a16="http://schemas.microsoft.com/office/drawing/2014/main" id="{246272B6-9B2F-4B7E-9588-BD56989F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3个百分点</a:t>
            </a:r>
          </a:p>
        </p:txBody>
      </p:sp>
      <p:sp>
        <p:nvSpPr>
          <p:cNvPr id="9" name="target-context-2">
            <a:extLst xmlns:a="http://schemas.openxmlformats.org/drawingml/2006/main">
              <a:ext uri="{FF2B5EF4-FFF2-40B4-BE49-F238E27FC236}">
                <a16:creationId xmlns:a16="http://schemas.microsoft.com/office/drawing/2014/main" id="{DB363648-1EE1-4334-B29E-E5EC7550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0" name="target-value-3">
            <a:extLst xmlns:a="http://schemas.openxmlformats.org/drawingml/2006/main">
              <a:ext uri="{FF2B5EF4-FFF2-40B4-BE49-F238E27FC236}">
                <a16:creationId xmlns:a16="http://schemas.microsoft.com/office/drawing/2014/main" id="{D57976D7-CFB3-4FC9-89C3-7AE4AE10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7天</a:t>
            </a:r>
          </a:p>
        </p:txBody>
      </p:sp>
      <p:sp>
        <p:nvSpPr>
          <p:cNvPr id="11" name="target-context-3">
            <a:extLst xmlns:a="http://schemas.openxmlformats.org/drawingml/2006/main">
              <a:ext uri="{FF2B5EF4-FFF2-40B4-BE49-F238E27FC236}">
                <a16:creationId xmlns:a16="http://schemas.microsoft.com/office/drawing/2014/main" id="{64D65CFA-890A-461C-A60D-ED183EFA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2" name="gate-field">
            <a:extLst xmlns:a="http://schemas.openxmlformats.org/drawingml/2006/main">
              <a:ext uri="{FF2B5EF4-FFF2-40B4-BE49-F238E27FC236}">
                <a16:creationId xmlns:a16="http://schemas.microsoft.com/office/drawing/2014/main" id="{A3C91E30-94FF-4E4A-BEFF-8FA6A491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44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ate-label">
            <a:extLst xmlns:a="http://schemas.openxmlformats.org/drawingml/2006/main">
              <a:ext uri="{FF2B5EF4-FFF2-40B4-BE49-F238E27FC236}">
                <a16:creationId xmlns:a16="http://schemas.microsoft.com/office/drawing/2014/main" id="{A06BBAE9-1653-40B8-BD3C-5A8E039B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GO / NO-GO</a:t>
            </a:r>
          </a:p>
        </p:txBody>
      </p:sp>
      <p:sp>
        <p:nvSpPr>
          <p:cNvPr id="14" name="gate-copy">
            <a:extLst xmlns:a="http://schemas.openxmlformats.org/drawingml/2006/main">
              <a:ext uri="{FF2B5EF4-FFF2-40B4-BE49-F238E27FC236}">
                <a16:creationId xmlns:a16="http://schemas.microsoft.com/office/drawing/2014/main" id="{12C43B1F-05E0-4C14-B936-058A7F67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57675"/>
            <a:ext cx="771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如果基础事件编码在第 4 周仍未达到 95% 完整率，应暂停算法扩展；如果一线录入额外耗时超过每班 10 分钟，应先重做流程。</a:t>
            </a:r>
          </a:p>
        </p:txBody>
      </p:sp>
    </p:spTree>
    <p:extLst>
      <p:ext uri="{BB962C8B-B14F-4D97-AF65-F5344CB8AC3E}">
        <p14:creationId xmlns:p14="http://schemas.microsoft.com/office/powerpoint/2010/main" val="2703713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accent">
            <a:extLst xmlns:a="http://schemas.openxmlformats.org/drawingml/2006/main">
              <a:ext uri="{FF2B5EF4-FFF2-40B4-BE49-F238E27FC236}">
                <a16:creationId xmlns:a16="http://schemas.microsoft.com/office/drawing/2014/main" id="{991FBDDA-36F0-41E2-B72B-93D7EE94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A530750F-6CE2-4365-B008-0716C678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8DB0FBB6-E835-4BF9-BD95-FD0888F3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69424A-6EBC-4E27-8029-6A6ACE48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08 / 08</a:t>
            </a:r>
          </a:p>
        </p:txBody>
      </p:sp>
      <p:sp>
        <p:nvSpPr>
          <p:cNvPr id="5" name="conclusion-answer-field">
            <a:extLst xmlns:a="http://schemas.openxmlformats.org/drawingml/2006/main">
              <a:ext uri="{FF2B5EF4-FFF2-40B4-BE49-F238E27FC236}">
                <a16:creationId xmlns:a16="http://schemas.microsoft.com/office/drawing/2014/main" id="{C6B1891D-E5D0-4AF1-B429-5618AB73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CCEA46C9-CE1C-47B1-B55D-2CD72C5E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</p:txBody>
      </p:sp>
      <p:sp>
        <p:nvSpPr>
          <p:cNvPr id="7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8B0BD131-0ABD-43EF-9DE3-8EABBDE4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先做两厂试点，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用结果决定扩围</a:t>
            </a:r>
          </a:p>
        </p:txBody>
      </p:sp>
      <p:sp>
        <p:nvSpPr>
          <p:cNvPr id="8" name="conclusion-subtitle">
            <a:extLst xmlns:a="http://schemas.openxmlformats.org/drawingml/2006/main">
              <a:ext uri="{FF2B5EF4-FFF2-40B4-BE49-F238E27FC236}">
                <a16:creationId xmlns:a16="http://schemas.microsoft.com/office/drawing/2014/main" id="{C9EE58B2-45AA-4A27-9E08-F1BC3DA1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数据治理、现场流程和责任机制优先于新增大屏。</a:t>
            </a:r>
          </a:p>
        </p:txBody>
      </p:sp>
      <p:sp>
        <p:nvSpPr>
          <p:cNvPr id="9" name="conclusion-index-1">
            <a:extLst xmlns:a="http://schemas.openxmlformats.org/drawingml/2006/main">
              <a:ext uri="{FF2B5EF4-FFF2-40B4-BE49-F238E27FC236}">
                <a16:creationId xmlns:a16="http://schemas.microsoft.com/office/drawing/2014/main" id="{56C63752-C22C-4B5E-BDE7-F7E5DE01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conclusion-point-1">
            <a:extLst xmlns:a="http://schemas.openxmlformats.org/drawingml/2006/main">
              <a:ext uri="{FF2B5EF4-FFF2-40B4-BE49-F238E27FC236}">
                <a16:creationId xmlns:a16="http://schemas.microsoft.com/office/drawing/2014/main" id="{98E6AC1F-93C9-4ACC-9707-B998FD1E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2402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1" name="conclusion-rule-1">
            <a:extLst xmlns:a="http://schemas.openxmlformats.org/drawingml/2006/main">
              <a:ext uri="{FF2B5EF4-FFF2-40B4-BE49-F238E27FC236}">
                <a16:creationId xmlns:a16="http://schemas.microsoft.com/office/drawing/2014/main" id="{CFA76ED5-5486-4703-B4CB-119DBF08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clusion-index-2">
            <a:extLst xmlns:a="http://schemas.openxmlformats.org/drawingml/2006/main">
              <a:ext uri="{FF2B5EF4-FFF2-40B4-BE49-F238E27FC236}">
                <a16:creationId xmlns:a16="http://schemas.microsoft.com/office/drawing/2014/main" id="{ABEDF3F5-B50F-408A-ADDC-1B04025B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conclusion-point-2">
            <a:extLst xmlns:a="http://schemas.openxmlformats.org/drawingml/2006/main">
              <a:ext uri="{FF2B5EF4-FFF2-40B4-BE49-F238E27FC236}">
                <a16:creationId xmlns:a16="http://schemas.microsoft.com/office/drawing/2014/main" id="{94D43CEB-0517-4429-9B6D-FA6D95C0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146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如果基础事件编码在第 4 周仍未达到 95% 完整率，应暂停算法扩展；如果一线录入额外耗时超过每班 10 分钟，应先重做流程。</a:t>
            </a:r>
          </a:p>
        </p:txBody>
      </p:sp>
      <p:sp>
        <p:nvSpPr>
          <p:cNvPr id="14" name="conclusion-rule-2">
            <a:extLst xmlns:a="http://schemas.openxmlformats.org/drawingml/2006/main">
              <a:ext uri="{FF2B5EF4-FFF2-40B4-BE49-F238E27FC236}">
                <a16:creationId xmlns:a16="http://schemas.microsoft.com/office/drawing/2014/main" id="{A458883C-6C86-4DC7-8914-10777E22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clusion-index-3">
            <a:extLst xmlns:a="http://schemas.openxmlformats.org/drawingml/2006/main">
              <a:ext uri="{FF2B5EF4-FFF2-40B4-BE49-F238E27FC236}">
                <a16:creationId xmlns:a16="http://schemas.microsoft.com/office/drawing/2014/main" id="{B70C9FA8-B3B0-41CB-B4EA-8C2603A4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conclusion-point-3">
            <a:extLst xmlns:a="http://schemas.openxmlformats.org/drawingml/2006/main">
              <a:ext uri="{FF2B5EF4-FFF2-40B4-BE49-F238E27FC236}">
                <a16:creationId xmlns:a16="http://schemas.microsoft.com/office/drawing/2014/main" id="{2277CD5E-3226-4FB2-A6F0-BF61DF62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0527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所有指标需保留工厂、产线和产品层级口径，避免用总体平均掩盖局部问题。</a:t>
            </a:r>
          </a:p>
        </p:txBody>
      </p:sp>
      <p:sp>
        <p:nvSpPr>
          <p:cNvPr id="17" name="conclusion-rule-3">
            <a:extLst xmlns:a="http://schemas.openxmlformats.org/drawingml/2006/main">
              <a:ext uri="{FF2B5EF4-FFF2-40B4-BE49-F238E27FC236}">
                <a16:creationId xmlns:a16="http://schemas.microsoft.com/office/drawing/2014/main" id="{AA10D8D7-9928-4229-ADFB-1C670256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9675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5213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2026-08-22T11:33:35.7650000Z</dcterms:created>
  <dcterms:modified xsi:type="dcterms:W3CDTF">2026-08-22T11:33:35.7650000Z</dcterms:modified>
</coreProperties>
</file>