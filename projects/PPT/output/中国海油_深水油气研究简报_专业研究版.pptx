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a4c9739a5d4185" /><Relationship Type="http://schemas.openxmlformats.org/officeDocument/2006/relationships/extended-properties" Target="/docProps/app.xml" Id="R97b3a853d9b442a2" /><Relationship Type="http://schemas.openxmlformats.org/officeDocument/2006/relationships/officeDocument" Target="/ppt/presentation.xml" Id="Rea516718e53045bb" /></Relationships>
</file>

<file path=ppt/presentation.xml><?xml version="1.0" encoding="utf-8"?>
<p:presentation xmlns:p="http://schemas.openxmlformats.org/presentationml/2006/main">
  <p:sldMasterIdLst>
    <p:sldMasterId xmlns:r="http://schemas.openxmlformats.org/officeDocument/2006/relationships" id="2147483648" r:id="Rb97d2cf13f72414f"/>
  </p:sldMasterIdLst>
  <p:notesMasterIdLst>
    <p:notesMasterId xmlns:r="http://schemas.openxmlformats.org/officeDocument/2006/relationships" r:id="Rd38258d5ba524286"/>
  </p:notesMasterIdLst>
  <p:sldIdLst>
    <p:sldId xmlns:r="http://schemas.openxmlformats.org/officeDocument/2006/relationships" id="256" r:id="R2e2c94efebbc4a8e"/>
    <p:sldId xmlns:r="http://schemas.openxmlformats.org/officeDocument/2006/relationships" id="257" r:id="Rc2442da1910349cc"/>
    <p:sldId xmlns:r="http://schemas.openxmlformats.org/officeDocument/2006/relationships" id="258" r:id="R044cea855a3f4e7b"/>
    <p:sldId xmlns:r="http://schemas.openxmlformats.org/officeDocument/2006/relationships" id="259" r:id="Rf3252047f76b406d"/>
    <p:sldId xmlns:r="http://schemas.openxmlformats.org/officeDocument/2006/relationships" id="260" r:id="R39c90c13e4db47d1"/>
    <p:sldId xmlns:r="http://schemas.openxmlformats.org/officeDocument/2006/relationships" id="261" r:id="Re47b4dc9ebe04e69"/>
    <p:sldId xmlns:r="http://schemas.openxmlformats.org/officeDocument/2006/relationships" id="262" r:id="R76fadd42a80846e2"/>
    <p:sldId xmlns:r="http://schemas.openxmlformats.org/officeDocument/2006/relationships" id="263" r:id="R89796f8c2f714464"/>
    <p:sldId xmlns:r="http://schemas.openxmlformats.org/officeDocument/2006/relationships" id="264" r:id="Rc3edf463f43d4b53"/>
    <p:sldId xmlns:r="http://schemas.openxmlformats.org/officeDocument/2006/relationships" id="265" r:id="R0ca7b3feb8174d8f"/>
    <p:sldId xmlns:r="http://schemas.openxmlformats.org/officeDocument/2006/relationships" id="266" r:id="Rd2c947c922d14afe"/>
    <p:sldId xmlns:r="http://schemas.openxmlformats.org/officeDocument/2006/relationships" id="267" r:id="R7e09eaeced894d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a05ac56a3d4342" /><Relationship Type="http://schemas.openxmlformats.org/officeDocument/2006/relationships/slideMaster" Target="/ppt/slideMasters/slideMaster1.xml" Id="Rb97d2cf13f72414f" /><Relationship Type="http://schemas.openxmlformats.org/officeDocument/2006/relationships/notesMaster" Target="/ppt/notesMasters/notesMaster1.xml" Id="Rd38258d5ba524286" /><Relationship Type="http://schemas.openxmlformats.org/officeDocument/2006/relationships/presProps" Target="/ppt/presProps.xml" Id="Raa44aa0eb7fd46bd" /><Relationship Type="http://schemas.openxmlformats.org/officeDocument/2006/relationships/tableStyles" Target="/ppt/tableStyles.xml" Id="Rcd19106d8194406a" /><Relationship Type="http://schemas.openxmlformats.org/officeDocument/2006/relationships/slide" Target="/ppt/slides/slide1.xml" Id="R2e2c94efebbc4a8e" /><Relationship Type="http://schemas.openxmlformats.org/officeDocument/2006/relationships/slide" Target="/ppt/slides/slide2.xml" Id="Rc2442da1910349cc" /><Relationship Type="http://schemas.openxmlformats.org/officeDocument/2006/relationships/slide" Target="/ppt/slides/slide3.xml" Id="R044cea855a3f4e7b" /><Relationship Type="http://schemas.openxmlformats.org/officeDocument/2006/relationships/slide" Target="/ppt/slides/slide4.xml" Id="Rf3252047f76b406d" /><Relationship Type="http://schemas.openxmlformats.org/officeDocument/2006/relationships/slide" Target="/ppt/slides/slide5.xml" Id="R39c90c13e4db47d1" /><Relationship Type="http://schemas.openxmlformats.org/officeDocument/2006/relationships/slide" Target="/ppt/slides/slide6.xml" Id="Re47b4dc9ebe04e69" /><Relationship Type="http://schemas.openxmlformats.org/officeDocument/2006/relationships/slide" Target="/ppt/slides/slide7.xml" Id="R76fadd42a80846e2" /><Relationship Type="http://schemas.openxmlformats.org/officeDocument/2006/relationships/slide" Target="/ppt/slides/slide8.xml" Id="R89796f8c2f714464" /><Relationship Type="http://schemas.openxmlformats.org/officeDocument/2006/relationships/slide" Target="/ppt/slides/slide9.xml" Id="Rc3edf463f43d4b53" /><Relationship Type="http://schemas.openxmlformats.org/officeDocument/2006/relationships/slide" Target="/ppt/slides/slide10.xml" Id="R0ca7b3feb8174d8f" /><Relationship Type="http://schemas.openxmlformats.org/officeDocument/2006/relationships/slide" Target="/ppt/slides/slide11.xml" Id="Rd2c947c922d14afe" /><Relationship Type="http://schemas.openxmlformats.org/officeDocument/2006/relationships/slide" Target="/ppt/slides/slide12.xml" Id="R7e09eaeced894d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7588498e1642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1085082f1e4c47" /><Relationship Type="http://schemas.openxmlformats.org/officeDocument/2006/relationships/notesMaster" Target="/ppt/notesMasters/notesMaster1.xml" Id="R0a0c43ed6f304f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6323c3514e438c" /><Relationship Type="http://schemas.openxmlformats.org/officeDocument/2006/relationships/notesMaster" Target="/ppt/notesMasters/notesMaster1.xml" Id="Re71cc4ddd2de45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bbff2c06544e02" /><Relationship Type="http://schemas.openxmlformats.org/officeDocument/2006/relationships/notesMaster" Target="/ppt/notesMasters/notesMaster1.xml" Id="R01b5d733092241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860fdb9ee94045" /><Relationship Type="http://schemas.openxmlformats.org/officeDocument/2006/relationships/notesMaster" Target="/ppt/notesMasters/notesMaster1.xml" Id="R177496b000cb4d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635da2087b4aab" /><Relationship Type="http://schemas.openxmlformats.org/officeDocument/2006/relationships/notesMaster" Target="/ppt/notesMasters/notesMaster1.xml" Id="Ra399f7ddf48444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4e365137ec41dc" /><Relationship Type="http://schemas.openxmlformats.org/officeDocument/2006/relationships/notesMaster" Target="/ppt/notesMasters/notesMaster1.xml" Id="R7cfbd0ef109848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83c280e3004f20" /><Relationship Type="http://schemas.openxmlformats.org/officeDocument/2006/relationships/notesMaster" Target="/ppt/notesMasters/notesMaster1.xml" Id="R210aba6d4b5847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5303ce956b49a2" /><Relationship Type="http://schemas.openxmlformats.org/officeDocument/2006/relationships/notesMaster" Target="/ppt/notesMasters/notesMaster1.xml" Id="R992e3267b2e742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27fb4fbbaa49fd" /><Relationship Type="http://schemas.openxmlformats.org/officeDocument/2006/relationships/notesMaster" Target="/ppt/notesMasters/notesMaster1.xml" Id="Rb4def25f9c5744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29e4b618e64a29" /><Relationship Type="http://schemas.openxmlformats.org/officeDocument/2006/relationships/notesMaster" Target="/ppt/notesMasters/notesMaster1.xml" Id="R8b24c72b26a348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fe6d1a1add4e18" /><Relationship Type="http://schemas.openxmlformats.org/officeDocument/2006/relationships/notesMaster" Target="/ppt/notesMasters/notesMaster1.xml" Id="Ra7b31ec0382140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6fe395de4c4b50" /><Relationship Type="http://schemas.openxmlformats.org/officeDocument/2006/relationships/notesMaster" Target="/ppt/notesMasters/notesMaster1.xml" Id="Ra3cc1b78d77944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国信证券《深水、超深水油气资源前景广阔》，2024-04-03，第1页。</a:t>
            </a:r>
          </a:p>
          <a:p xmlns:a="http://schemas.openxmlformats.org/drawingml/2006/main">
            <a:r>
              <a:t>- 封面主视觉由AI生成，无外部摄影素材。</a:t>
            </a:r>
          </a:p>
          <a:p xmlns:a="http://schemas.openxmlformats.org/drawingml/2006/main">
            <a:r>
              <a:t>- 本简报基于历史资料整理，不构成当前投资建议。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国信证券《深水、超深水油气资源前景广阔》，2024-04-03，第1-4、17-18页。</a:t>
            </a:r>
          </a:p>
          <a:p xmlns:a="http://schemas.openxmlformats.org/drawingml/2006/main">
            <a:r>
              <a:t>- 本页为历史资料结构化整理，不构成当前投资建议。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国信证券《深水、超深水油气资源前景广阔》，2024-04-03，第2页。</a:t>
            </a:r>
          </a:p>
          <a:p xmlns:a="http://schemas.openxmlformats.org/drawingml/2006/main">
            <a:r>
              <a:t>- 本页为历史资料结构化整理，不构成当前投资建议。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国信证券《深水、超深水油气资源前景广阔》，2024-04-03，第3页。</a:t>
            </a:r>
          </a:p>
          <a:p xmlns:a="http://schemas.openxmlformats.org/drawingml/2006/main">
            <a:r>
              <a:t>- 本页为历史资料结构化整理，不构成当前投资建议。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国信证券《深水、超深水油气资源前景广阔》，2024-04-03，第3页。；天然气单位已由亿立方米换算为十亿立方米</a:t>
            </a:r>
          </a:p>
          <a:p xmlns:a="http://schemas.openxmlformats.org/drawingml/2006/main">
            <a:r>
              <a:t>- 本页为历史资料结构化整理，不构成当前投资建议。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国信证券《深水、超深水油气资源前景广阔》，2024-04-03，第4页。</a:t>
            </a:r>
          </a:p>
          <a:p xmlns:a="http://schemas.openxmlformats.org/drawingml/2006/main">
            <a:r>
              <a:t>- 本页为历史资料结构化整理，不构成当前投资建议。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国信证券《深水、超深水油气资源前景广阔》，2024-04-03，第4-6页。；2022储量由2023值及8.7%增速反推，仅用于趋势对比</a:t>
            </a:r>
          </a:p>
          <a:p xmlns:a="http://schemas.openxmlformats.org/drawingml/2006/main">
            <a:r>
              <a:t>- 本页为历史资料结构化整理，不构成当前投资建议。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国信证券《深水、超深水油气资源前景广阔》，2024-04-03，第7、10、13页。</a:t>
            </a:r>
          </a:p>
          <a:p xmlns:a="http://schemas.openxmlformats.org/drawingml/2006/main">
            <a:r>
              <a:t>- 本页为历史资料结构化整理，不构成当前投资建议。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国信证券《深水、超深水油气资源前景广阔》，2024-04-03，第14-16页。</a:t>
            </a:r>
          </a:p>
          <a:p xmlns:a="http://schemas.openxmlformats.org/drawingml/2006/main">
            <a:r>
              <a:t>- 本页为历史资料结构化整理，不构成当前投资建议。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国信证券《深水、超深水油气资源前景广阔》，2024-04-03，第17-18页。；金额由百万元换算为亿元</a:t>
            </a:r>
          </a:p>
          <a:p xmlns:a="http://schemas.openxmlformats.org/drawingml/2006/main">
            <a:r>
              <a:t>- 本页为历史资料结构化整理，不构成当前投资建议。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国信证券《深水、超深水油气资源前景广阔》，2024-04-03，第1、6、17页。</a:t>
            </a:r>
          </a:p>
          <a:p xmlns:a="http://schemas.openxmlformats.org/drawingml/2006/main">
            <a:r>
              <a:t>- 本页为历史资料结构化整理，不构成当前投资建议。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国信证券《深水、超深水油气资源前景广阔》，2024-04-03，全文。</a:t>
            </a:r>
          </a:p>
          <a:p xmlns:a="http://schemas.openxmlformats.org/drawingml/2006/main">
            <a:r>
              <a:t>- 本页为历史资料总结，不构成当前投资建议。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aa7dba296145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b0a6074a04496d" /><Relationship Type="http://schemas.openxmlformats.org/officeDocument/2006/relationships/slideLayout" Target="/ppt/slideLayouts/slideLayout1.xml" Id="R7e7cd9dbc3eb4b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7cd9dbc3eb4b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77cf1778584e31" /><Relationship Type="http://schemas.openxmlformats.org/officeDocument/2006/relationships/image" Target="/ppt/media/image.png" Id="R55338ac72c0041e2" /><Relationship Type="http://schemas.openxmlformats.org/officeDocument/2006/relationships/notesSlide" Target="/ppt/notesSlides/notesSlide1.xml" Id="R74afa47cf61246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b59fbe9aa24982" /><Relationship Type="http://schemas.openxmlformats.org/officeDocument/2006/relationships/notesSlide" Target="/ppt/notesSlides/notesSlide2.xml" Id="R7cb4c3abad1945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64dc260d1a4348" /><Relationship Type="http://schemas.openxmlformats.org/officeDocument/2006/relationships/chart" Target="/ppt/slides/charts/chart1.xml" Id="R1a7a7830a4b048f9" /><Relationship Type="http://schemas.openxmlformats.org/officeDocument/2006/relationships/notesSlide" Target="/ppt/notesSlides/notesSlide3.xml" Id="R0e886cb2d63040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d85bd50b4846dc" /><Relationship Type="http://schemas.openxmlformats.org/officeDocument/2006/relationships/notesSlide" Target="/ppt/notesSlides/notesSlide4.xml" Id="Rbc5fd2a8a43a4c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e9f394177f460f" /><Relationship Type="http://schemas.openxmlformats.org/officeDocument/2006/relationships/chart" Target="/ppt/slides/charts/chart2.xml" Id="Rc053637fc237449c" /><Relationship Type="http://schemas.openxmlformats.org/officeDocument/2006/relationships/chart" Target="/ppt/slides/charts/chart3.xml" Id="Rf47ad667e5114a6f" /><Relationship Type="http://schemas.openxmlformats.org/officeDocument/2006/relationships/notesSlide" Target="/ppt/notesSlides/notesSlide5.xml" Id="R3b3112d2bbfa41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ff589cb2d942a1" /><Relationship Type="http://schemas.openxmlformats.org/officeDocument/2006/relationships/notesSlide" Target="/ppt/notesSlides/notesSlide6.xml" Id="Rac8b395f05084e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25dad437b344e7" /><Relationship Type="http://schemas.openxmlformats.org/officeDocument/2006/relationships/chart" Target="/ppt/slides/charts/chart4.xml" Id="R98e8f6516d9a42b9" /><Relationship Type="http://schemas.openxmlformats.org/officeDocument/2006/relationships/notesSlide" Target="/ppt/notesSlides/notesSlide7.xml" Id="Rb4587df77bfd42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aa1da186784ebd" /><Relationship Type="http://schemas.openxmlformats.org/officeDocument/2006/relationships/notesSlide" Target="/ppt/notesSlides/notesSlide8.xml" Id="R75f542ab668941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d21e81c53e4dff" /><Relationship Type="http://schemas.openxmlformats.org/officeDocument/2006/relationships/notesSlide" Target="/ppt/notesSlides/notesSlide9.xml" Id="Rdb5ba5063f7346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e1c53022b94695" /><Relationship Type="http://schemas.openxmlformats.org/officeDocument/2006/relationships/chart" Target="/ppt/slides/charts/chart5.xml" Id="R5601fab27fb142bc" /><Relationship Type="http://schemas.openxmlformats.org/officeDocument/2006/relationships/notesSlide" Target="/ppt/notesSlides/notesSlide10.xml" Id="Rb39f66e315ab4d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6074afcbe8e4ccf" /><Relationship Type="http://schemas.openxmlformats.org/officeDocument/2006/relationships/notesSlide" Target="/ppt/notesSlides/notesSlide11.xml" Id="R47a9b7379c274e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e549b80222d4f68" /><Relationship Type="http://schemas.openxmlformats.org/officeDocument/2006/relationships/notesSlide" Target="/ppt/notesSlides/notesSlide12.xml" Id="R100d3da759dd447d" /></Relationships>
</file>

<file path=ppt/slides/charts/chart1.xml><?xml version="1.0" encoding="utf-8"?>
<c:chartSpace xmlns:c="http://schemas.openxmlformats.org/drawingml/2006/chart">
  <c:lang val="en-US"/>
  <c:chart>
    <c:plotArea>
      <c:barChart>
        <c:barDir val="col"/>
        <c:grouping val="clustered"/>
        <c:varyColors val="0"/>
        <c:ser>
          <c:idx val="0"/>
          <c:order val="0"/>
          <c:tx>
            <c:v>石油探明率</c:v>
          </c:tx>
          <c:spPr>
            <a:solidFill xmlns:a="http://schemas.openxmlformats.org/drawingml/2006/main">
              <a:srgbClr val="B76E3D"/>
            </a:solidFill>
          </c:spPr>
          <c:cat>
            <c:strLit>
              <c:ptCount val="3"/>
              <c:pt idx="0">
                <c:v>浅水 &lt;400m</c:v>
              </c:pt>
              <c:pt idx="1">
                <c:v>深水 400-2000m</c:v>
              </c:pt>
              <c:pt idx="2">
                <c:v>超深水 &gt;2000m</c:v>
              </c:pt>
            </c:strLit>
          </c:cat>
          <c:val>
            <c:numLit>
              <c:formatCode>0.0</c:formatCode>
              <c:ptCount val="3"/>
              <c:pt idx="0">
                <c:v>28.05</c:v>
              </c:pt>
              <c:pt idx="1">
                <c:v>13.84</c:v>
              </c:pt>
              <c:pt idx="2">
                <c:v>7.69</c:v>
              </c:pt>
            </c:numLit>
          </c:val>
        </c:ser>
        <c:ser>
          <c:idx val="1"/>
          <c:order val="1"/>
          <c:tx>
            <c:v>天然气探明率</c:v>
          </c:tx>
          <c:spPr>
            <a:solidFill xmlns:a="http://schemas.openxmlformats.org/drawingml/2006/main">
              <a:srgbClr val="2F6B7C"/>
            </a:solidFill>
          </c:spPr>
          <c:cat>
            <c:strLit>
              <c:ptCount val="3"/>
              <c:pt idx="0">
                <c:v>浅水 &lt;400m</c:v>
              </c:pt>
              <c:pt idx="1">
                <c:v>深水 400-2000m</c:v>
              </c:pt>
              <c:pt idx="2">
                <c:v>超深水 &gt;2000m</c:v>
              </c:pt>
            </c:strLit>
          </c:cat>
          <c:val>
            <c:numLit>
              <c:formatCode>0.0</c:formatCode>
              <c:ptCount val="3"/>
              <c:pt idx="0">
                <c:v>38.55</c:v>
              </c:pt>
              <c:pt idx="1">
                <c:v>27.85</c:v>
              </c:pt>
              <c:pt idx="2">
                <c:v>7.55</c:v>
              </c:pt>
            </c:numLit>
          </c:val>
        </c:ser>
        <c:dLbls>
          <c:txPr>
            <a:bodyPr xmlns:a="http://schemas.openxmlformats.org/drawingml/2006/main" anchorCtr="1"/>
            <a:lstStyle xmlns:a="http://schemas.openxmlformats.org/drawingml/2006/main"/>
            <a:p xmlns:a="http://schemas.openxmlformats.org/drawingml/2006/main">
              <a:pPr>
                <a:defRPr sz="900" b="1">
                  <a:solidFill>
                    <a:srgbClr val="102A43"/>
                  </a:solidFil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CCCDC"/>
            </a:solidFill>
            <a:prstDash val="solid"/>
          </a:ln>
        </c:spPr>
        <c:txPr>
          <a:bodyPr xmlns:a="http://schemas.openxmlformats.org/drawingml/2006/main" anchorCtr="1"/>
          <a:lstStyle xmlns:a="http://schemas.openxmlformats.org/drawingml/2006/main"/>
          <a:p xmlns:a="http://schemas.openxmlformats.org/drawingml/2006/main">
            <a:pPr>
              <a:defRPr sz="975">
                <a:solidFill>
                  <a:srgbClr val="102A43"/>
                </a:solidFill>
              </a:defRPr>
            </a:pPr>
          </a:p>
        </c:txPr>
        <c:crossAx val="48672768"/>
      </c:catAx>
      <c:valAx>
        <c:axId val="48672768"/>
        <c:scaling>
          <c:orientation val="minMax"/>
          <c:max val="45"/>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27D98"/>
                </a:solidFill>
              </a:defRPr>
            </a:pPr>
          </a:p>
        </c:txPr>
        <c:crossAx val="48650112"/>
        <c:crossBetween val="between"/>
        <c:majorUnit val="10"/>
      </c:valAx>
      <c:spPr>
        <a:noFill xmlns:a="http://schemas.openxmlformats.org/drawingml/2006/main"/>
        <a:ln xmlns:a="http://schemas.openxmlformats.org/drawingml/2006/main" w="0">
          <a:solidFill>
            <a:srgbClr val="F7F5F0"/>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27D98"/>
              </a:solidFill>
            </a:defRPr>
          </a:pPr>
        </a:p>
      </c:txPr>
    </c:legend>
    <c:plotVisOnly val="1"/>
  </c:chart>
  <c:spPr>
    <a:solidFill xmlns:a="http://schemas.openxmlformats.org/drawingml/2006/main">
      <a:srgbClr val="F7F5F0"/>
    </a:solidFill>
    <a:ln xmlns:a="http://schemas.openxmlformats.org/drawingml/2006/main" w="0">
      <a:solidFill>
        <a:srgbClr val="F7F5F0"/>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深水原油</c:v>
          </c:tx>
          <c:spPr>
            <a:solidFill xmlns:a="http://schemas.openxmlformats.org/drawingml/2006/main">
              <a:srgbClr val="2F6B7C"/>
            </a:solidFill>
          </c:spPr>
          <c:cat>
            <c:strLit>
              <c:ptCount val="2"/>
              <c:pt idx="0">
                <c:v>2015</c:v>
              </c:pt>
              <c:pt idx="1">
                <c:v>2040E</c:v>
              </c:pt>
            </c:strLit>
          </c:cat>
          <c:val>
            <c:numLit>
              <c:formatCode>General</c:formatCode>
              <c:ptCount val="2"/>
              <c:pt idx="0">
                <c:v>6</c:v>
              </c:pt>
              <c:pt idx="1">
                <c:v>10</c:v>
              </c:pt>
            </c:numLit>
          </c:val>
        </c:ser>
        <c:dLbls>
          <c:txPr>
            <a:bodyPr xmlns:a="http://schemas.openxmlformats.org/drawingml/2006/main" anchorCtr="1"/>
            <a:lstStyle xmlns:a="http://schemas.openxmlformats.org/drawingml/2006/main"/>
            <a:p xmlns:a="http://schemas.openxmlformats.org/drawingml/2006/main">
              <a:pPr>
                <a:defRPr sz="900" b="1">
                  <a:solidFill>
                    <a:srgbClr val="102A43"/>
                  </a:solidFil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CCCDC"/>
            </a:solidFill>
            <a:prstDash val="solid"/>
          </a:ln>
        </c:spPr>
        <c:txPr>
          <a:bodyPr xmlns:a="http://schemas.openxmlformats.org/drawingml/2006/main" anchorCtr="1"/>
          <a:lstStyle xmlns:a="http://schemas.openxmlformats.org/drawingml/2006/main"/>
          <a:p xmlns:a="http://schemas.openxmlformats.org/drawingml/2006/main">
            <a:pPr>
              <a:defRPr sz="975">
                <a:solidFill>
                  <a:srgbClr val="102A43"/>
                </a:solidFill>
              </a:defRPr>
            </a:pPr>
          </a:p>
        </c:txPr>
        <c:crossAx val="48672768"/>
      </c:catAx>
      <c:valAx>
        <c:axId val="48672768"/>
        <c:scaling>
          <c:orientation val="minMax"/>
          <c:max val="12"/>
          <c:min val="0"/>
        </c:scaling>
        <c:delete val="0"/>
        <c:axPos val="l"/>
        <c:majorGridlines>
          <c:spPr>
            <a:ln xmlns:a="http://schemas.openxmlformats.org/drawingml/2006/main" w="9525">
              <a:solidFill>
                <a:srgbClr val="D9E2EC"/>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27D98"/>
                </a:solidFill>
              </a:defRPr>
            </a:pPr>
          </a:p>
        </c:txPr>
        <c:crossAx val="48650112"/>
        <c:crossBetween val="between"/>
        <c:majorUnit val="3"/>
      </c:valAx>
      <c:spPr>
        <a:noFill xmlns:a="http://schemas.openxmlformats.org/drawingml/2006/main"/>
        <a:ln xmlns:a="http://schemas.openxmlformats.org/drawingml/2006/main" w="0">
          <a:solidFill>
            <a:srgbClr val="F7F5F0"/>
          </a:solidFill>
          <a:prstDash val="solid"/>
        </a:ln>
      </c:spPr>
    </c:plotArea>
    <c:plotVisOnly val="1"/>
  </c:chart>
  <c:spPr>
    <a:solidFill xmlns:a="http://schemas.openxmlformats.org/drawingml/2006/main">
      <a:srgbClr val="F7F5F0"/>
    </a:solidFill>
    <a:ln xmlns:a="http://schemas.openxmlformats.org/drawingml/2006/main" w="0">
      <a:solidFill>
        <a:srgbClr val="F7F5F0"/>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深水天然气</c:v>
          </c:tx>
          <c:spPr>
            <a:solidFill xmlns:a="http://schemas.openxmlformats.org/drawingml/2006/main">
              <a:srgbClr val="B76E3D"/>
            </a:solidFill>
          </c:spPr>
          <c:cat>
            <c:strLit>
              <c:ptCount val="2"/>
              <c:pt idx="0">
                <c:v>2015</c:v>
              </c:pt>
              <c:pt idx="1">
                <c:v>2040E</c:v>
              </c:pt>
            </c:strLit>
          </c:cat>
          <c:val>
            <c:numLit>
              <c:formatCode>General</c:formatCode>
              <c:ptCount val="2"/>
              <c:pt idx="0">
                <c:v>83</c:v>
              </c:pt>
              <c:pt idx="1">
                <c:v>461</c:v>
              </c:pt>
            </c:numLit>
          </c:val>
        </c:ser>
        <c:dLbls>
          <c:txPr>
            <a:bodyPr xmlns:a="http://schemas.openxmlformats.org/drawingml/2006/main" anchorCtr="1"/>
            <a:lstStyle xmlns:a="http://schemas.openxmlformats.org/drawingml/2006/main"/>
            <a:p xmlns:a="http://schemas.openxmlformats.org/drawingml/2006/main">
              <a:pPr>
                <a:defRPr sz="900" b="1">
                  <a:solidFill>
                    <a:srgbClr val="102A43"/>
                  </a:solidFil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CCCDC"/>
            </a:solidFill>
            <a:prstDash val="solid"/>
          </a:ln>
        </c:spPr>
        <c:txPr>
          <a:bodyPr xmlns:a="http://schemas.openxmlformats.org/drawingml/2006/main" anchorCtr="1"/>
          <a:lstStyle xmlns:a="http://schemas.openxmlformats.org/drawingml/2006/main"/>
          <a:p xmlns:a="http://schemas.openxmlformats.org/drawingml/2006/main">
            <a:pPr>
              <a:defRPr sz="975">
                <a:solidFill>
                  <a:srgbClr val="102A43"/>
                </a:solidFill>
              </a:defRPr>
            </a:pPr>
          </a:p>
        </c:txPr>
        <c:crossAx val="48672768"/>
      </c:catAx>
      <c:valAx>
        <c:axId val="48672768"/>
        <c:scaling>
          <c:orientation val="minMax"/>
          <c:max val="500"/>
          <c:min val="0"/>
        </c:scaling>
        <c:delete val="0"/>
        <c:axPos val="l"/>
        <c:majorGridlines>
          <c:spPr>
            <a:ln xmlns:a="http://schemas.openxmlformats.org/drawingml/2006/main" w="9525">
              <a:solidFill>
                <a:srgbClr val="D9E2EC"/>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27D98"/>
                </a:solidFill>
              </a:defRPr>
            </a:pPr>
          </a:p>
        </c:txPr>
        <c:crossAx val="48650112"/>
        <c:crossBetween val="between"/>
        <c:majorUnit val="100"/>
      </c:valAx>
      <c:spPr>
        <a:noFill xmlns:a="http://schemas.openxmlformats.org/drawingml/2006/main"/>
        <a:ln xmlns:a="http://schemas.openxmlformats.org/drawingml/2006/main" w="0">
          <a:solidFill>
            <a:srgbClr val="F7F5F0"/>
          </a:solidFill>
          <a:prstDash val="solid"/>
        </a:ln>
      </c:spPr>
    </c:plotArea>
    <c:plotVisOnly val="1"/>
  </c:chart>
  <c:spPr>
    <a:solidFill xmlns:a="http://schemas.openxmlformats.org/drawingml/2006/main">
      <a:srgbClr val="F7F5F0"/>
    </a:solidFill>
    <a:ln xmlns:a="http://schemas.openxmlformats.org/drawingml/2006/main" w="0">
      <a:solidFill>
        <a:srgbClr val="F7F5F0"/>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2022</c:v>
          </c:tx>
          <c:spPr>
            <a:solidFill xmlns:a="http://schemas.openxmlformats.org/drawingml/2006/main">
              <a:srgbClr val="D9E2EC"/>
            </a:solidFill>
          </c:spPr>
          <c:cat>
            <c:strLit>
              <c:ptCount val="2"/>
              <c:pt idx="0">
                <c:v>净证实储量
亿桶油当量</c:v>
              </c:pt>
              <c:pt idx="1">
                <c:v>净产量
亿桶油当量</c:v>
              </c:pt>
            </c:strLit>
          </c:cat>
          <c:val>
            <c:numLit>
              <c:formatCode>General</c:formatCode>
              <c:ptCount val="2"/>
              <c:pt idx="0">
                <c:v>62.37</c:v>
              </c:pt>
              <c:pt idx="1">
                <c:v>6.24</c:v>
              </c:pt>
            </c:numLit>
          </c:val>
        </c:ser>
        <c:ser>
          <c:idx val="1"/>
          <c:order val="1"/>
          <c:tx>
            <c:v>2023</c:v>
          </c:tx>
          <c:spPr>
            <a:solidFill xmlns:a="http://schemas.openxmlformats.org/drawingml/2006/main">
              <a:srgbClr val="B76E3D"/>
            </a:solidFill>
          </c:spPr>
          <c:cat>
            <c:strLit>
              <c:ptCount val="2"/>
              <c:pt idx="0">
                <c:v>净证实储量
亿桶油当量</c:v>
              </c:pt>
              <c:pt idx="1">
                <c:v>净产量
亿桶油当量</c:v>
              </c:pt>
            </c:strLit>
          </c:cat>
          <c:val>
            <c:numLit>
              <c:formatCode>General</c:formatCode>
              <c:ptCount val="2"/>
              <c:pt idx="0">
                <c:v>67.8</c:v>
              </c:pt>
              <c:pt idx="1">
                <c:v>6.78</c:v>
              </c:pt>
            </c:numLit>
          </c:val>
        </c:ser>
        <c:dLbls>
          <c:txPr>
            <a:bodyPr xmlns:a="http://schemas.openxmlformats.org/drawingml/2006/main" anchorCtr="1"/>
            <a:lstStyle xmlns:a="http://schemas.openxmlformats.org/drawingml/2006/main"/>
            <a:p xmlns:a="http://schemas.openxmlformats.org/drawingml/2006/main">
              <a:pPr>
                <a:defRPr sz="900" b="1">
                  <a:solidFill>
                    <a:srgbClr val="102A43"/>
                  </a:solidFil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CCCDC"/>
            </a:solidFill>
            <a:prstDash val="solid"/>
          </a:ln>
        </c:spPr>
        <c:txPr>
          <a:bodyPr xmlns:a="http://schemas.openxmlformats.org/drawingml/2006/main" anchorCtr="1"/>
          <a:lstStyle xmlns:a="http://schemas.openxmlformats.org/drawingml/2006/main"/>
          <a:p xmlns:a="http://schemas.openxmlformats.org/drawingml/2006/main">
            <a:pPr>
              <a:defRPr sz="975">
                <a:solidFill>
                  <a:srgbClr val="102A43"/>
                </a:solidFill>
              </a:defRPr>
            </a:pPr>
          </a:p>
        </c:txPr>
        <c:crossAx val="48672768"/>
      </c:catAx>
      <c:valAx>
        <c:axId val="48672768"/>
        <c:scaling>
          <c:orientation val="minMax"/>
          <c:max val="75"/>
          <c:min val="0"/>
        </c:scaling>
        <c:delete val="0"/>
        <c:axPos val="l"/>
        <c:majorGridlines>
          <c:spPr>
            <a:ln xmlns:a="http://schemas.openxmlformats.org/drawingml/2006/main" w="9525">
              <a:solidFill>
                <a:srgbClr val="D9E2EC"/>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27D98"/>
                </a:solidFill>
              </a:defRPr>
            </a:pPr>
          </a:p>
        </c:txPr>
        <c:crossAx val="48650112"/>
        <c:crossBetween val="between"/>
        <c:majorUnit val="15"/>
      </c:valAx>
      <c:spPr>
        <a:noFill xmlns:a="http://schemas.openxmlformats.org/drawingml/2006/main"/>
        <a:ln xmlns:a="http://schemas.openxmlformats.org/drawingml/2006/main" w="0">
          <a:solidFill>
            <a:srgbClr val="F7F5F0"/>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27D98"/>
              </a:solidFill>
            </a:defRPr>
          </a:pPr>
        </a:p>
      </c:txPr>
    </c:legend>
    <c:plotVisOnly val="1"/>
  </c:chart>
  <c:spPr>
    <a:solidFill xmlns:a="http://schemas.openxmlformats.org/drawingml/2006/main">
      <a:srgbClr val="F7F5F0"/>
    </a:solidFill>
    <a:ln xmlns:a="http://schemas.openxmlformats.org/drawingml/2006/main" w="0">
      <a:solidFill>
        <a:srgbClr val="F7F5F0"/>
      </a:solidFill>
      <a:prstDash val="solid"/>
    </a:ln>
  </c:spPr>
</c:chartSpace>
</file>

<file path=ppt/slides/charts/chart5.xml><?xml version="1.0" encoding="utf-8"?>
<c:chartSpace xmlns:c="http://schemas.openxmlformats.org/drawingml/2006/chart">
  <c:lang val="en-US"/>
  <c:chart>
    <c:plotArea>
      <c:lineChart>
        <c:grouping val="standard"/>
        <c:ser>
          <c:idx val="0"/>
          <c:order val="0"/>
          <c:tx>
            <c:v>归母净利润（亿元）</c:v>
          </c:tx>
          <c:spPr>
            <a:ln xmlns:a="http://schemas.openxmlformats.org/drawingml/2006/main" w="38100">
              <a:solidFill>
                <a:srgbClr val="B76E3D"/>
              </a:solidFill>
              <a:prstDash val="solid"/>
            </a:ln>
          </c:spPr>
          <c:marker>
            <c:symbol val="circle"/>
            <c:size val="9"/>
            <c:spPr>
              <a:solidFill xmlns:a="http://schemas.openxmlformats.org/drawingml/2006/main">
                <a:srgbClr val="B76E3D"/>
              </a:solidFill>
            </c:spPr>
          </c:marker>
          <c:cat>
            <c:strLit>
              <c:ptCount val="4"/>
              <c:pt idx="0">
                <c:v>2023A</c:v>
              </c:pt>
              <c:pt idx="1">
                <c:v>2024E</c:v>
              </c:pt>
              <c:pt idx="2">
                <c:v>2025E</c:v>
              </c:pt>
              <c:pt idx="3">
                <c:v>2026E</c:v>
              </c:pt>
            </c:strLit>
          </c:cat>
          <c:val>
            <c:numLit>
              <c:formatCode>General</c:formatCode>
              <c:ptCount val="4"/>
              <c:pt idx="0">
                <c:v>1238</c:v>
              </c:pt>
              <c:pt idx="1">
                <c:v>1468</c:v>
              </c:pt>
              <c:pt idx="2">
                <c:v>1564</c:v>
              </c:pt>
              <c:pt idx="3">
                <c:v>1633</c:v>
              </c:pt>
            </c:numLit>
          </c:val>
        </c:ser>
        <c:dLbls>
          <c:txPr>
            <a:bodyPr xmlns:a="http://schemas.openxmlformats.org/drawingml/2006/main" anchorCtr="1"/>
            <a:lstStyle xmlns:a="http://schemas.openxmlformats.org/drawingml/2006/main"/>
            <a:p xmlns:a="http://schemas.openxmlformats.org/drawingml/2006/main">
              <a:pPr>
                <a:defRPr sz="900" b="1">
                  <a:solidFill>
                    <a:srgbClr val="102A43"/>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CCCDC"/>
            </a:solidFill>
            <a:prstDash val="solid"/>
          </a:ln>
        </c:spPr>
        <c:txPr>
          <a:bodyPr xmlns:a="http://schemas.openxmlformats.org/drawingml/2006/main" anchorCtr="1"/>
          <a:lstStyle xmlns:a="http://schemas.openxmlformats.org/drawingml/2006/main"/>
          <a:p xmlns:a="http://schemas.openxmlformats.org/drawingml/2006/main">
            <a:pPr>
              <a:defRPr sz="900">
                <a:solidFill>
                  <a:srgbClr val="102A43"/>
                </a:solidFill>
              </a:defRPr>
            </a:pPr>
          </a:p>
        </c:txPr>
        <c:crossAx val="48672768"/>
      </c:catAx>
      <c:valAx>
        <c:axId val="48672768"/>
        <c:scaling>
          <c:orientation val="minMax"/>
          <c:max val="1700"/>
          <c:min val="1100"/>
        </c:scaling>
        <c:delete val="0"/>
        <c:axPos val="l"/>
        <c:majorGridlines>
          <c:spPr>
            <a:ln xmlns:a="http://schemas.openxmlformats.org/drawingml/2006/main" w="9525">
              <a:solidFill>
                <a:srgbClr val="D9E2EC"/>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27D98"/>
                </a:solidFill>
              </a:defRPr>
            </a:pPr>
          </a:p>
        </c:txPr>
        <c:crossAx val="48650112"/>
        <c:crossBetween val="between"/>
        <c:majorUnit val="150"/>
      </c:valAx>
      <c:spPr>
        <a:noFill xmlns:a="http://schemas.openxmlformats.org/drawingml/2006/main"/>
        <a:ln xmlns:a="http://schemas.openxmlformats.org/drawingml/2006/main" w="0">
          <a:solidFill>
            <a:srgbClr val="F7F5F0"/>
          </a:solidFill>
          <a:prstDash val="solid"/>
        </a:ln>
      </c:spPr>
    </c:plotArea>
    <c:plotVisOnly val="1"/>
  </c:chart>
  <c:spPr>
    <a:solidFill xmlns:a="http://schemas.openxmlformats.org/drawingml/2006/main">
      <a:srgbClr val="F7F5F0"/>
    </a:solidFill>
    <a:ln xmlns:a="http://schemas.openxmlformats.org/drawingml/2006/main" w="0">
      <a:solidFill>
        <a:srgbClr val="F7F5F0"/>
      </a:solidFill>
      <a:prstDash val="solid"/>
    </a:ln>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5338ac72c0041e2"/>
          <a:srcRect xmlns:a="http://schemas.openxmlformats.org/drawingml/2006/main" l="23814" t="0" r="23814"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cover-left">
            <a:extLst xmlns:a="http://schemas.openxmlformats.org/drawingml/2006/main">
              <a:ext uri="{FF2B5EF4-FFF2-40B4-BE49-F238E27FC236}">
                <a16:creationId xmlns:a16="http://schemas.microsoft.com/office/drawing/2014/main" id="{17A29C63-F245-4A36-9A61-B838899B12B3}"/>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3" name="cover-copper">
            <a:extLst xmlns:a="http://schemas.openxmlformats.org/drawingml/2006/main">
              <a:ext uri="{FF2B5EF4-FFF2-40B4-BE49-F238E27FC236}">
                <a16:creationId xmlns:a16="http://schemas.microsoft.com/office/drawing/2014/main" id="{D392D4E5-BA1D-47AF-A436-5E42417B89F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B76E3D"/>
          </a:solidFill>
          <a:ln xmlns:a="http://schemas.openxmlformats.org/drawingml/2006/main" w="0">
            <a:noFill/>
            <a:prstDash val="solid"/>
          </a:ln>
        </p:spPr>
      </p:sp>
      <p:sp>
        <p:nvSpPr>
          <p:cNvPr id="4" name="cover-eyebrow">
            <a:extLst xmlns:a="http://schemas.openxmlformats.org/drawingml/2006/main">
              <a:ext uri="{FF2B5EF4-FFF2-40B4-BE49-F238E27FC236}">
                <a16:creationId xmlns:a16="http://schemas.microsoft.com/office/drawing/2014/main" id="{F3C79AA6-0A3A-4B3F-9008-0EBC6D842E5A}"/>
              </a:ext>
            </a:extLst>
          </p:cNvPr>
          <p:cNvSpPr>
            <a:spLocks xmlns:a="http://schemas.openxmlformats.org/drawingml/2006/main" noGrp="1"/>
          </p:cNvSpPr>
          <p:nvPr/>
        </p:nvSpPr>
        <p:spPr>
          <a:xfrm xmlns:a="http://schemas.openxmlformats.org/drawingml/2006/main">
            <a:off x="685800" y="6858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B76E3D"/>
                </a:solidFill>
                <a:latin typeface="Microsoft YaHei"/>
                <a:ea typeface="Microsoft YaHei"/>
                <a:cs typeface="Microsoft YaHei"/>
              </a:defRPr>
            </a:pPr>
            <a:r>
              <a:rPr sz="1125" b="1">
                <a:solidFill>
                  <a:srgbClr val="B76E3D"/>
                </a:solidFill>
                <a:latin typeface="Microsoft YaHei"/>
                <a:ea typeface="Microsoft YaHei"/>
                <a:cs typeface="Microsoft YaHei"/>
              </a:rPr>
              <a:t>CNOOC · PROFESSIONAL RESEARCH BRIEF</a:t>
            </a:r>
          </a:p>
        </p:txBody>
      </p:sp>
      <p:sp>
        <p:nvSpPr>
          <p:cNvPr id="5" name="cover-title">
            <a:extLst xmlns:a="http://schemas.openxmlformats.org/drawingml/2006/main">
              <a:ext uri="{FF2B5EF4-FFF2-40B4-BE49-F238E27FC236}">
                <a16:creationId xmlns:a16="http://schemas.microsoft.com/office/drawing/2014/main" id="{0E4EBE92-DD12-43C5-B859-CB61F58074F8}"/>
              </a:ext>
            </a:extLst>
          </p:cNvPr>
          <p:cNvSpPr>
            <a:spLocks xmlns:a="http://schemas.openxmlformats.org/drawingml/2006/main" noGrp="1"/>
          </p:cNvSpPr>
          <p:nvPr/>
        </p:nvSpPr>
        <p:spPr>
          <a:xfrm xmlns:a="http://schemas.openxmlformats.org/drawingml/2006/main">
            <a:off x="685800" y="1466850"/>
            <a:ext cx="4953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750" b="1">
                <a:solidFill>
                  <a:srgbClr val="FFFFFF"/>
                </a:solidFill>
                <a:latin typeface="Microsoft YaHei"/>
                <a:ea typeface="Microsoft YaHei"/>
                <a:cs typeface="Microsoft YaHei"/>
              </a:defRPr>
            </a:pPr>
            <a:r>
              <a:rPr sz="3750" b="1">
                <a:solidFill>
                  <a:srgbClr val="FFFFFF"/>
                </a:solidFill>
                <a:latin typeface="Microsoft YaHei"/>
                <a:ea typeface="Microsoft YaHei"/>
                <a:cs typeface="Microsoft YaHei"/>
              </a:rPr>
              <a:t>深水油气</a:t>
            </a:r>
          </a:p>
          <a:p xmlns:a="http://schemas.openxmlformats.org/drawingml/2006/main">
            <a:pPr algn="l">
              <a:defRPr sz="3750" b="1">
                <a:solidFill>
                  <a:srgbClr val="FFFFFF"/>
                </a:solidFill>
                <a:latin typeface="Microsoft YaHei"/>
                <a:ea typeface="Microsoft YaHei"/>
                <a:cs typeface="Microsoft YaHei"/>
              </a:defRPr>
            </a:pPr>
            <a:r>
              <a:rPr sz="3750" b="1">
                <a:solidFill>
                  <a:srgbClr val="FFFFFF"/>
                </a:solidFill>
                <a:latin typeface="Microsoft YaHei"/>
                <a:ea typeface="Microsoft YaHei"/>
                <a:cs typeface="Microsoft YaHei"/>
              </a:rPr>
              <a:t>正在成为新增供给主线</a:t>
            </a:r>
          </a:p>
        </p:txBody>
      </p:sp>
      <p:sp>
        <p:nvSpPr>
          <p:cNvPr id="6" name="cover-subtitle">
            <a:extLst xmlns:a="http://schemas.openxmlformats.org/drawingml/2006/main">
              <a:ext uri="{FF2B5EF4-FFF2-40B4-BE49-F238E27FC236}">
                <a16:creationId xmlns:a16="http://schemas.microsoft.com/office/drawing/2014/main" id="{C8576C6C-489A-4125-9580-74D2F9243462}"/>
              </a:ext>
            </a:extLst>
          </p:cNvPr>
          <p:cNvSpPr>
            <a:spLocks xmlns:a="http://schemas.openxmlformats.org/drawingml/2006/main" noGrp="1"/>
          </p:cNvSpPr>
          <p:nvPr/>
        </p:nvSpPr>
        <p:spPr>
          <a:xfrm xmlns:a="http://schemas.openxmlformats.org/drawingml/2006/main">
            <a:off x="685800" y="3581400"/>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D9E2EC"/>
                </a:solidFill>
                <a:latin typeface="Microsoft YaHei"/>
                <a:ea typeface="Microsoft YaHei"/>
                <a:cs typeface="Microsoft YaHei"/>
              </a:defRPr>
            </a:pPr>
            <a:r>
              <a:rPr sz="1800" b="0">
                <a:solidFill>
                  <a:srgbClr val="D9E2EC"/>
                </a:solidFill>
                <a:latin typeface="Microsoft YaHei"/>
                <a:ea typeface="Microsoft YaHei"/>
                <a:cs typeface="Microsoft YaHei"/>
              </a:rPr>
              <a:t>中国海油（600938.SH）资源、技术与估值逻辑</a:t>
            </a:r>
          </a:p>
        </p:txBody>
      </p:sp>
      <p:sp>
        <p:nvSpPr>
          <p:cNvPr id="7" name="">
            <a:extLst xmlns:a="http://schemas.openxmlformats.org/drawingml/2006/main">
              <a:ext uri="{FF2B5EF4-FFF2-40B4-BE49-F238E27FC236}">
                <a16:creationId xmlns:a16="http://schemas.microsoft.com/office/drawing/2014/main" id="{2C4EEC41-0450-4D65-8815-7AF8E453A448}"/>
              </a:ext>
            </a:extLst>
          </p:cNvPr>
          <p:cNvSpPr>
            <a:spLocks xmlns:a="http://schemas.openxmlformats.org/drawingml/2006/main" noGrp="1"/>
          </p:cNvSpPr>
          <p:nvPr/>
        </p:nvSpPr>
        <p:spPr>
          <a:xfrm xmlns:a="http://schemas.openxmlformats.org/drawingml/2006/main">
            <a:off x="685800" y="4743450"/>
            <a:ext cx="4095750" cy="28575"/>
          </a:xfrm>
          <a:prstGeom xmlns:a="http://schemas.openxmlformats.org/drawingml/2006/main" prst="line">
            <a:avLst/>
          </a:prstGeom>
          <a:noFill xmlns:a="http://schemas.openxmlformats.org/drawingml/2006/main"/>
          <a:ln xmlns:a="http://schemas.openxmlformats.org/drawingml/2006/main" w="28575">
            <a:solidFill>
              <a:srgbClr val="B76E3D"/>
            </a:solidFill>
            <a:prstDash val="solid"/>
          </a:ln>
        </p:spPr>
      </p:sp>
      <p:sp>
        <p:nvSpPr>
          <p:cNvPr id="8" name="cover-date">
            <a:extLst xmlns:a="http://schemas.openxmlformats.org/drawingml/2006/main">
              <a:ext uri="{FF2B5EF4-FFF2-40B4-BE49-F238E27FC236}">
                <a16:creationId xmlns:a16="http://schemas.microsoft.com/office/drawing/2014/main" id="{88F20340-8894-4643-860B-338239C65D31}"/>
              </a:ext>
            </a:extLst>
          </p:cNvPr>
          <p:cNvSpPr>
            <a:spLocks xmlns:a="http://schemas.openxmlformats.org/drawingml/2006/main" noGrp="1"/>
          </p:cNvSpPr>
          <p:nvPr/>
        </p:nvSpPr>
        <p:spPr>
          <a:xfrm xmlns:a="http://schemas.openxmlformats.org/drawingml/2006/main">
            <a:off x="685800" y="5048250"/>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D9E2EC"/>
                </a:solidFill>
                <a:latin typeface="Microsoft YaHei"/>
                <a:ea typeface="Microsoft YaHei"/>
                <a:cs typeface="Microsoft YaHei"/>
              </a:defRPr>
            </a:pPr>
            <a:r>
              <a:rPr sz="1275" b="0">
                <a:solidFill>
                  <a:srgbClr val="D9E2EC"/>
                </a:solidFill>
                <a:latin typeface="Microsoft YaHei"/>
                <a:ea typeface="Microsoft YaHei"/>
                <a:cs typeface="Microsoft YaHei"/>
              </a:rPr>
              <a:t>基于国信证券 2024-04-03 报告整理</a:t>
            </a:r>
          </a:p>
          <a:p xmlns:a="http://schemas.openxmlformats.org/drawingml/2006/main">
            <a:pPr algn="l">
              <a:defRPr sz="1275" b="0">
                <a:solidFill>
                  <a:srgbClr val="D9E2EC"/>
                </a:solidFill>
                <a:latin typeface="Microsoft YaHei"/>
                <a:ea typeface="Microsoft YaHei"/>
                <a:cs typeface="Microsoft YaHei"/>
              </a:defRPr>
            </a:pPr>
            <a:r>
              <a:rPr sz="1275" b="0">
                <a:solidFill>
                  <a:srgbClr val="D9E2EC"/>
                </a:solidFill>
                <a:latin typeface="Microsoft YaHei"/>
                <a:ea typeface="Microsoft YaHei"/>
                <a:cs typeface="Microsoft YaHei"/>
              </a:rPr>
              <a:t>数据截止：2024-04-02</a:t>
            </a:r>
          </a:p>
        </p:txBody>
      </p:sp>
    </p:spTree>
    <p:extLst>
      <p:ext uri="{BB962C8B-B14F-4D97-AF65-F5344CB8AC3E}">
        <p14:creationId xmlns:p14="http://schemas.microsoft.com/office/powerpoint/2010/main" val="19566150"/>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section-2">
            <a:extLst xmlns:a="http://schemas.openxmlformats.org/drawingml/2006/main">
              <a:ext uri="{FF2B5EF4-FFF2-40B4-BE49-F238E27FC236}">
                <a16:creationId xmlns:a16="http://schemas.microsoft.com/office/drawing/2014/main" id="{B778894E-8401-4F81-BD4B-C95409320969}"/>
              </a:ext>
            </a:extLst>
          </p:cNvPr>
          <p:cNvSpPr>
            <a:spLocks xmlns:a="http://schemas.openxmlformats.org/drawingml/2006/main" noGrp="1"/>
          </p:cNvSpPr>
          <p:nvPr/>
        </p:nvSpPr>
        <p:spPr>
          <a:xfrm xmlns:a="http://schemas.openxmlformats.org/drawingml/2006/main">
            <a:off x="53340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76E3D"/>
                </a:solidFill>
                <a:latin typeface="Microsoft YaHei"/>
                <a:ea typeface="Microsoft YaHei"/>
                <a:cs typeface="Microsoft YaHei"/>
              </a:defRPr>
            </a:pPr>
            <a:r>
              <a:rPr sz="1050" b="1">
                <a:solidFill>
                  <a:srgbClr val="B76E3D"/>
                </a:solidFill>
                <a:latin typeface="Microsoft YaHei"/>
                <a:ea typeface="Microsoft YaHei"/>
                <a:cs typeface="Microsoft YaHei"/>
              </a:rPr>
              <a:t>核心结论</a:t>
            </a:r>
          </a:p>
        </p:txBody>
      </p:sp>
      <p:sp>
        <p:nvSpPr>
          <p:cNvPr id="2" name="title-2">
            <a:extLst xmlns:a="http://schemas.openxmlformats.org/drawingml/2006/main">
              <a:ext uri="{FF2B5EF4-FFF2-40B4-BE49-F238E27FC236}">
                <a16:creationId xmlns:a16="http://schemas.microsoft.com/office/drawing/2014/main" id="{397CF077-A02B-4E59-986A-8CB91DC55ADC}"/>
              </a:ext>
            </a:extLst>
          </p:cNvPr>
          <p:cNvSpPr>
            <a:spLocks xmlns:a="http://schemas.openxmlformats.org/drawingml/2006/main" noGrp="1"/>
          </p:cNvSpPr>
          <p:nvPr/>
        </p:nvSpPr>
        <p:spPr>
          <a:xfrm xmlns:a="http://schemas.openxmlformats.org/drawingml/2006/main">
            <a:off x="533400" y="5524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2A43"/>
                </a:solidFill>
                <a:latin typeface="Microsoft YaHei"/>
                <a:ea typeface="Microsoft YaHei"/>
                <a:cs typeface="Microsoft YaHei"/>
              </a:defRPr>
            </a:pPr>
            <a:r>
              <a:rPr sz="2700" b="1">
                <a:solidFill>
                  <a:srgbClr val="102A43"/>
                </a:solidFill>
                <a:latin typeface="Microsoft YaHei"/>
                <a:ea typeface="Microsoft YaHei"/>
                <a:cs typeface="Microsoft YaHei"/>
              </a:rPr>
              <a:t>四个环节构成完整投资逻辑</a:t>
            </a:r>
          </a:p>
        </p:txBody>
      </p:sp>
      <p:sp>
        <p:nvSpPr>
          <p:cNvPr id="3" name="">
            <a:extLst xmlns:a="http://schemas.openxmlformats.org/drawingml/2006/main">
              <a:ext uri="{FF2B5EF4-FFF2-40B4-BE49-F238E27FC236}">
                <a16:creationId xmlns:a16="http://schemas.microsoft.com/office/drawing/2014/main" id="{C75F3B63-2E9F-4CAD-915A-AE5937EE0508}"/>
              </a:ext>
            </a:extLst>
          </p:cNvPr>
          <p:cNvSpPr>
            <a:spLocks xmlns:a="http://schemas.openxmlformats.org/drawingml/2006/main" noGrp="1"/>
          </p:cNvSpPr>
          <p:nvPr/>
        </p:nvSpPr>
        <p:spPr>
          <a:xfrm xmlns:a="http://schemas.openxmlformats.org/drawingml/2006/main">
            <a:off x="533400" y="1333500"/>
            <a:ext cx="111252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4" name="page-2">
            <a:extLst xmlns:a="http://schemas.openxmlformats.org/drawingml/2006/main">
              <a:ext uri="{FF2B5EF4-FFF2-40B4-BE49-F238E27FC236}">
                <a16:creationId xmlns:a16="http://schemas.microsoft.com/office/drawing/2014/main" id="{F986E4A8-ED56-4CEA-929E-7717C3225351}"/>
              </a:ext>
            </a:extLst>
          </p:cNvPr>
          <p:cNvSpPr>
            <a:spLocks xmlns:a="http://schemas.openxmlformats.org/drawingml/2006/main" noGrp="1"/>
          </p:cNvSpPr>
          <p:nvPr/>
        </p:nvSpPr>
        <p:spPr>
          <a:xfrm xmlns:a="http://schemas.openxmlformats.org/drawingml/2006/main">
            <a:off x="11144250" y="6438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02</a:t>
            </a:r>
          </a:p>
        </p:txBody>
      </p:sp>
      <p:sp>
        <p:nvSpPr>
          <p:cNvPr id="5" name="summary-no-0">
            <a:extLst xmlns:a="http://schemas.openxmlformats.org/drawingml/2006/main">
              <a:ext uri="{FF2B5EF4-FFF2-40B4-BE49-F238E27FC236}">
                <a16:creationId xmlns:a16="http://schemas.microsoft.com/office/drawing/2014/main" id="{BE86219D-82D5-4871-9A77-5AC17CF29CCC}"/>
              </a:ext>
            </a:extLst>
          </p:cNvPr>
          <p:cNvSpPr>
            <a:spLocks xmlns:a="http://schemas.openxmlformats.org/drawingml/2006/main" noGrp="1"/>
          </p:cNvSpPr>
          <p:nvPr/>
        </p:nvSpPr>
        <p:spPr>
          <a:xfrm xmlns:a="http://schemas.openxmlformats.org/drawingml/2006/main">
            <a:off x="628650" y="16764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2100" b="1">
                <a:solidFill>
                  <a:srgbClr val="B76E3D"/>
                </a:solidFill>
                <a:latin typeface="Microsoft YaHei"/>
                <a:ea typeface="Microsoft YaHei"/>
                <a:cs typeface="Microsoft YaHei"/>
              </a:defRPr>
            </a:pPr>
            <a:r>
              <a:rPr sz="2100" b="1">
                <a:solidFill>
                  <a:srgbClr val="B76E3D"/>
                </a:solidFill>
                <a:latin typeface="Microsoft YaHei"/>
                <a:ea typeface="Microsoft YaHei"/>
                <a:cs typeface="Microsoft YaHei"/>
              </a:rPr>
              <a:t>01</a:t>
            </a:r>
          </a:p>
        </p:txBody>
      </p:sp>
      <p:sp>
        <p:nvSpPr>
          <p:cNvPr id="6" name="summary-head-0">
            <a:extLst xmlns:a="http://schemas.openxmlformats.org/drawingml/2006/main">
              <a:ext uri="{FF2B5EF4-FFF2-40B4-BE49-F238E27FC236}">
                <a16:creationId xmlns:a16="http://schemas.microsoft.com/office/drawing/2014/main" id="{798F09F1-A810-4363-96B9-75430F26F01E}"/>
              </a:ext>
            </a:extLst>
          </p:cNvPr>
          <p:cNvSpPr>
            <a:spLocks xmlns:a="http://schemas.openxmlformats.org/drawingml/2006/main" noGrp="1"/>
          </p:cNvSpPr>
          <p:nvPr/>
        </p:nvSpPr>
        <p:spPr>
          <a:xfrm xmlns:a="http://schemas.openxmlformats.org/drawingml/2006/main">
            <a:off x="1371600" y="16764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2A43"/>
                </a:solidFill>
                <a:latin typeface="Microsoft YaHei"/>
                <a:ea typeface="Microsoft YaHei"/>
                <a:cs typeface="Microsoft YaHei"/>
              </a:defRPr>
            </a:pPr>
            <a:r>
              <a:rPr sz="1650" b="1">
                <a:solidFill>
                  <a:srgbClr val="102A43"/>
                </a:solidFill>
                <a:latin typeface="Microsoft YaHei"/>
                <a:ea typeface="Microsoft YaHei"/>
                <a:cs typeface="Microsoft YaHei"/>
              </a:rPr>
              <a:t>资源空间</a:t>
            </a:r>
          </a:p>
        </p:txBody>
      </p:sp>
      <p:sp>
        <p:nvSpPr>
          <p:cNvPr id="7" name="summary-body-0">
            <a:extLst xmlns:a="http://schemas.openxmlformats.org/drawingml/2006/main">
              <a:ext uri="{FF2B5EF4-FFF2-40B4-BE49-F238E27FC236}">
                <a16:creationId xmlns:a16="http://schemas.microsoft.com/office/drawing/2014/main" id="{258A2C75-4DE8-4CB9-8A57-640782293A29}"/>
              </a:ext>
            </a:extLst>
          </p:cNvPr>
          <p:cNvSpPr>
            <a:spLocks xmlns:a="http://schemas.openxmlformats.org/drawingml/2006/main" noGrp="1"/>
          </p:cNvSpPr>
          <p:nvPr/>
        </p:nvSpPr>
        <p:spPr>
          <a:xfrm xmlns:a="http://schemas.openxmlformats.org/drawingml/2006/main">
            <a:off x="1371600" y="20383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7D98"/>
                </a:solidFill>
                <a:latin typeface="Microsoft YaHei"/>
                <a:ea typeface="Microsoft YaHei"/>
                <a:cs typeface="Microsoft YaHei"/>
              </a:defRPr>
            </a:pPr>
            <a:r>
              <a:rPr sz="1275" b="0">
                <a:solidFill>
                  <a:srgbClr val="627D98"/>
                </a:solidFill>
                <a:latin typeface="Microsoft YaHei"/>
                <a:ea typeface="Microsoft YaHei"/>
                <a:cs typeface="Microsoft YaHei"/>
              </a:rPr>
              <a:t>深水与超深水探明率低，新增发现向海洋深部迁移。</a:t>
            </a:r>
          </a:p>
        </p:txBody>
      </p:sp>
      <p:sp>
        <p:nvSpPr>
          <p:cNvPr id="8" name="">
            <a:extLst xmlns:a="http://schemas.openxmlformats.org/drawingml/2006/main">
              <a:ext uri="{FF2B5EF4-FFF2-40B4-BE49-F238E27FC236}">
                <a16:creationId xmlns:a16="http://schemas.microsoft.com/office/drawing/2014/main" id="{03943699-6E27-4B1A-BC48-20FD7DBE9DD4}"/>
              </a:ext>
            </a:extLst>
          </p:cNvPr>
          <p:cNvSpPr>
            <a:spLocks xmlns:a="http://schemas.openxmlformats.org/drawingml/2006/main" noGrp="1"/>
          </p:cNvSpPr>
          <p:nvPr/>
        </p:nvSpPr>
        <p:spPr>
          <a:xfrm xmlns:a="http://schemas.openxmlformats.org/drawingml/2006/main">
            <a:off x="628650" y="2571750"/>
            <a:ext cx="52197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9" name="summary-no-1">
            <a:extLst xmlns:a="http://schemas.openxmlformats.org/drawingml/2006/main">
              <a:ext uri="{FF2B5EF4-FFF2-40B4-BE49-F238E27FC236}">
                <a16:creationId xmlns:a16="http://schemas.microsoft.com/office/drawing/2014/main" id="{860B435D-97B6-4FDD-A69D-03581B169DA9}"/>
              </a:ext>
            </a:extLst>
          </p:cNvPr>
          <p:cNvSpPr>
            <a:spLocks xmlns:a="http://schemas.openxmlformats.org/drawingml/2006/main" noGrp="1"/>
          </p:cNvSpPr>
          <p:nvPr/>
        </p:nvSpPr>
        <p:spPr>
          <a:xfrm xmlns:a="http://schemas.openxmlformats.org/drawingml/2006/main">
            <a:off x="628650" y="27051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2100" b="1">
                <a:solidFill>
                  <a:srgbClr val="B76E3D"/>
                </a:solidFill>
                <a:latin typeface="Microsoft YaHei"/>
                <a:ea typeface="Microsoft YaHei"/>
                <a:cs typeface="Microsoft YaHei"/>
              </a:defRPr>
            </a:pPr>
            <a:r>
              <a:rPr sz="2100" b="1">
                <a:solidFill>
                  <a:srgbClr val="B76E3D"/>
                </a:solidFill>
                <a:latin typeface="Microsoft YaHei"/>
                <a:ea typeface="Microsoft YaHei"/>
                <a:cs typeface="Microsoft YaHei"/>
              </a:rPr>
              <a:t>02</a:t>
            </a:r>
          </a:p>
        </p:txBody>
      </p:sp>
      <p:sp>
        <p:nvSpPr>
          <p:cNvPr id="10" name="summary-head-1">
            <a:extLst xmlns:a="http://schemas.openxmlformats.org/drawingml/2006/main">
              <a:ext uri="{FF2B5EF4-FFF2-40B4-BE49-F238E27FC236}">
                <a16:creationId xmlns:a16="http://schemas.microsoft.com/office/drawing/2014/main" id="{86095FCE-DCD1-4FFE-925A-B553FEE89B10}"/>
              </a:ext>
            </a:extLst>
          </p:cNvPr>
          <p:cNvSpPr>
            <a:spLocks xmlns:a="http://schemas.openxmlformats.org/drawingml/2006/main" noGrp="1"/>
          </p:cNvSpPr>
          <p:nvPr/>
        </p:nvSpPr>
        <p:spPr>
          <a:xfrm xmlns:a="http://schemas.openxmlformats.org/drawingml/2006/main">
            <a:off x="1371600" y="27051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2A43"/>
                </a:solidFill>
                <a:latin typeface="Microsoft YaHei"/>
                <a:ea typeface="Microsoft YaHei"/>
                <a:cs typeface="Microsoft YaHei"/>
              </a:defRPr>
            </a:pPr>
            <a:r>
              <a:rPr sz="1650" b="1">
                <a:solidFill>
                  <a:srgbClr val="102A43"/>
                </a:solidFill>
                <a:latin typeface="Microsoft YaHei"/>
                <a:ea typeface="Microsoft YaHei"/>
                <a:cs typeface="Microsoft YaHei"/>
              </a:rPr>
              <a:t>经济性改善</a:t>
            </a:r>
          </a:p>
        </p:txBody>
      </p:sp>
      <p:sp>
        <p:nvSpPr>
          <p:cNvPr id="11" name="summary-body-1">
            <a:extLst xmlns:a="http://schemas.openxmlformats.org/drawingml/2006/main">
              <a:ext uri="{FF2B5EF4-FFF2-40B4-BE49-F238E27FC236}">
                <a16:creationId xmlns:a16="http://schemas.microsoft.com/office/drawing/2014/main" id="{322E8C97-3EC3-4076-9DAE-CE88F696F171}"/>
              </a:ext>
            </a:extLst>
          </p:cNvPr>
          <p:cNvSpPr>
            <a:spLocks xmlns:a="http://schemas.openxmlformats.org/drawingml/2006/main" noGrp="1"/>
          </p:cNvSpPr>
          <p:nvPr/>
        </p:nvSpPr>
        <p:spPr>
          <a:xfrm xmlns:a="http://schemas.openxmlformats.org/drawingml/2006/main">
            <a:off x="1371600" y="30670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7D98"/>
                </a:solidFill>
                <a:latin typeface="Microsoft YaHei"/>
                <a:ea typeface="Microsoft YaHei"/>
                <a:cs typeface="Microsoft YaHei"/>
              </a:defRPr>
            </a:pPr>
            <a:r>
              <a:rPr sz="1275" b="0">
                <a:solidFill>
                  <a:srgbClr val="627D98"/>
                </a:solidFill>
                <a:latin typeface="Microsoft YaHei"/>
                <a:ea typeface="Microsoft YaHei"/>
                <a:cs typeface="Microsoft YaHei"/>
              </a:rPr>
              <a:t>钻完井效率提升、投产周期缩短、平衡油价下降。</a:t>
            </a:r>
          </a:p>
        </p:txBody>
      </p:sp>
      <p:sp>
        <p:nvSpPr>
          <p:cNvPr id="12" name="">
            <a:extLst xmlns:a="http://schemas.openxmlformats.org/drawingml/2006/main">
              <a:ext uri="{FF2B5EF4-FFF2-40B4-BE49-F238E27FC236}">
                <a16:creationId xmlns:a16="http://schemas.microsoft.com/office/drawing/2014/main" id="{BAECB4F1-391A-43A5-8F38-21ECF751A4A5}"/>
              </a:ext>
            </a:extLst>
          </p:cNvPr>
          <p:cNvSpPr>
            <a:spLocks xmlns:a="http://schemas.openxmlformats.org/drawingml/2006/main" noGrp="1"/>
          </p:cNvSpPr>
          <p:nvPr/>
        </p:nvSpPr>
        <p:spPr>
          <a:xfrm xmlns:a="http://schemas.openxmlformats.org/drawingml/2006/main">
            <a:off x="628650" y="3600450"/>
            <a:ext cx="52197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13" name="summary-no-2">
            <a:extLst xmlns:a="http://schemas.openxmlformats.org/drawingml/2006/main">
              <a:ext uri="{FF2B5EF4-FFF2-40B4-BE49-F238E27FC236}">
                <a16:creationId xmlns:a16="http://schemas.microsoft.com/office/drawing/2014/main" id="{91CBB672-8421-4CD3-82E5-EA7D651212DD}"/>
              </a:ext>
            </a:extLst>
          </p:cNvPr>
          <p:cNvSpPr>
            <a:spLocks xmlns:a="http://schemas.openxmlformats.org/drawingml/2006/main" noGrp="1"/>
          </p:cNvSpPr>
          <p:nvPr/>
        </p:nvSpPr>
        <p:spPr>
          <a:xfrm xmlns:a="http://schemas.openxmlformats.org/drawingml/2006/main">
            <a:off x="628650" y="37338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2100" b="1">
                <a:solidFill>
                  <a:srgbClr val="B76E3D"/>
                </a:solidFill>
                <a:latin typeface="Microsoft YaHei"/>
                <a:ea typeface="Microsoft YaHei"/>
                <a:cs typeface="Microsoft YaHei"/>
              </a:defRPr>
            </a:pPr>
            <a:r>
              <a:rPr sz="2100" b="1">
                <a:solidFill>
                  <a:srgbClr val="B76E3D"/>
                </a:solidFill>
                <a:latin typeface="Microsoft YaHei"/>
                <a:ea typeface="Microsoft YaHei"/>
                <a:cs typeface="Microsoft YaHei"/>
              </a:rPr>
              <a:t>03</a:t>
            </a:r>
          </a:p>
        </p:txBody>
      </p:sp>
      <p:sp>
        <p:nvSpPr>
          <p:cNvPr id="14" name="summary-head-2">
            <a:extLst xmlns:a="http://schemas.openxmlformats.org/drawingml/2006/main">
              <a:ext uri="{FF2B5EF4-FFF2-40B4-BE49-F238E27FC236}">
                <a16:creationId xmlns:a16="http://schemas.microsoft.com/office/drawing/2014/main" id="{073AE8B8-5156-45FC-B6ED-82D601DECE5C}"/>
              </a:ext>
            </a:extLst>
          </p:cNvPr>
          <p:cNvSpPr>
            <a:spLocks xmlns:a="http://schemas.openxmlformats.org/drawingml/2006/main" noGrp="1"/>
          </p:cNvSpPr>
          <p:nvPr/>
        </p:nvSpPr>
        <p:spPr>
          <a:xfrm xmlns:a="http://schemas.openxmlformats.org/drawingml/2006/main">
            <a:off x="1371600" y="37338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2A43"/>
                </a:solidFill>
                <a:latin typeface="Microsoft YaHei"/>
                <a:ea typeface="Microsoft YaHei"/>
                <a:cs typeface="Microsoft YaHei"/>
              </a:defRPr>
            </a:pPr>
            <a:r>
              <a:rPr sz="1650" b="1">
                <a:solidFill>
                  <a:srgbClr val="102A43"/>
                </a:solidFill>
                <a:latin typeface="Microsoft YaHei"/>
                <a:ea typeface="Microsoft YaHei"/>
                <a:cs typeface="Microsoft YaHei"/>
              </a:rPr>
              <a:t>公司兑现</a:t>
            </a:r>
          </a:p>
        </p:txBody>
      </p:sp>
      <p:sp>
        <p:nvSpPr>
          <p:cNvPr id="15" name="summary-body-2">
            <a:extLst xmlns:a="http://schemas.openxmlformats.org/drawingml/2006/main">
              <a:ext uri="{FF2B5EF4-FFF2-40B4-BE49-F238E27FC236}">
                <a16:creationId xmlns:a16="http://schemas.microsoft.com/office/drawing/2014/main" id="{E3DE6505-DCCD-4178-AC49-4B16313B1A6C}"/>
              </a:ext>
            </a:extLst>
          </p:cNvPr>
          <p:cNvSpPr>
            <a:spLocks xmlns:a="http://schemas.openxmlformats.org/drawingml/2006/main" noGrp="1"/>
          </p:cNvSpPr>
          <p:nvPr/>
        </p:nvSpPr>
        <p:spPr>
          <a:xfrm xmlns:a="http://schemas.openxmlformats.org/drawingml/2006/main">
            <a:off x="1371600" y="40957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7D98"/>
                </a:solidFill>
                <a:latin typeface="Microsoft YaHei"/>
                <a:ea typeface="Microsoft YaHei"/>
                <a:cs typeface="Microsoft YaHei"/>
              </a:defRPr>
            </a:pPr>
            <a:r>
              <a:rPr sz="1275" b="0">
                <a:solidFill>
                  <a:srgbClr val="627D98"/>
                </a:solidFill>
                <a:latin typeface="Microsoft YaHei"/>
                <a:ea typeface="Microsoft YaHei"/>
                <a:cs typeface="Microsoft YaHei"/>
              </a:rPr>
              <a:t>2023年储量与产量均增长8.7%，储量替代率180%。</a:t>
            </a:r>
          </a:p>
        </p:txBody>
      </p:sp>
      <p:sp>
        <p:nvSpPr>
          <p:cNvPr id="16" name="">
            <a:extLst xmlns:a="http://schemas.openxmlformats.org/drawingml/2006/main">
              <a:ext uri="{FF2B5EF4-FFF2-40B4-BE49-F238E27FC236}">
                <a16:creationId xmlns:a16="http://schemas.microsoft.com/office/drawing/2014/main" id="{A7FDEBE3-62FC-4B43-91D2-DB0C7D1BEC7C}"/>
              </a:ext>
            </a:extLst>
          </p:cNvPr>
          <p:cNvSpPr>
            <a:spLocks xmlns:a="http://schemas.openxmlformats.org/drawingml/2006/main" noGrp="1"/>
          </p:cNvSpPr>
          <p:nvPr/>
        </p:nvSpPr>
        <p:spPr>
          <a:xfrm xmlns:a="http://schemas.openxmlformats.org/drawingml/2006/main">
            <a:off x="628650" y="4629150"/>
            <a:ext cx="52197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17" name="summary-no-3">
            <a:extLst xmlns:a="http://schemas.openxmlformats.org/drawingml/2006/main">
              <a:ext uri="{FF2B5EF4-FFF2-40B4-BE49-F238E27FC236}">
                <a16:creationId xmlns:a16="http://schemas.microsoft.com/office/drawing/2014/main" id="{7B95229D-FF1B-40BB-BF43-71C9C5A0154C}"/>
              </a:ext>
            </a:extLst>
          </p:cNvPr>
          <p:cNvSpPr>
            <a:spLocks xmlns:a="http://schemas.openxmlformats.org/drawingml/2006/main" noGrp="1"/>
          </p:cNvSpPr>
          <p:nvPr/>
        </p:nvSpPr>
        <p:spPr>
          <a:xfrm xmlns:a="http://schemas.openxmlformats.org/drawingml/2006/main">
            <a:off x="628650" y="47625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2100" b="1">
                <a:solidFill>
                  <a:srgbClr val="B76E3D"/>
                </a:solidFill>
                <a:latin typeface="Microsoft YaHei"/>
                <a:ea typeface="Microsoft YaHei"/>
                <a:cs typeface="Microsoft YaHei"/>
              </a:defRPr>
            </a:pPr>
            <a:r>
              <a:rPr sz="2100" b="1">
                <a:solidFill>
                  <a:srgbClr val="B76E3D"/>
                </a:solidFill>
                <a:latin typeface="Microsoft YaHei"/>
                <a:ea typeface="Microsoft YaHei"/>
                <a:cs typeface="Microsoft YaHei"/>
              </a:rPr>
              <a:t>04</a:t>
            </a:r>
          </a:p>
        </p:txBody>
      </p:sp>
      <p:sp>
        <p:nvSpPr>
          <p:cNvPr id="18" name="summary-head-3">
            <a:extLst xmlns:a="http://schemas.openxmlformats.org/drawingml/2006/main">
              <a:ext uri="{FF2B5EF4-FFF2-40B4-BE49-F238E27FC236}">
                <a16:creationId xmlns:a16="http://schemas.microsoft.com/office/drawing/2014/main" id="{B883A62A-86C9-4347-B173-E2A340376ADE}"/>
              </a:ext>
            </a:extLst>
          </p:cNvPr>
          <p:cNvSpPr>
            <a:spLocks xmlns:a="http://schemas.openxmlformats.org/drawingml/2006/main" noGrp="1"/>
          </p:cNvSpPr>
          <p:nvPr/>
        </p:nvSpPr>
        <p:spPr>
          <a:xfrm xmlns:a="http://schemas.openxmlformats.org/drawingml/2006/main">
            <a:off x="1371600" y="47625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2A43"/>
                </a:solidFill>
                <a:latin typeface="Microsoft YaHei"/>
                <a:ea typeface="Microsoft YaHei"/>
                <a:cs typeface="Microsoft YaHei"/>
              </a:defRPr>
            </a:pPr>
            <a:r>
              <a:rPr sz="1650" b="1">
                <a:solidFill>
                  <a:srgbClr val="102A43"/>
                </a:solidFill>
                <a:latin typeface="Microsoft YaHei"/>
                <a:ea typeface="Microsoft YaHei"/>
                <a:cs typeface="Microsoft YaHei"/>
              </a:rPr>
              <a:t>估值支撑</a:t>
            </a:r>
          </a:p>
        </p:txBody>
      </p:sp>
      <p:sp>
        <p:nvSpPr>
          <p:cNvPr id="19" name="summary-body-3">
            <a:extLst xmlns:a="http://schemas.openxmlformats.org/drawingml/2006/main">
              <a:ext uri="{FF2B5EF4-FFF2-40B4-BE49-F238E27FC236}">
                <a16:creationId xmlns:a16="http://schemas.microsoft.com/office/drawing/2014/main" id="{E1E63F58-98E6-45D9-A675-B2134CF655D5}"/>
              </a:ext>
            </a:extLst>
          </p:cNvPr>
          <p:cNvSpPr>
            <a:spLocks xmlns:a="http://schemas.openxmlformats.org/drawingml/2006/main" noGrp="1"/>
          </p:cNvSpPr>
          <p:nvPr/>
        </p:nvSpPr>
        <p:spPr>
          <a:xfrm xmlns:a="http://schemas.openxmlformats.org/drawingml/2006/main">
            <a:off x="1371600" y="51244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7D98"/>
                </a:solidFill>
                <a:latin typeface="Microsoft YaHei"/>
                <a:ea typeface="Microsoft YaHei"/>
                <a:cs typeface="Microsoft YaHei"/>
              </a:defRPr>
            </a:pPr>
            <a:r>
              <a:rPr sz="1275" b="0">
                <a:solidFill>
                  <a:srgbClr val="627D98"/>
                </a:solidFill>
                <a:latin typeface="Microsoft YaHei"/>
                <a:ea typeface="Microsoft YaHei"/>
                <a:cs typeface="Microsoft YaHei"/>
              </a:rPr>
              <a:t>原报告预测2024-2026年A股PE由9.7倍降至8.7倍。</a:t>
            </a:r>
          </a:p>
        </p:txBody>
      </p:sp>
      <p:sp>
        <p:nvSpPr>
          <p:cNvPr id="20" name="summary-thesis">
            <a:extLst xmlns:a="http://schemas.openxmlformats.org/drawingml/2006/main">
              <a:ext uri="{FF2B5EF4-FFF2-40B4-BE49-F238E27FC236}">
                <a16:creationId xmlns:a16="http://schemas.microsoft.com/office/drawing/2014/main" id="{371D0D43-6E8A-4216-B137-ACF8B12FB454}"/>
              </a:ext>
            </a:extLst>
          </p:cNvPr>
          <p:cNvSpPr>
            <a:spLocks xmlns:a="http://schemas.openxmlformats.org/drawingml/2006/main" noGrp="1"/>
          </p:cNvSpPr>
          <p:nvPr/>
        </p:nvSpPr>
        <p:spPr>
          <a:xfrm xmlns:a="http://schemas.openxmlformats.org/drawingml/2006/main">
            <a:off x="6477000" y="1676400"/>
            <a:ext cx="5143500" cy="3962400"/>
          </a:xfrm>
          <a:prstGeom xmlns:a="http://schemas.openxmlformats.org/drawingml/2006/main" prst="roundRect">
            <a:avLst>
              <a:gd name="adj" fmla="val 1923"/>
            </a:avLst>
          </a:prstGeom>
          <a:solidFill xmlns:a="http://schemas.openxmlformats.org/drawingml/2006/main">
            <a:srgbClr val="102A43"/>
          </a:solidFill>
          <a:ln xmlns:a="http://schemas.openxmlformats.org/drawingml/2006/main" w="0">
            <a:noFill/>
            <a:prstDash val="solid"/>
          </a:ln>
        </p:spPr>
      </p:sp>
      <p:sp>
        <p:nvSpPr>
          <p:cNvPr id="21" name="summary-thesis-label">
            <a:extLst xmlns:a="http://schemas.openxmlformats.org/drawingml/2006/main">
              <a:ext uri="{FF2B5EF4-FFF2-40B4-BE49-F238E27FC236}">
                <a16:creationId xmlns:a16="http://schemas.microsoft.com/office/drawing/2014/main" id="{12C9167D-3DDB-48D6-9470-F90C5A328BF6}"/>
              </a:ext>
            </a:extLst>
          </p:cNvPr>
          <p:cNvSpPr>
            <a:spLocks xmlns:a="http://schemas.openxmlformats.org/drawingml/2006/main" noGrp="1"/>
          </p:cNvSpPr>
          <p:nvPr/>
        </p:nvSpPr>
        <p:spPr>
          <a:xfrm xmlns:a="http://schemas.openxmlformats.org/drawingml/2006/main">
            <a:off x="6877050" y="2038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B76E3D"/>
                </a:solidFill>
                <a:latin typeface="Microsoft YaHei"/>
                <a:ea typeface="Microsoft YaHei"/>
                <a:cs typeface="Microsoft YaHei"/>
              </a:defRPr>
            </a:pPr>
            <a:r>
              <a:rPr sz="1200" b="1">
                <a:solidFill>
                  <a:srgbClr val="B76E3D"/>
                </a:solidFill>
                <a:latin typeface="Microsoft YaHei"/>
                <a:ea typeface="Microsoft YaHei"/>
                <a:cs typeface="Microsoft YaHei"/>
              </a:rPr>
              <a:t>核心判断</a:t>
            </a:r>
          </a:p>
        </p:txBody>
      </p:sp>
      <p:sp>
        <p:nvSpPr>
          <p:cNvPr id="22" name="summary-thesis-main">
            <a:extLst xmlns:a="http://schemas.openxmlformats.org/drawingml/2006/main">
              <a:ext uri="{FF2B5EF4-FFF2-40B4-BE49-F238E27FC236}">
                <a16:creationId xmlns:a16="http://schemas.microsoft.com/office/drawing/2014/main" id="{2E3453EB-738D-4555-9D1B-719EFDBCB61E}"/>
              </a:ext>
            </a:extLst>
          </p:cNvPr>
          <p:cNvSpPr>
            <a:spLocks xmlns:a="http://schemas.openxmlformats.org/drawingml/2006/main" noGrp="1"/>
          </p:cNvSpPr>
          <p:nvPr/>
        </p:nvSpPr>
        <p:spPr>
          <a:xfrm xmlns:a="http://schemas.openxmlformats.org/drawingml/2006/main">
            <a:off x="6877050" y="2571750"/>
            <a:ext cx="4191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资源禀赋决定上限，</a:t>
            </a:r>
          </a:p>
          <a:p xmlns:a="http://schemas.openxmlformats.org/drawingml/2006/main">
            <a:pPr algn="l">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技术降本决定兑现速度。</a:t>
            </a:r>
          </a:p>
        </p:txBody>
      </p:sp>
      <p:sp>
        <p:nvSpPr>
          <p:cNvPr id="23" name="summary-thesis-sub">
            <a:extLst xmlns:a="http://schemas.openxmlformats.org/drawingml/2006/main">
              <a:ext uri="{FF2B5EF4-FFF2-40B4-BE49-F238E27FC236}">
                <a16:creationId xmlns:a16="http://schemas.microsoft.com/office/drawing/2014/main" id="{A839A6B7-7954-4997-87F6-0F3F15C28645}"/>
              </a:ext>
            </a:extLst>
          </p:cNvPr>
          <p:cNvSpPr>
            <a:spLocks xmlns:a="http://schemas.openxmlformats.org/drawingml/2006/main" noGrp="1"/>
          </p:cNvSpPr>
          <p:nvPr/>
        </p:nvSpPr>
        <p:spPr>
          <a:xfrm xmlns:a="http://schemas.openxmlformats.org/drawingml/2006/main">
            <a:off x="6877050" y="4095750"/>
            <a:ext cx="4095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D9E2EC"/>
                </a:solidFill>
                <a:latin typeface="Microsoft YaHei"/>
                <a:ea typeface="Microsoft YaHei"/>
                <a:cs typeface="Microsoft YaHei"/>
              </a:defRPr>
            </a:pPr>
            <a:r>
              <a:rPr sz="1500" b="0">
                <a:solidFill>
                  <a:srgbClr val="D9E2EC"/>
                </a:solidFill>
                <a:latin typeface="Microsoft YaHei"/>
                <a:ea typeface="Microsoft YaHei"/>
                <a:cs typeface="Microsoft YaHei"/>
              </a:rPr>
              <a:t>中国海油同时具备国内增储上产政策位置、深水工程能力和持续资本投入，形成相对完整的中长期成长闭环。</a:t>
            </a:r>
          </a:p>
        </p:txBody>
      </p:sp>
      <p:sp>
        <p:nvSpPr>
          <p:cNvPr id="24" name="source-1-4、17-18">
            <a:extLst xmlns:a="http://schemas.openxmlformats.org/drawingml/2006/main">
              <a:ext uri="{FF2B5EF4-FFF2-40B4-BE49-F238E27FC236}">
                <a16:creationId xmlns:a16="http://schemas.microsoft.com/office/drawing/2014/main" id="{7B3D68E2-8C41-4379-8656-33E6EA79E11F}"/>
              </a:ext>
            </a:extLst>
          </p:cNvPr>
          <p:cNvSpPr>
            <a:spLocks xmlns:a="http://schemas.openxmlformats.org/drawingml/2006/main" noGrp="1"/>
          </p:cNvSpPr>
          <p:nvPr/>
        </p:nvSpPr>
        <p:spPr>
          <a:xfrm xmlns:a="http://schemas.openxmlformats.org/drawingml/2006/main">
            <a:off x="533400" y="64198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0">
                <a:solidFill>
                  <a:srgbClr val="627D98"/>
                </a:solidFill>
                <a:latin typeface="Microsoft YaHei"/>
                <a:ea typeface="Microsoft YaHei"/>
                <a:cs typeface="Microsoft YaHei"/>
              </a:defRPr>
            </a:pPr>
            <a:r>
              <a:rPr sz="825" b="0">
                <a:solidFill>
                  <a:srgbClr val="627D98"/>
                </a:solidFill>
                <a:latin typeface="Microsoft YaHei"/>
                <a:ea typeface="Microsoft YaHei"/>
                <a:cs typeface="Microsoft YaHei"/>
              </a:rPr>
              <a:t>资料来源：国信证券《深水、超深水油气资源前景广阔》，2024-04-03，第1-4、17-18页</a:t>
            </a:r>
          </a:p>
        </p:txBody>
      </p:sp>
    </p:spTree>
    <p:extLst>
      <p:ext uri="{BB962C8B-B14F-4D97-AF65-F5344CB8AC3E}">
        <p14:creationId xmlns:p14="http://schemas.microsoft.com/office/powerpoint/2010/main" val="1809179764"/>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section-3">
            <a:extLst xmlns:a="http://schemas.openxmlformats.org/drawingml/2006/main">
              <a:ext uri="{FF2B5EF4-FFF2-40B4-BE49-F238E27FC236}">
                <a16:creationId xmlns:a16="http://schemas.microsoft.com/office/drawing/2014/main" id="{ACCBBA9B-B971-4877-89B3-AC844C8215CF}"/>
              </a:ext>
            </a:extLst>
          </p:cNvPr>
          <p:cNvSpPr>
            <a:spLocks xmlns:a="http://schemas.openxmlformats.org/drawingml/2006/main" noGrp="1"/>
          </p:cNvSpPr>
          <p:nvPr/>
        </p:nvSpPr>
        <p:spPr>
          <a:xfrm xmlns:a="http://schemas.openxmlformats.org/drawingml/2006/main">
            <a:off x="53340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76E3D"/>
                </a:solidFill>
                <a:latin typeface="Microsoft YaHei"/>
                <a:ea typeface="Microsoft YaHei"/>
                <a:cs typeface="Microsoft YaHei"/>
              </a:defRPr>
            </a:pPr>
            <a:r>
              <a:rPr sz="1050" b="1">
                <a:solidFill>
                  <a:srgbClr val="B76E3D"/>
                </a:solidFill>
                <a:latin typeface="Microsoft YaHei"/>
                <a:ea typeface="Microsoft YaHei"/>
                <a:cs typeface="Microsoft YaHei"/>
              </a:rPr>
              <a:t>行业空间</a:t>
            </a:r>
          </a:p>
        </p:txBody>
      </p:sp>
      <p:sp>
        <p:nvSpPr>
          <p:cNvPr id="2" name="title-3">
            <a:extLst xmlns:a="http://schemas.openxmlformats.org/drawingml/2006/main">
              <a:ext uri="{FF2B5EF4-FFF2-40B4-BE49-F238E27FC236}">
                <a16:creationId xmlns:a16="http://schemas.microsoft.com/office/drawing/2014/main" id="{F82EE071-B420-4DA5-BC44-CD3A9ED8525E}"/>
              </a:ext>
            </a:extLst>
          </p:cNvPr>
          <p:cNvSpPr>
            <a:spLocks xmlns:a="http://schemas.openxmlformats.org/drawingml/2006/main" noGrp="1"/>
          </p:cNvSpPr>
          <p:nvPr/>
        </p:nvSpPr>
        <p:spPr>
          <a:xfrm xmlns:a="http://schemas.openxmlformats.org/drawingml/2006/main">
            <a:off x="533400" y="5524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2A43"/>
                </a:solidFill>
                <a:latin typeface="Microsoft YaHei"/>
                <a:ea typeface="Microsoft YaHei"/>
                <a:cs typeface="Microsoft YaHei"/>
              </a:defRPr>
            </a:pPr>
            <a:r>
              <a:rPr sz="2700" b="1">
                <a:solidFill>
                  <a:srgbClr val="102A43"/>
                </a:solidFill>
                <a:latin typeface="Microsoft YaHei"/>
                <a:ea typeface="Microsoft YaHei"/>
                <a:cs typeface="Microsoft YaHei"/>
              </a:rPr>
              <a:t>水深越大，资源探明率越低</a:t>
            </a:r>
          </a:p>
        </p:txBody>
      </p:sp>
      <p:sp>
        <p:nvSpPr>
          <p:cNvPr id="3" name="">
            <a:extLst xmlns:a="http://schemas.openxmlformats.org/drawingml/2006/main">
              <a:ext uri="{FF2B5EF4-FFF2-40B4-BE49-F238E27FC236}">
                <a16:creationId xmlns:a16="http://schemas.microsoft.com/office/drawing/2014/main" id="{EB4BAB7B-405F-4561-B18F-DC9311400026}"/>
              </a:ext>
            </a:extLst>
          </p:cNvPr>
          <p:cNvSpPr>
            <a:spLocks xmlns:a="http://schemas.openxmlformats.org/drawingml/2006/main" noGrp="1"/>
          </p:cNvSpPr>
          <p:nvPr/>
        </p:nvSpPr>
        <p:spPr>
          <a:xfrm xmlns:a="http://schemas.openxmlformats.org/drawingml/2006/main">
            <a:off x="533400" y="1333500"/>
            <a:ext cx="111252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4" name="page-3">
            <a:extLst xmlns:a="http://schemas.openxmlformats.org/drawingml/2006/main">
              <a:ext uri="{FF2B5EF4-FFF2-40B4-BE49-F238E27FC236}">
                <a16:creationId xmlns:a16="http://schemas.microsoft.com/office/drawing/2014/main" id="{9C58061D-01D6-4F9C-A914-8B5F4EEF2844}"/>
              </a:ext>
            </a:extLst>
          </p:cNvPr>
          <p:cNvSpPr>
            <a:spLocks xmlns:a="http://schemas.openxmlformats.org/drawingml/2006/main" noGrp="1"/>
          </p:cNvSpPr>
          <p:nvPr/>
        </p:nvSpPr>
        <p:spPr>
          <a:xfrm xmlns:a="http://schemas.openxmlformats.org/drawingml/2006/main">
            <a:off x="11144250" y="6438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03</a:t>
            </a:r>
          </a:p>
        </p:txBody>
      </p:sp>
      <p:graphicFrame>
        <p:nvGraphicFramePr>
          <p:cNvPr id="16" name="Chart"/>
          <p:cNvGraphicFramePr/>
          <p:nvPr/>
        </p:nvGraphicFramePr>
        <p:xfrm>
          <a:off xmlns:a="http://schemas.openxmlformats.org/drawingml/2006/main" x="533400" y="158115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1a7a7830a4b048f9"/>
          </a:graphicData>
        </a:graphic>
      </p:graphicFrame>
      <p:sp>
        <p:nvSpPr>
          <p:cNvPr id="6" name="explore-callout">
            <a:extLst xmlns:a="http://schemas.openxmlformats.org/drawingml/2006/main">
              <a:ext uri="{FF2B5EF4-FFF2-40B4-BE49-F238E27FC236}">
                <a16:creationId xmlns:a16="http://schemas.microsoft.com/office/drawing/2014/main" id="{3C3E58D7-9BE7-437A-B080-C9B9E4898946}"/>
              </a:ext>
            </a:extLst>
          </p:cNvPr>
          <p:cNvSpPr>
            <a:spLocks xmlns:a="http://schemas.openxmlformats.org/drawingml/2006/main" noGrp="1"/>
          </p:cNvSpPr>
          <p:nvPr/>
        </p:nvSpPr>
        <p:spPr>
          <a:xfrm xmlns:a="http://schemas.openxmlformats.org/drawingml/2006/main">
            <a:off x="8210550" y="1581150"/>
            <a:ext cx="3429000" cy="409575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BCCCDC"/>
            </a:solidFill>
            <a:prstDash val="solid"/>
          </a:ln>
        </p:spPr>
      </p:sp>
      <p:sp>
        <p:nvSpPr>
          <p:cNvPr id="7" name="explore-callout-kpi">
            <a:extLst xmlns:a="http://schemas.openxmlformats.org/drawingml/2006/main">
              <a:ext uri="{FF2B5EF4-FFF2-40B4-BE49-F238E27FC236}">
                <a16:creationId xmlns:a16="http://schemas.microsoft.com/office/drawing/2014/main" id="{6B7E7F45-74DB-4DF9-BB97-6D7E90680A36}"/>
              </a:ext>
            </a:extLst>
          </p:cNvPr>
          <p:cNvSpPr>
            <a:spLocks xmlns:a="http://schemas.openxmlformats.org/drawingml/2006/main" noGrp="1"/>
          </p:cNvSpPr>
          <p:nvPr/>
        </p:nvSpPr>
        <p:spPr>
          <a:xfrm xmlns:a="http://schemas.openxmlformats.org/drawingml/2006/main">
            <a:off x="8572500" y="198120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927"/>
          </a:bodyPr>
          <a:lstStyle xmlns:a="http://schemas.openxmlformats.org/drawingml/2006/main"/>
          <a:p xmlns:a="http://schemas.openxmlformats.org/drawingml/2006/main">
            <a:pPr algn="l">
              <a:defRPr sz="3450" b="1">
                <a:solidFill>
                  <a:srgbClr val="B76E3D"/>
                </a:solidFill>
                <a:latin typeface="Microsoft YaHei"/>
                <a:ea typeface="Microsoft YaHei"/>
                <a:cs typeface="Microsoft YaHei"/>
              </a:defRPr>
            </a:pPr>
            <a:r>
              <a:rPr sz="3450" b="1">
                <a:solidFill>
                  <a:srgbClr val="B76E3D"/>
                </a:solidFill>
                <a:latin typeface="Microsoft YaHei"/>
                <a:ea typeface="Microsoft YaHei"/>
                <a:cs typeface="Microsoft YaHei"/>
              </a:rPr>
              <a:t>≈ 7.6%</a:t>
            </a:r>
          </a:p>
        </p:txBody>
      </p:sp>
      <p:sp>
        <p:nvSpPr>
          <p:cNvPr id="8" name="explore-callout-head">
            <a:extLst xmlns:a="http://schemas.openxmlformats.org/drawingml/2006/main">
              <a:ext uri="{FF2B5EF4-FFF2-40B4-BE49-F238E27FC236}">
                <a16:creationId xmlns:a16="http://schemas.microsoft.com/office/drawing/2014/main" id="{C0856B52-0D16-4C05-88C5-31175918B6BA}"/>
              </a:ext>
            </a:extLst>
          </p:cNvPr>
          <p:cNvSpPr>
            <a:spLocks xmlns:a="http://schemas.openxmlformats.org/drawingml/2006/main" noGrp="1"/>
          </p:cNvSpPr>
          <p:nvPr/>
        </p:nvSpPr>
        <p:spPr>
          <a:xfrm xmlns:a="http://schemas.openxmlformats.org/drawingml/2006/main">
            <a:off x="8572500" y="26860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2A43"/>
                </a:solidFill>
                <a:latin typeface="Microsoft YaHei"/>
                <a:ea typeface="Microsoft YaHei"/>
                <a:cs typeface="Microsoft YaHei"/>
              </a:defRPr>
            </a:pPr>
            <a:r>
              <a:rPr sz="1650" b="1">
                <a:solidFill>
                  <a:srgbClr val="102A43"/>
                </a:solidFill>
                <a:latin typeface="Microsoft YaHei"/>
                <a:ea typeface="Microsoft YaHei"/>
                <a:cs typeface="Microsoft YaHei"/>
              </a:rPr>
              <a:t>超深水油气探明率</a:t>
            </a:r>
          </a:p>
        </p:txBody>
      </p:sp>
      <p:sp>
        <p:nvSpPr>
          <p:cNvPr id="9" name="explore-callout-body">
            <a:extLst xmlns:a="http://schemas.openxmlformats.org/drawingml/2006/main">
              <a:ext uri="{FF2B5EF4-FFF2-40B4-BE49-F238E27FC236}">
                <a16:creationId xmlns:a16="http://schemas.microsoft.com/office/drawing/2014/main" id="{59C4C880-C2FB-4FCB-853C-5301D832AE79}"/>
              </a:ext>
            </a:extLst>
          </p:cNvPr>
          <p:cNvSpPr>
            <a:spLocks xmlns:a="http://schemas.openxmlformats.org/drawingml/2006/main" noGrp="1"/>
          </p:cNvSpPr>
          <p:nvPr/>
        </p:nvSpPr>
        <p:spPr>
          <a:xfrm xmlns:a="http://schemas.openxmlformats.org/drawingml/2006/main">
            <a:off x="8572500" y="3276600"/>
            <a:ext cx="2619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7D98"/>
                </a:solidFill>
                <a:latin typeface="Microsoft YaHei"/>
                <a:ea typeface="Microsoft YaHei"/>
                <a:cs typeface="Microsoft YaHei"/>
              </a:defRPr>
            </a:pPr>
            <a:r>
              <a:rPr sz="1350" b="0">
                <a:solidFill>
                  <a:srgbClr val="627D98"/>
                </a:solidFill>
                <a:latin typeface="Microsoft YaHei"/>
                <a:ea typeface="Microsoft YaHei"/>
                <a:cs typeface="Microsoft YaHei"/>
              </a:rPr>
              <a:t>超深水石油与天然气探明率均不足8%，显著低于浅水区。低探明率意味着资源基数尚未充分转化为可开发储量。</a:t>
            </a:r>
          </a:p>
        </p:txBody>
      </p:sp>
      <p:sp>
        <p:nvSpPr>
          <p:cNvPr id="10" name="explore-callout-foot">
            <a:extLst xmlns:a="http://schemas.openxmlformats.org/drawingml/2006/main">
              <a:ext uri="{FF2B5EF4-FFF2-40B4-BE49-F238E27FC236}">
                <a16:creationId xmlns:a16="http://schemas.microsoft.com/office/drawing/2014/main" id="{EE2A4DC9-DE9B-49CB-9E68-A968ADCA244B}"/>
              </a:ext>
            </a:extLst>
          </p:cNvPr>
          <p:cNvSpPr>
            <a:spLocks xmlns:a="http://schemas.openxmlformats.org/drawingml/2006/main" noGrp="1"/>
          </p:cNvSpPr>
          <p:nvPr/>
        </p:nvSpPr>
        <p:spPr>
          <a:xfrm xmlns:a="http://schemas.openxmlformats.org/drawingml/2006/main">
            <a:off x="8572500" y="4953000"/>
            <a:ext cx="2619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2F6B7C"/>
                </a:solidFill>
                <a:latin typeface="Microsoft YaHei"/>
                <a:ea typeface="Microsoft YaHei"/>
                <a:cs typeface="Microsoft YaHei"/>
              </a:defRPr>
            </a:pPr>
            <a:r>
              <a:rPr sz="1200" b="1">
                <a:solidFill>
                  <a:srgbClr val="2F6B7C"/>
                </a:solidFill>
                <a:latin typeface="Microsoft YaHei"/>
                <a:ea typeface="Microsoft YaHei"/>
                <a:cs typeface="Microsoft YaHei"/>
              </a:rPr>
              <a:t>含义：新增发现的边际重心继续向深水迁移。</a:t>
            </a:r>
          </a:p>
        </p:txBody>
      </p:sp>
      <p:sp>
        <p:nvSpPr>
          <p:cNvPr id="11" name="source-2">
            <a:extLst xmlns:a="http://schemas.openxmlformats.org/drawingml/2006/main">
              <a:ext uri="{FF2B5EF4-FFF2-40B4-BE49-F238E27FC236}">
                <a16:creationId xmlns:a16="http://schemas.microsoft.com/office/drawing/2014/main" id="{DAE2682D-DFA0-416D-822E-4C45BFB58D98}"/>
              </a:ext>
            </a:extLst>
          </p:cNvPr>
          <p:cNvSpPr>
            <a:spLocks xmlns:a="http://schemas.openxmlformats.org/drawingml/2006/main" noGrp="1"/>
          </p:cNvSpPr>
          <p:nvPr/>
        </p:nvSpPr>
        <p:spPr>
          <a:xfrm xmlns:a="http://schemas.openxmlformats.org/drawingml/2006/main">
            <a:off x="533400" y="64198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0">
                <a:solidFill>
                  <a:srgbClr val="627D98"/>
                </a:solidFill>
                <a:latin typeface="Microsoft YaHei"/>
                <a:ea typeface="Microsoft YaHei"/>
                <a:cs typeface="Microsoft YaHei"/>
              </a:defRPr>
            </a:pPr>
            <a:r>
              <a:rPr sz="825" b="0">
                <a:solidFill>
                  <a:srgbClr val="627D98"/>
                </a:solidFill>
                <a:latin typeface="Microsoft YaHei"/>
                <a:ea typeface="Microsoft YaHei"/>
                <a:cs typeface="Microsoft YaHei"/>
              </a:rPr>
              <a:t>资料来源：国信证券《深水、超深水油气资源前景广阔》，2024-04-03，第2页</a:t>
            </a:r>
          </a:p>
        </p:txBody>
      </p:sp>
    </p:spTree>
    <p:extLst>
      <p:ext uri="{BB962C8B-B14F-4D97-AF65-F5344CB8AC3E}">
        <p14:creationId xmlns:p14="http://schemas.microsoft.com/office/powerpoint/2010/main" val="1586087272"/>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section-4">
            <a:extLst xmlns:a="http://schemas.openxmlformats.org/drawingml/2006/main">
              <a:ext uri="{FF2B5EF4-FFF2-40B4-BE49-F238E27FC236}">
                <a16:creationId xmlns:a16="http://schemas.microsoft.com/office/drawing/2014/main" id="{18E128E4-0AB1-4FE3-B09F-AFB5049FF7B4}"/>
              </a:ext>
            </a:extLst>
          </p:cNvPr>
          <p:cNvSpPr>
            <a:spLocks xmlns:a="http://schemas.openxmlformats.org/drawingml/2006/main" noGrp="1"/>
          </p:cNvSpPr>
          <p:nvPr/>
        </p:nvSpPr>
        <p:spPr>
          <a:xfrm xmlns:a="http://schemas.openxmlformats.org/drawingml/2006/main">
            <a:off x="53340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76E3D"/>
                </a:solidFill>
                <a:latin typeface="Microsoft YaHei"/>
                <a:ea typeface="Microsoft YaHei"/>
                <a:cs typeface="Microsoft YaHei"/>
              </a:defRPr>
            </a:pPr>
            <a:r>
              <a:rPr sz="1050" b="1">
                <a:solidFill>
                  <a:srgbClr val="B76E3D"/>
                </a:solidFill>
                <a:latin typeface="Microsoft YaHei"/>
                <a:ea typeface="Microsoft YaHei"/>
                <a:cs typeface="Microsoft YaHei"/>
              </a:rPr>
              <a:t>经济性</a:t>
            </a:r>
          </a:p>
        </p:txBody>
      </p:sp>
      <p:sp>
        <p:nvSpPr>
          <p:cNvPr id="2" name="title-4">
            <a:extLst xmlns:a="http://schemas.openxmlformats.org/drawingml/2006/main">
              <a:ext uri="{FF2B5EF4-FFF2-40B4-BE49-F238E27FC236}">
                <a16:creationId xmlns:a16="http://schemas.microsoft.com/office/drawing/2014/main" id="{05C6A1FA-8939-42C4-A558-5BACD002796F}"/>
              </a:ext>
            </a:extLst>
          </p:cNvPr>
          <p:cNvSpPr>
            <a:spLocks xmlns:a="http://schemas.openxmlformats.org/drawingml/2006/main" noGrp="1"/>
          </p:cNvSpPr>
          <p:nvPr/>
        </p:nvSpPr>
        <p:spPr>
          <a:xfrm xmlns:a="http://schemas.openxmlformats.org/drawingml/2006/main">
            <a:off x="533400" y="5524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2A43"/>
                </a:solidFill>
                <a:latin typeface="Microsoft YaHei"/>
                <a:ea typeface="Microsoft YaHei"/>
                <a:cs typeface="Microsoft YaHei"/>
              </a:defRPr>
            </a:pPr>
            <a:r>
              <a:rPr sz="2700" b="1">
                <a:solidFill>
                  <a:srgbClr val="102A43"/>
                </a:solidFill>
                <a:latin typeface="Microsoft YaHei"/>
                <a:ea typeface="Microsoft YaHei"/>
                <a:cs typeface="Microsoft YaHei"/>
              </a:rPr>
              <a:t>技术进步正在重塑深水项目成本曲线</a:t>
            </a:r>
          </a:p>
        </p:txBody>
      </p:sp>
      <p:sp>
        <p:nvSpPr>
          <p:cNvPr id="3" name="">
            <a:extLst xmlns:a="http://schemas.openxmlformats.org/drawingml/2006/main">
              <a:ext uri="{FF2B5EF4-FFF2-40B4-BE49-F238E27FC236}">
                <a16:creationId xmlns:a16="http://schemas.microsoft.com/office/drawing/2014/main" id="{D1D85110-42C5-40E6-97CD-6D44143D7444}"/>
              </a:ext>
            </a:extLst>
          </p:cNvPr>
          <p:cNvSpPr>
            <a:spLocks xmlns:a="http://schemas.openxmlformats.org/drawingml/2006/main" noGrp="1"/>
          </p:cNvSpPr>
          <p:nvPr/>
        </p:nvSpPr>
        <p:spPr>
          <a:xfrm xmlns:a="http://schemas.openxmlformats.org/drawingml/2006/main">
            <a:off x="533400" y="1333500"/>
            <a:ext cx="111252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4" name="page-4">
            <a:extLst xmlns:a="http://schemas.openxmlformats.org/drawingml/2006/main">
              <a:ext uri="{FF2B5EF4-FFF2-40B4-BE49-F238E27FC236}">
                <a16:creationId xmlns:a16="http://schemas.microsoft.com/office/drawing/2014/main" id="{9C9E51B5-C42F-4DAA-88BF-8D208704AF53}"/>
              </a:ext>
            </a:extLst>
          </p:cNvPr>
          <p:cNvSpPr>
            <a:spLocks xmlns:a="http://schemas.openxmlformats.org/drawingml/2006/main" noGrp="1"/>
          </p:cNvSpPr>
          <p:nvPr/>
        </p:nvSpPr>
        <p:spPr>
          <a:xfrm xmlns:a="http://schemas.openxmlformats.org/drawingml/2006/main">
            <a:off x="11144250" y="6438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04</a:t>
            </a:r>
          </a:p>
        </p:txBody>
      </p:sp>
      <p:sp>
        <p:nvSpPr>
          <p:cNvPr id="5" name="kpi-钻完井时间">
            <a:extLst xmlns:a="http://schemas.openxmlformats.org/drawingml/2006/main">
              <a:ext uri="{FF2B5EF4-FFF2-40B4-BE49-F238E27FC236}">
                <a16:creationId xmlns:a16="http://schemas.microsoft.com/office/drawing/2014/main" id="{FAE2E7CB-D800-466A-986E-D3ED84CBAF5A}"/>
              </a:ext>
            </a:extLst>
          </p:cNvPr>
          <p:cNvSpPr>
            <a:spLocks xmlns:a="http://schemas.openxmlformats.org/drawingml/2006/main" noGrp="1"/>
          </p:cNvSpPr>
          <p:nvPr/>
        </p:nvSpPr>
        <p:spPr>
          <a:xfrm xmlns:a="http://schemas.openxmlformats.org/drawingml/2006/main">
            <a:off x="533400" y="1657350"/>
            <a:ext cx="3333750"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BCCCDC"/>
            </a:solidFill>
            <a:prstDash val="solid"/>
          </a:ln>
        </p:spPr>
      </p:sp>
      <p:sp>
        <p:nvSpPr>
          <p:cNvPr id="6" name="kpi-accent-钻完井时间">
            <a:extLst xmlns:a="http://schemas.openxmlformats.org/drawingml/2006/main">
              <a:ext uri="{FF2B5EF4-FFF2-40B4-BE49-F238E27FC236}">
                <a16:creationId xmlns:a16="http://schemas.microsoft.com/office/drawing/2014/main" id="{57C4446C-0DA3-4D8D-8069-53E077C47866}"/>
              </a:ext>
            </a:extLst>
          </p:cNvPr>
          <p:cNvSpPr>
            <a:spLocks xmlns:a="http://schemas.openxmlformats.org/drawingml/2006/main" noGrp="1"/>
          </p:cNvSpPr>
          <p:nvPr/>
        </p:nvSpPr>
        <p:spPr>
          <a:xfrm xmlns:a="http://schemas.openxmlformats.org/drawingml/2006/main">
            <a:off x="533400" y="1657350"/>
            <a:ext cx="66675" cy="1866900"/>
          </a:xfrm>
          <a:prstGeom xmlns:a="http://schemas.openxmlformats.org/drawingml/2006/main" prst="roundRect">
            <a:avLst>
              <a:gd name="adj" fmla="val 50000"/>
            </a:avLst>
          </a:prstGeom>
          <a:solidFill xmlns:a="http://schemas.openxmlformats.org/drawingml/2006/main">
            <a:srgbClr val="2F6B7C"/>
          </a:solidFill>
          <a:ln xmlns:a="http://schemas.openxmlformats.org/drawingml/2006/main" w="0">
            <a:noFill/>
            <a:prstDash val="solid"/>
          </a:ln>
        </p:spPr>
      </p:sp>
      <p:sp>
        <p:nvSpPr>
          <p:cNvPr id="7" name="kpi-value-钻完井时间">
            <a:extLst xmlns:a="http://schemas.openxmlformats.org/drawingml/2006/main">
              <a:ext uri="{FF2B5EF4-FFF2-40B4-BE49-F238E27FC236}">
                <a16:creationId xmlns:a16="http://schemas.microsoft.com/office/drawing/2014/main" id="{C9B03721-2124-42A9-939F-A87115AF33EA}"/>
              </a:ext>
            </a:extLst>
          </p:cNvPr>
          <p:cNvSpPr>
            <a:spLocks xmlns:a="http://schemas.openxmlformats.org/drawingml/2006/main" noGrp="1"/>
          </p:cNvSpPr>
          <p:nvPr/>
        </p:nvSpPr>
        <p:spPr>
          <a:xfrm xmlns:a="http://schemas.openxmlformats.org/drawingml/2006/main">
            <a:off x="800100" y="1847850"/>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2F6B7C"/>
                </a:solidFill>
                <a:latin typeface="Microsoft YaHei"/>
                <a:ea typeface="Microsoft YaHei"/>
                <a:cs typeface="Microsoft YaHei"/>
              </a:defRPr>
            </a:pPr>
            <a:r>
              <a:rPr sz="2700" b="1">
                <a:solidFill>
                  <a:srgbClr val="2F6B7C"/>
                </a:solidFill>
                <a:latin typeface="Microsoft YaHei"/>
                <a:ea typeface="Microsoft YaHei"/>
                <a:cs typeface="Microsoft YaHei"/>
              </a:rPr>
              <a:t>240 → 46天</a:t>
            </a:r>
          </a:p>
        </p:txBody>
      </p:sp>
      <p:sp>
        <p:nvSpPr>
          <p:cNvPr id="8" name="kpi-label-钻完井时间">
            <a:extLst xmlns:a="http://schemas.openxmlformats.org/drawingml/2006/main">
              <a:ext uri="{FF2B5EF4-FFF2-40B4-BE49-F238E27FC236}">
                <a16:creationId xmlns:a16="http://schemas.microsoft.com/office/drawing/2014/main" id="{F4E67B6D-9B80-41B6-BD17-5F52435C2B1F}"/>
              </a:ext>
            </a:extLst>
          </p:cNvPr>
          <p:cNvSpPr>
            <a:spLocks xmlns:a="http://schemas.openxmlformats.org/drawingml/2006/main" noGrp="1"/>
          </p:cNvSpPr>
          <p:nvPr/>
        </p:nvSpPr>
        <p:spPr>
          <a:xfrm xmlns:a="http://schemas.openxmlformats.org/drawingml/2006/main">
            <a:off x="800100" y="241935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钻完井时间</a:t>
            </a:r>
          </a:p>
        </p:txBody>
      </p:sp>
      <p:sp>
        <p:nvSpPr>
          <p:cNvPr id="9" name="kpi-note-钻完井时间">
            <a:extLst xmlns:a="http://schemas.openxmlformats.org/drawingml/2006/main">
              <a:ext uri="{FF2B5EF4-FFF2-40B4-BE49-F238E27FC236}">
                <a16:creationId xmlns:a16="http://schemas.microsoft.com/office/drawing/2014/main" id="{077674F4-5154-45DC-8465-42E5E55248E9}"/>
              </a:ext>
            </a:extLst>
          </p:cNvPr>
          <p:cNvSpPr>
            <a:spLocks xmlns:a="http://schemas.openxmlformats.org/drawingml/2006/main" noGrp="1"/>
          </p:cNvSpPr>
          <p:nvPr/>
        </p:nvSpPr>
        <p:spPr>
          <a:xfrm xmlns:a="http://schemas.openxmlformats.org/drawingml/2006/main">
            <a:off x="800100" y="2781300"/>
            <a:ext cx="2876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7D98"/>
                </a:solidFill>
                <a:latin typeface="Microsoft YaHei"/>
                <a:ea typeface="Microsoft YaHei"/>
                <a:cs typeface="Microsoft YaHei"/>
              </a:defRPr>
            </a:pPr>
            <a:r>
              <a:rPr sz="1050" b="0">
                <a:solidFill>
                  <a:srgbClr val="627D98"/>
                </a:solidFill>
                <a:latin typeface="Microsoft YaHei"/>
                <a:ea typeface="Microsoft YaHei"/>
                <a:cs typeface="Microsoft YaHei"/>
              </a:rPr>
              <a:t>巴西盐下项目，2010-2017，降幅超过80%</a:t>
            </a:r>
          </a:p>
        </p:txBody>
      </p:sp>
      <p:sp>
        <p:nvSpPr>
          <p:cNvPr id="10" name="kpi-平衡油价/桶">
            <a:extLst xmlns:a="http://schemas.openxmlformats.org/drawingml/2006/main">
              <a:ext uri="{FF2B5EF4-FFF2-40B4-BE49-F238E27FC236}">
                <a16:creationId xmlns:a16="http://schemas.microsoft.com/office/drawing/2014/main" id="{B7101D48-52F0-4BA3-A129-326D9B92863B}"/>
              </a:ext>
            </a:extLst>
          </p:cNvPr>
          <p:cNvSpPr>
            <a:spLocks xmlns:a="http://schemas.openxmlformats.org/drawingml/2006/main" noGrp="1"/>
          </p:cNvSpPr>
          <p:nvPr/>
        </p:nvSpPr>
        <p:spPr>
          <a:xfrm xmlns:a="http://schemas.openxmlformats.org/drawingml/2006/main">
            <a:off x="4429125" y="1657350"/>
            <a:ext cx="3333750"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BCCCDC"/>
            </a:solidFill>
            <a:prstDash val="solid"/>
          </a:ln>
        </p:spPr>
      </p:sp>
      <p:sp>
        <p:nvSpPr>
          <p:cNvPr id="11" name="kpi-accent-平衡油价/桶">
            <a:extLst xmlns:a="http://schemas.openxmlformats.org/drawingml/2006/main">
              <a:ext uri="{FF2B5EF4-FFF2-40B4-BE49-F238E27FC236}">
                <a16:creationId xmlns:a16="http://schemas.microsoft.com/office/drawing/2014/main" id="{4ADD7846-EC75-4785-A3CF-A2FC0914A28D}"/>
              </a:ext>
            </a:extLst>
          </p:cNvPr>
          <p:cNvSpPr>
            <a:spLocks xmlns:a="http://schemas.openxmlformats.org/drawingml/2006/main" noGrp="1"/>
          </p:cNvSpPr>
          <p:nvPr/>
        </p:nvSpPr>
        <p:spPr>
          <a:xfrm xmlns:a="http://schemas.openxmlformats.org/drawingml/2006/main">
            <a:off x="4429125" y="1657350"/>
            <a:ext cx="66675" cy="1866900"/>
          </a:xfrm>
          <a:prstGeom xmlns:a="http://schemas.openxmlformats.org/drawingml/2006/main" prst="roundRect">
            <a:avLst>
              <a:gd name="adj" fmla="val 50000"/>
            </a:avLst>
          </a:prstGeom>
          <a:solidFill xmlns:a="http://schemas.openxmlformats.org/drawingml/2006/main">
            <a:srgbClr val="B76E3D"/>
          </a:solidFill>
          <a:ln xmlns:a="http://schemas.openxmlformats.org/drawingml/2006/main" w="0">
            <a:noFill/>
            <a:prstDash val="solid"/>
          </a:ln>
        </p:spPr>
      </p:sp>
      <p:sp>
        <p:nvSpPr>
          <p:cNvPr id="12" name="kpi-value-平衡油价/桶">
            <a:extLst xmlns:a="http://schemas.openxmlformats.org/drawingml/2006/main">
              <a:ext uri="{FF2B5EF4-FFF2-40B4-BE49-F238E27FC236}">
                <a16:creationId xmlns:a16="http://schemas.microsoft.com/office/drawing/2014/main" id="{1BD79B40-726C-4516-9704-7918F2FD1573}"/>
              </a:ext>
            </a:extLst>
          </p:cNvPr>
          <p:cNvSpPr>
            <a:spLocks xmlns:a="http://schemas.openxmlformats.org/drawingml/2006/main" noGrp="1"/>
          </p:cNvSpPr>
          <p:nvPr/>
        </p:nvSpPr>
        <p:spPr>
          <a:xfrm xmlns:a="http://schemas.openxmlformats.org/drawingml/2006/main">
            <a:off x="4695825" y="1847850"/>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B76E3D"/>
                </a:solidFill>
                <a:latin typeface="Microsoft YaHei"/>
                <a:ea typeface="Microsoft YaHei"/>
                <a:cs typeface="Microsoft YaHei"/>
              </a:defRPr>
            </a:pPr>
            <a:r>
              <a:rPr sz="2700" b="1">
                <a:solidFill>
                  <a:srgbClr val="B76E3D"/>
                </a:solidFill>
                <a:latin typeface="Microsoft YaHei"/>
                <a:ea typeface="Microsoft YaHei"/>
                <a:cs typeface="Microsoft YaHei"/>
              </a:rPr>
              <a:t>$78 → $49</a:t>
            </a:r>
          </a:p>
        </p:txBody>
      </p:sp>
      <p:sp>
        <p:nvSpPr>
          <p:cNvPr id="13" name="kpi-label-平衡油价/桶">
            <a:extLst xmlns:a="http://schemas.openxmlformats.org/drawingml/2006/main">
              <a:ext uri="{FF2B5EF4-FFF2-40B4-BE49-F238E27FC236}">
                <a16:creationId xmlns:a16="http://schemas.microsoft.com/office/drawing/2014/main" id="{3DE5407D-131F-476F-9E41-7CFE13A70EF3}"/>
              </a:ext>
            </a:extLst>
          </p:cNvPr>
          <p:cNvSpPr>
            <a:spLocks xmlns:a="http://schemas.openxmlformats.org/drawingml/2006/main" noGrp="1"/>
          </p:cNvSpPr>
          <p:nvPr/>
        </p:nvSpPr>
        <p:spPr>
          <a:xfrm xmlns:a="http://schemas.openxmlformats.org/drawingml/2006/main">
            <a:off x="4695825" y="241935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平衡油价/桶</a:t>
            </a:r>
          </a:p>
        </p:txBody>
      </p:sp>
      <p:sp>
        <p:nvSpPr>
          <p:cNvPr id="14" name="kpi-note-平衡油价/桶">
            <a:extLst xmlns:a="http://schemas.openxmlformats.org/drawingml/2006/main">
              <a:ext uri="{FF2B5EF4-FFF2-40B4-BE49-F238E27FC236}">
                <a16:creationId xmlns:a16="http://schemas.microsoft.com/office/drawing/2014/main" id="{781B68AA-E304-4BEE-B2ED-7A27F903E272}"/>
              </a:ext>
            </a:extLst>
          </p:cNvPr>
          <p:cNvSpPr>
            <a:spLocks xmlns:a="http://schemas.openxmlformats.org/drawingml/2006/main" noGrp="1"/>
          </p:cNvSpPr>
          <p:nvPr/>
        </p:nvSpPr>
        <p:spPr>
          <a:xfrm xmlns:a="http://schemas.openxmlformats.org/drawingml/2006/main">
            <a:off x="4695825" y="2781300"/>
            <a:ext cx="2876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7D98"/>
                </a:solidFill>
                <a:latin typeface="Microsoft YaHei"/>
                <a:ea typeface="Microsoft YaHei"/>
                <a:cs typeface="Microsoft YaHei"/>
              </a:defRPr>
            </a:pPr>
            <a:r>
              <a:rPr sz="1050" b="0">
                <a:solidFill>
                  <a:srgbClr val="627D98"/>
                </a:solidFill>
                <a:latin typeface="Microsoft YaHei"/>
                <a:ea typeface="Microsoft YaHei"/>
                <a:cs typeface="Microsoft YaHei"/>
              </a:rPr>
              <a:t>全球深水项目，2014-2021，降幅37%</a:t>
            </a:r>
          </a:p>
        </p:txBody>
      </p:sp>
      <p:sp>
        <p:nvSpPr>
          <p:cNvPr id="15" name="kpi-发现至投产">
            <a:extLst xmlns:a="http://schemas.openxmlformats.org/drawingml/2006/main">
              <a:ext uri="{FF2B5EF4-FFF2-40B4-BE49-F238E27FC236}">
                <a16:creationId xmlns:a16="http://schemas.microsoft.com/office/drawing/2014/main" id="{98A60329-0D89-4EC0-8031-FAC3F15EDD0C}"/>
              </a:ext>
            </a:extLst>
          </p:cNvPr>
          <p:cNvSpPr>
            <a:spLocks xmlns:a="http://schemas.openxmlformats.org/drawingml/2006/main" noGrp="1"/>
          </p:cNvSpPr>
          <p:nvPr/>
        </p:nvSpPr>
        <p:spPr>
          <a:xfrm xmlns:a="http://schemas.openxmlformats.org/drawingml/2006/main">
            <a:off x="8324850" y="1657350"/>
            <a:ext cx="3333750"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BCCCDC"/>
            </a:solidFill>
            <a:prstDash val="solid"/>
          </a:ln>
        </p:spPr>
      </p:sp>
      <p:sp>
        <p:nvSpPr>
          <p:cNvPr id="16" name="kpi-accent-发现至投产">
            <a:extLst xmlns:a="http://schemas.openxmlformats.org/drawingml/2006/main">
              <a:ext uri="{FF2B5EF4-FFF2-40B4-BE49-F238E27FC236}">
                <a16:creationId xmlns:a16="http://schemas.microsoft.com/office/drawing/2014/main" id="{BACB62A7-0F2E-4E50-AB6E-2134AD46E842}"/>
              </a:ext>
            </a:extLst>
          </p:cNvPr>
          <p:cNvSpPr>
            <a:spLocks xmlns:a="http://schemas.openxmlformats.org/drawingml/2006/main" noGrp="1"/>
          </p:cNvSpPr>
          <p:nvPr/>
        </p:nvSpPr>
        <p:spPr>
          <a:xfrm xmlns:a="http://schemas.openxmlformats.org/drawingml/2006/main">
            <a:off x="8324850" y="1657350"/>
            <a:ext cx="66675" cy="1866900"/>
          </a:xfrm>
          <a:prstGeom xmlns:a="http://schemas.openxmlformats.org/drawingml/2006/main" prst="roundRect">
            <a:avLst>
              <a:gd name="adj" fmla="val 50000"/>
            </a:avLst>
          </a:prstGeom>
          <a:solidFill xmlns:a="http://schemas.openxmlformats.org/drawingml/2006/main">
            <a:srgbClr val="3E7C59"/>
          </a:solidFill>
          <a:ln xmlns:a="http://schemas.openxmlformats.org/drawingml/2006/main" w="0">
            <a:noFill/>
            <a:prstDash val="solid"/>
          </a:ln>
        </p:spPr>
      </p:sp>
      <p:sp>
        <p:nvSpPr>
          <p:cNvPr id="17" name="kpi-value-发现至投产">
            <a:extLst xmlns:a="http://schemas.openxmlformats.org/drawingml/2006/main">
              <a:ext uri="{FF2B5EF4-FFF2-40B4-BE49-F238E27FC236}">
                <a16:creationId xmlns:a16="http://schemas.microsoft.com/office/drawing/2014/main" id="{E259D262-A4A7-41E4-A892-E445A0E3AEC9}"/>
              </a:ext>
            </a:extLst>
          </p:cNvPr>
          <p:cNvSpPr>
            <a:spLocks xmlns:a="http://schemas.openxmlformats.org/drawingml/2006/main" noGrp="1"/>
          </p:cNvSpPr>
          <p:nvPr/>
        </p:nvSpPr>
        <p:spPr>
          <a:xfrm xmlns:a="http://schemas.openxmlformats.org/drawingml/2006/main">
            <a:off x="8591550" y="1847850"/>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3E7C59"/>
                </a:solidFill>
                <a:latin typeface="Microsoft YaHei"/>
                <a:ea typeface="Microsoft YaHei"/>
                <a:cs typeface="Microsoft YaHei"/>
              </a:defRPr>
            </a:pPr>
            <a:r>
              <a:rPr sz="2700" b="1">
                <a:solidFill>
                  <a:srgbClr val="3E7C59"/>
                </a:solidFill>
                <a:latin typeface="Microsoft YaHei"/>
                <a:ea typeface="Microsoft YaHei"/>
                <a:cs typeface="Microsoft YaHei"/>
              </a:rPr>
              <a:t>7.0 → 3.6年</a:t>
            </a:r>
          </a:p>
        </p:txBody>
      </p:sp>
      <p:sp>
        <p:nvSpPr>
          <p:cNvPr id="18" name="kpi-label-发现至投产">
            <a:extLst xmlns:a="http://schemas.openxmlformats.org/drawingml/2006/main">
              <a:ext uri="{FF2B5EF4-FFF2-40B4-BE49-F238E27FC236}">
                <a16:creationId xmlns:a16="http://schemas.microsoft.com/office/drawing/2014/main" id="{9D301E2E-A7FD-4C87-B8C2-F3315E45C39F}"/>
              </a:ext>
            </a:extLst>
          </p:cNvPr>
          <p:cNvSpPr>
            <a:spLocks xmlns:a="http://schemas.openxmlformats.org/drawingml/2006/main" noGrp="1"/>
          </p:cNvSpPr>
          <p:nvPr/>
        </p:nvSpPr>
        <p:spPr>
          <a:xfrm xmlns:a="http://schemas.openxmlformats.org/drawingml/2006/main">
            <a:off x="8591550" y="241935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发现至投产</a:t>
            </a:r>
          </a:p>
        </p:txBody>
      </p:sp>
      <p:sp>
        <p:nvSpPr>
          <p:cNvPr id="19" name="kpi-note-发现至投产">
            <a:extLst xmlns:a="http://schemas.openxmlformats.org/drawingml/2006/main">
              <a:ext uri="{FF2B5EF4-FFF2-40B4-BE49-F238E27FC236}">
                <a16:creationId xmlns:a16="http://schemas.microsoft.com/office/drawing/2014/main" id="{B8BC0A21-77EA-4DF3-93F8-9D366BAB6546}"/>
              </a:ext>
            </a:extLst>
          </p:cNvPr>
          <p:cNvSpPr>
            <a:spLocks xmlns:a="http://schemas.openxmlformats.org/drawingml/2006/main" noGrp="1"/>
          </p:cNvSpPr>
          <p:nvPr/>
        </p:nvSpPr>
        <p:spPr>
          <a:xfrm xmlns:a="http://schemas.openxmlformats.org/drawingml/2006/main">
            <a:off x="8591550" y="2781300"/>
            <a:ext cx="2876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7D98"/>
                </a:solidFill>
                <a:latin typeface="Microsoft YaHei"/>
                <a:ea typeface="Microsoft YaHei"/>
                <a:cs typeface="Microsoft YaHei"/>
              </a:defRPr>
            </a:pPr>
            <a:r>
              <a:rPr sz="1050" b="0">
                <a:solidFill>
                  <a:srgbClr val="627D98"/>
                </a:solidFill>
                <a:latin typeface="Microsoft YaHei"/>
                <a:ea typeface="Microsoft YaHei"/>
                <a:cs typeface="Microsoft YaHei"/>
              </a:rPr>
              <a:t>2011年以来深水平均周期；超深水缩短至2.9年</a:t>
            </a:r>
          </a:p>
        </p:txBody>
      </p:sp>
      <p:sp>
        <p:nvSpPr>
          <p:cNvPr id="20" name="econ-bottom">
            <a:extLst xmlns:a="http://schemas.openxmlformats.org/drawingml/2006/main">
              <a:ext uri="{FF2B5EF4-FFF2-40B4-BE49-F238E27FC236}">
                <a16:creationId xmlns:a16="http://schemas.microsoft.com/office/drawing/2014/main" id="{B68FC80D-CC93-4377-B127-4E8FD87EB536}"/>
              </a:ext>
            </a:extLst>
          </p:cNvPr>
          <p:cNvSpPr>
            <a:spLocks xmlns:a="http://schemas.openxmlformats.org/drawingml/2006/main" noGrp="1"/>
          </p:cNvSpPr>
          <p:nvPr/>
        </p:nvSpPr>
        <p:spPr>
          <a:xfrm xmlns:a="http://schemas.openxmlformats.org/drawingml/2006/main">
            <a:off x="533400" y="4000500"/>
            <a:ext cx="11125200" cy="1676400"/>
          </a:xfrm>
          <a:prstGeom xmlns:a="http://schemas.openxmlformats.org/drawingml/2006/main" prst="roundRect">
            <a:avLst>
              <a:gd name="adj" fmla="val 4545"/>
            </a:avLst>
          </a:prstGeom>
          <a:solidFill xmlns:a="http://schemas.openxmlformats.org/drawingml/2006/main">
            <a:srgbClr val="102A43"/>
          </a:solidFill>
          <a:ln xmlns:a="http://schemas.openxmlformats.org/drawingml/2006/main" w="0">
            <a:noFill/>
            <a:prstDash val="solid"/>
          </a:ln>
        </p:spPr>
      </p:sp>
      <p:sp>
        <p:nvSpPr>
          <p:cNvPr id="21" name="econ-bottom-head">
            <a:extLst xmlns:a="http://schemas.openxmlformats.org/drawingml/2006/main">
              <a:ext uri="{FF2B5EF4-FFF2-40B4-BE49-F238E27FC236}">
                <a16:creationId xmlns:a16="http://schemas.microsoft.com/office/drawing/2014/main" id="{5A8611F9-0F11-4DE1-A332-4312A7C570D1}"/>
              </a:ext>
            </a:extLst>
          </p:cNvPr>
          <p:cNvSpPr>
            <a:spLocks xmlns:a="http://schemas.openxmlformats.org/drawingml/2006/main" noGrp="1"/>
          </p:cNvSpPr>
          <p:nvPr/>
        </p:nvSpPr>
        <p:spPr>
          <a:xfrm xmlns:a="http://schemas.openxmlformats.org/drawingml/2006/main">
            <a:off x="914400" y="436245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成本下降带来的不是单点改善，而是可开发资源边界整体外移</a:t>
            </a:r>
          </a:p>
        </p:txBody>
      </p:sp>
      <p:sp>
        <p:nvSpPr>
          <p:cNvPr id="22" name="econ-bottom-body">
            <a:extLst xmlns:a="http://schemas.openxmlformats.org/drawingml/2006/main">
              <a:ext uri="{FF2B5EF4-FFF2-40B4-BE49-F238E27FC236}">
                <a16:creationId xmlns:a16="http://schemas.microsoft.com/office/drawing/2014/main" id="{4208E650-4279-4F72-9F43-37275B0B5670}"/>
              </a:ext>
            </a:extLst>
          </p:cNvPr>
          <p:cNvSpPr>
            <a:spLocks xmlns:a="http://schemas.openxmlformats.org/drawingml/2006/main" noGrp="1"/>
          </p:cNvSpPr>
          <p:nvPr/>
        </p:nvSpPr>
        <p:spPr>
          <a:xfrm xmlns:a="http://schemas.openxmlformats.org/drawingml/2006/main">
            <a:off x="914400" y="4953000"/>
            <a:ext cx="981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500"/>
          </a:bodyPr>
          <a:lstStyle xmlns:a="http://schemas.openxmlformats.org/drawingml/2006/main"/>
          <a:p xmlns:a="http://schemas.openxmlformats.org/drawingml/2006/main">
            <a:pPr algn="l">
              <a:defRPr sz="1500" b="0">
                <a:solidFill>
                  <a:srgbClr val="D9E2EC"/>
                </a:solidFill>
                <a:latin typeface="Microsoft YaHei"/>
                <a:ea typeface="Microsoft YaHei"/>
                <a:cs typeface="Microsoft YaHei"/>
              </a:defRPr>
            </a:pPr>
            <a:r>
              <a:rPr sz="1500" b="0">
                <a:solidFill>
                  <a:srgbClr val="D9E2EC"/>
                </a:solidFill>
                <a:latin typeface="Microsoft YaHei"/>
                <a:ea typeface="Microsoft YaHei"/>
                <a:cs typeface="Microsoft YaHei"/>
              </a:rPr>
              <a:t>更短的钻完井周期降低资本占用，更短的投产周期提高现金流确定性，更低的平衡油价扩大了在中低油价环境下仍具回报的项目集合。</a:t>
            </a:r>
          </a:p>
        </p:txBody>
      </p:sp>
      <p:sp>
        <p:nvSpPr>
          <p:cNvPr id="23" name="source-3">
            <a:extLst xmlns:a="http://schemas.openxmlformats.org/drawingml/2006/main">
              <a:ext uri="{FF2B5EF4-FFF2-40B4-BE49-F238E27FC236}">
                <a16:creationId xmlns:a16="http://schemas.microsoft.com/office/drawing/2014/main" id="{59DF94F6-E70F-457B-B85D-12E66CADE85F}"/>
              </a:ext>
            </a:extLst>
          </p:cNvPr>
          <p:cNvSpPr>
            <a:spLocks xmlns:a="http://schemas.openxmlformats.org/drawingml/2006/main" noGrp="1"/>
          </p:cNvSpPr>
          <p:nvPr/>
        </p:nvSpPr>
        <p:spPr>
          <a:xfrm xmlns:a="http://schemas.openxmlformats.org/drawingml/2006/main">
            <a:off x="533400" y="64198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0">
                <a:solidFill>
                  <a:srgbClr val="627D98"/>
                </a:solidFill>
                <a:latin typeface="Microsoft YaHei"/>
                <a:ea typeface="Microsoft YaHei"/>
                <a:cs typeface="Microsoft YaHei"/>
              </a:defRPr>
            </a:pPr>
            <a:r>
              <a:rPr sz="825" b="0">
                <a:solidFill>
                  <a:srgbClr val="627D98"/>
                </a:solidFill>
                <a:latin typeface="Microsoft YaHei"/>
                <a:ea typeface="Microsoft YaHei"/>
                <a:cs typeface="Microsoft YaHei"/>
              </a:rPr>
              <a:t>资料来源：国信证券《深水、超深水油气资源前景广阔》，2024-04-03，第3页</a:t>
            </a:r>
          </a:p>
        </p:txBody>
      </p:sp>
    </p:spTree>
    <p:extLst>
      <p:ext uri="{BB962C8B-B14F-4D97-AF65-F5344CB8AC3E}">
        <p14:creationId xmlns:p14="http://schemas.microsoft.com/office/powerpoint/2010/main" val="1030044175"/>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section-5">
            <a:extLst xmlns:a="http://schemas.openxmlformats.org/drawingml/2006/main">
              <a:ext uri="{FF2B5EF4-FFF2-40B4-BE49-F238E27FC236}">
                <a16:creationId xmlns:a16="http://schemas.microsoft.com/office/drawing/2014/main" id="{F681A297-2880-498C-94D1-7C92A3EE969A}"/>
              </a:ext>
            </a:extLst>
          </p:cNvPr>
          <p:cNvSpPr>
            <a:spLocks xmlns:a="http://schemas.openxmlformats.org/drawingml/2006/main" noGrp="1"/>
          </p:cNvSpPr>
          <p:nvPr/>
        </p:nvSpPr>
        <p:spPr>
          <a:xfrm xmlns:a="http://schemas.openxmlformats.org/drawingml/2006/main">
            <a:off x="53340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76E3D"/>
                </a:solidFill>
                <a:latin typeface="Microsoft YaHei"/>
                <a:ea typeface="Microsoft YaHei"/>
                <a:cs typeface="Microsoft YaHei"/>
              </a:defRPr>
            </a:pPr>
            <a:r>
              <a:rPr sz="1050" b="1">
                <a:solidFill>
                  <a:srgbClr val="B76E3D"/>
                </a:solidFill>
                <a:latin typeface="Microsoft YaHei"/>
                <a:ea typeface="Microsoft YaHei"/>
                <a:cs typeface="Microsoft YaHei"/>
              </a:rPr>
              <a:t>行业验证</a:t>
            </a:r>
          </a:p>
        </p:txBody>
      </p:sp>
      <p:sp>
        <p:nvSpPr>
          <p:cNvPr id="2" name="title-5">
            <a:extLst xmlns:a="http://schemas.openxmlformats.org/drawingml/2006/main">
              <a:ext uri="{FF2B5EF4-FFF2-40B4-BE49-F238E27FC236}">
                <a16:creationId xmlns:a16="http://schemas.microsoft.com/office/drawing/2014/main" id="{6A59CB1B-9375-4EEE-8B4C-A0999DE627A4}"/>
              </a:ext>
            </a:extLst>
          </p:cNvPr>
          <p:cNvSpPr>
            <a:spLocks xmlns:a="http://schemas.openxmlformats.org/drawingml/2006/main" noGrp="1"/>
          </p:cNvSpPr>
          <p:nvPr/>
        </p:nvSpPr>
        <p:spPr>
          <a:xfrm xmlns:a="http://schemas.openxmlformats.org/drawingml/2006/main">
            <a:off x="533400" y="5524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2A43"/>
                </a:solidFill>
                <a:latin typeface="Microsoft YaHei"/>
                <a:ea typeface="Microsoft YaHei"/>
                <a:cs typeface="Microsoft YaHei"/>
              </a:defRPr>
            </a:pPr>
            <a:r>
              <a:rPr sz="2700" b="1">
                <a:solidFill>
                  <a:srgbClr val="102A43"/>
                </a:solidFill>
                <a:latin typeface="Microsoft YaHei"/>
                <a:ea typeface="Microsoft YaHei"/>
                <a:cs typeface="Microsoft YaHei"/>
              </a:rPr>
              <a:t>资本与产量预测共同指向深水供给增长</a:t>
            </a:r>
          </a:p>
        </p:txBody>
      </p:sp>
      <p:sp>
        <p:nvSpPr>
          <p:cNvPr id="3" name="">
            <a:extLst xmlns:a="http://schemas.openxmlformats.org/drawingml/2006/main">
              <a:ext uri="{FF2B5EF4-FFF2-40B4-BE49-F238E27FC236}">
                <a16:creationId xmlns:a16="http://schemas.microsoft.com/office/drawing/2014/main" id="{F271523C-B5D2-4103-818F-BC5534C03FA1}"/>
              </a:ext>
            </a:extLst>
          </p:cNvPr>
          <p:cNvSpPr>
            <a:spLocks xmlns:a="http://schemas.openxmlformats.org/drawingml/2006/main" noGrp="1"/>
          </p:cNvSpPr>
          <p:nvPr/>
        </p:nvSpPr>
        <p:spPr>
          <a:xfrm xmlns:a="http://schemas.openxmlformats.org/drawingml/2006/main">
            <a:off x="533400" y="1333500"/>
            <a:ext cx="111252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4" name="page-5">
            <a:extLst xmlns:a="http://schemas.openxmlformats.org/drawingml/2006/main">
              <a:ext uri="{FF2B5EF4-FFF2-40B4-BE49-F238E27FC236}">
                <a16:creationId xmlns:a16="http://schemas.microsoft.com/office/drawing/2014/main" id="{E2B9D42A-E68D-4DD2-9CF6-3C7AC8E60ED3}"/>
              </a:ext>
            </a:extLst>
          </p:cNvPr>
          <p:cNvSpPr>
            <a:spLocks xmlns:a="http://schemas.openxmlformats.org/drawingml/2006/main" noGrp="1"/>
          </p:cNvSpPr>
          <p:nvPr/>
        </p:nvSpPr>
        <p:spPr>
          <a:xfrm xmlns:a="http://schemas.openxmlformats.org/drawingml/2006/main">
            <a:off x="11144250" y="6438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05</a:t>
            </a:r>
          </a:p>
        </p:txBody>
      </p:sp>
      <p:graphicFrame>
        <p:nvGraphicFramePr>
          <p:cNvPr id="29" name="Chart"/>
          <p:cNvGraphicFramePr/>
          <p:nvPr/>
        </p:nvGraphicFramePr>
        <p:xfrm>
          <a:off xmlns:a="http://schemas.openxmlformats.org/drawingml/2006/main" x="533400" y="1771650"/>
          <a:ext xmlns:a="http://schemas.openxmlformats.org/drawingml/2006/main" cx="2724150" cy="3429000"/>
        </p:xfrm>
        <a:graphic xmlns:a="http://schemas.openxmlformats.org/drawingml/2006/main">
          <a:graphicData uri="http://schemas.openxmlformats.org/drawingml/2006/chart">
            <c:chart xmlns:r="http://schemas.openxmlformats.org/officeDocument/2006/relationships" xmlns:c="http://schemas.openxmlformats.org/drawingml/2006/chart" r:id="Rc053637fc237449c"/>
          </a:graphicData>
        </a:graphic>
      </p:graphicFrame>
      <p:sp>
        <p:nvSpPr>
          <p:cNvPr id="6" name="industry-oil-unit">
            <a:extLst xmlns:a="http://schemas.openxmlformats.org/drawingml/2006/main">
              <a:ext uri="{FF2B5EF4-FFF2-40B4-BE49-F238E27FC236}">
                <a16:creationId xmlns:a16="http://schemas.microsoft.com/office/drawing/2014/main" id="{1FBBE583-AE3D-4200-8E31-ED6905869FD6}"/>
              </a:ext>
            </a:extLst>
          </p:cNvPr>
          <p:cNvSpPr>
            <a:spLocks xmlns:a="http://schemas.openxmlformats.org/drawingml/2006/main" noGrp="1"/>
          </p:cNvSpPr>
          <p:nvPr/>
        </p:nvSpPr>
        <p:spPr>
          <a:xfrm xmlns:a="http://schemas.openxmlformats.org/drawingml/2006/main">
            <a:off x="533400" y="15240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627D98"/>
                </a:solidFill>
                <a:latin typeface="Microsoft YaHei"/>
                <a:ea typeface="Microsoft YaHei"/>
                <a:cs typeface="Microsoft YaHei"/>
              </a:defRPr>
            </a:pPr>
            <a:r>
              <a:rPr sz="1200" b="1">
                <a:solidFill>
                  <a:srgbClr val="627D98"/>
                </a:solidFill>
                <a:latin typeface="Microsoft YaHei"/>
                <a:ea typeface="Microsoft YaHei"/>
                <a:cs typeface="Microsoft YaHei"/>
              </a:rPr>
              <a:t>深水原油｜百万桶/日</a:t>
            </a:r>
          </a:p>
        </p:txBody>
      </p:sp>
      <p:graphicFrame>
        <p:nvGraphicFramePr>
          <p:cNvPr id="31" name="Chart"/>
          <p:cNvGraphicFramePr/>
          <p:nvPr/>
        </p:nvGraphicFramePr>
        <p:xfrm>
          <a:off xmlns:a="http://schemas.openxmlformats.org/drawingml/2006/main" x="3619500" y="1771650"/>
          <a:ext xmlns:a="http://schemas.openxmlformats.org/drawingml/2006/main" cx="2724150" cy="3429000"/>
        </p:xfrm>
        <a:graphic xmlns:a="http://schemas.openxmlformats.org/drawingml/2006/main">
          <a:graphicData uri="http://schemas.openxmlformats.org/drawingml/2006/chart">
            <c:chart xmlns:r="http://schemas.openxmlformats.org/officeDocument/2006/relationships" xmlns:c="http://schemas.openxmlformats.org/drawingml/2006/chart" r:id="Rf47ad667e5114a6f"/>
          </a:graphicData>
        </a:graphic>
      </p:graphicFrame>
      <p:sp>
        <p:nvSpPr>
          <p:cNvPr id="8" name="industry-gas-unit">
            <a:extLst xmlns:a="http://schemas.openxmlformats.org/drawingml/2006/main">
              <a:ext uri="{FF2B5EF4-FFF2-40B4-BE49-F238E27FC236}">
                <a16:creationId xmlns:a16="http://schemas.microsoft.com/office/drawing/2014/main" id="{830AA31D-7CE7-4B41-98C8-4A51C495DF23}"/>
              </a:ext>
            </a:extLst>
          </p:cNvPr>
          <p:cNvSpPr>
            <a:spLocks xmlns:a="http://schemas.openxmlformats.org/drawingml/2006/main" noGrp="1"/>
          </p:cNvSpPr>
          <p:nvPr/>
        </p:nvSpPr>
        <p:spPr>
          <a:xfrm xmlns:a="http://schemas.openxmlformats.org/drawingml/2006/main">
            <a:off x="3619500" y="15240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627D98"/>
                </a:solidFill>
                <a:latin typeface="Microsoft YaHei"/>
                <a:ea typeface="Microsoft YaHei"/>
                <a:cs typeface="Microsoft YaHei"/>
              </a:defRPr>
            </a:pPr>
            <a:r>
              <a:rPr sz="1200" b="1">
                <a:solidFill>
                  <a:srgbClr val="627D98"/>
                </a:solidFill>
                <a:latin typeface="Microsoft YaHei"/>
                <a:ea typeface="Microsoft YaHei"/>
                <a:cs typeface="Microsoft YaHei"/>
              </a:rPr>
              <a:t>深水天然气｜十亿立方米/年</a:t>
            </a:r>
          </a:p>
        </p:txBody>
      </p:sp>
      <p:sp>
        <p:nvSpPr>
          <p:cNvPr id="9" name="kpi-海上绿地项目投资">
            <a:extLst xmlns:a="http://schemas.openxmlformats.org/drawingml/2006/main">
              <a:ext uri="{FF2B5EF4-FFF2-40B4-BE49-F238E27FC236}">
                <a16:creationId xmlns:a16="http://schemas.microsoft.com/office/drawing/2014/main" id="{3339C52A-C086-4525-8324-7976321907D1}"/>
              </a:ext>
            </a:extLst>
          </p:cNvPr>
          <p:cNvSpPr>
            <a:spLocks xmlns:a="http://schemas.openxmlformats.org/drawingml/2006/main" noGrp="1"/>
          </p:cNvSpPr>
          <p:nvPr/>
        </p:nvSpPr>
        <p:spPr>
          <a:xfrm xmlns:a="http://schemas.openxmlformats.org/drawingml/2006/main">
            <a:off x="6858000" y="1676400"/>
            <a:ext cx="4762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BCCCDC"/>
            </a:solidFill>
            <a:prstDash val="solid"/>
          </a:ln>
        </p:spPr>
      </p:sp>
      <p:sp>
        <p:nvSpPr>
          <p:cNvPr id="10" name="kpi-accent-海上绿地项目投资">
            <a:extLst xmlns:a="http://schemas.openxmlformats.org/drawingml/2006/main">
              <a:ext uri="{FF2B5EF4-FFF2-40B4-BE49-F238E27FC236}">
                <a16:creationId xmlns:a16="http://schemas.microsoft.com/office/drawing/2014/main" id="{7C18880C-7787-42A7-999F-AAF0D650528C}"/>
              </a:ext>
            </a:extLst>
          </p:cNvPr>
          <p:cNvSpPr>
            <a:spLocks xmlns:a="http://schemas.openxmlformats.org/drawingml/2006/main" noGrp="1"/>
          </p:cNvSpPr>
          <p:nvPr/>
        </p:nvSpPr>
        <p:spPr>
          <a:xfrm xmlns:a="http://schemas.openxmlformats.org/drawingml/2006/main">
            <a:off x="6858000" y="1676400"/>
            <a:ext cx="66675" cy="1143000"/>
          </a:xfrm>
          <a:prstGeom xmlns:a="http://schemas.openxmlformats.org/drawingml/2006/main" prst="roundRect">
            <a:avLst>
              <a:gd name="adj" fmla="val 50000"/>
            </a:avLst>
          </a:prstGeom>
          <a:solidFill xmlns:a="http://schemas.openxmlformats.org/drawingml/2006/main">
            <a:srgbClr val="B76E3D"/>
          </a:solidFill>
          <a:ln xmlns:a="http://schemas.openxmlformats.org/drawingml/2006/main" w="0">
            <a:noFill/>
            <a:prstDash val="solid"/>
          </a:ln>
        </p:spPr>
      </p:sp>
      <p:sp>
        <p:nvSpPr>
          <p:cNvPr id="11" name="kpi-value-海上绿地项目投资">
            <a:extLst xmlns:a="http://schemas.openxmlformats.org/drawingml/2006/main">
              <a:ext uri="{FF2B5EF4-FFF2-40B4-BE49-F238E27FC236}">
                <a16:creationId xmlns:a16="http://schemas.microsoft.com/office/drawing/2014/main" id="{1435E2E7-4DB1-4CC1-B449-A8C4F3CB023B}"/>
              </a:ext>
            </a:extLst>
          </p:cNvPr>
          <p:cNvSpPr>
            <a:spLocks xmlns:a="http://schemas.openxmlformats.org/drawingml/2006/main" noGrp="1"/>
          </p:cNvSpPr>
          <p:nvPr/>
        </p:nvSpPr>
        <p:spPr>
          <a:xfrm xmlns:a="http://schemas.openxmlformats.org/drawingml/2006/main">
            <a:off x="7124700" y="1771650"/>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B76E3D"/>
                </a:solidFill>
                <a:latin typeface="Microsoft YaHei"/>
                <a:ea typeface="Microsoft YaHei"/>
                <a:cs typeface="Microsoft YaHei"/>
              </a:defRPr>
            </a:pPr>
            <a:r>
              <a:rPr sz="2100" b="1">
                <a:solidFill>
                  <a:srgbClr val="B76E3D"/>
                </a:solidFill>
                <a:latin typeface="Microsoft YaHei"/>
                <a:ea typeface="Microsoft YaHei"/>
                <a:cs typeface="Microsoft YaHei"/>
              </a:rPr>
              <a:t>&gt;$100bn</a:t>
            </a:r>
          </a:p>
        </p:txBody>
      </p:sp>
      <p:sp>
        <p:nvSpPr>
          <p:cNvPr id="12" name="kpi-label-海上绿地项目投资">
            <a:extLst xmlns:a="http://schemas.openxmlformats.org/drawingml/2006/main">
              <a:ext uri="{FF2B5EF4-FFF2-40B4-BE49-F238E27FC236}">
                <a16:creationId xmlns:a16="http://schemas.microsoft.com/office/drawing/2014/main" id="{B793AF52-A42D-43C0-91BB-09699083ABA8}"/>
              </a:ext>
            </a:extLst>
          </p:cNvPr>
          <p:cNvSpPr>
            <a:spLocks xmlns:a="http://schemas.openxmlformats.org/drawingml/2006/main" noGrp="1"/>
          </p:cNvSpPr>
          <p:nvPr/>
        </p:nvSpPr>
        <p:spPr>
          <a:xfrm xmlns:a="http://schemas.openxmlformats.org/drawingml/2006/main">
            <a:off x="7124700" y="2152650"/>
            <a:ext cx="430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102A43"/>
                </a:solidFill>
                <a:latin typeface="Microsoft YaHei"/>
                <a:ea typeface="Microsoft YaHei"/>
                <a:cs typeface="Microsoft YaHei"/>
              </a:defRPr>
            </a:pPr>
            <a:r>
              <a:rPr sz="1200" b="1">
                <a:solidFill>
                  <a:srgbClr val="102A43"/>
                </a:solidFill>
                <a:latin typeface="Microsoft YaHei"/>
                <a:ea typeface="Microsoft YaHei"/>
                <a:cs typeface="Microsoft YaHei"/>
              </a:rPr>
              <a:t>海上绿地项目投资</a:t>
            </a:r>
          </a:p>
        </p:txBody>
      </p:sp>
      <p:sp>
        <p:nvSpPr>
          <p:cNvPr id="13" name="kpi-note-海上绿地项目投资">
            <a:extLst xmlns:a="http://schemas.openxmlformats.org/drawingml/2006/main">
              <a:ext uri="{FF2B5EF4-FFF2-40B4-BE49-F238E27FC236}">
                <a16:creationId xmlns:a16="http://schemas.microsoft.com/office/drawing/2014/main" id="{57C4F48C-2232-4D0E-B167-3DF9B0CF139E}"/>
              </a:ext>
            </a:extLst>
          </p:cNvPr>
          <p:cNvSpPr>
            <a:spLocks xmlns:a="http://schemas.openxmlformats.org/drawingml/2006/main" noGrp="1"/>
          </p:cNvSpPr>
          <p:nvPr/>
        </p:nvSpPr>
        <p:spPr>
          <a:xfrm xmlns:a="http://schemas.openxmlformats.org/drawingml/2006/main">
            <a:off x="7124700" y="24193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2022年突破，报告预计后续保持高位</a:t>
            </a:r>
          </a:p>
        </p:txBody>
      </p:sp>
      <p:sp>
        <p:nvSpPr>
          <p:cNvPr id="14" name="kpi-深水发现占比">
            <a:extLst xmlns:a="http://schemas.openxmlformats.org/drawingml/2006/main">
              <a:ext uri="{FF2B5EF4-FFF2-40B4-BE49-F238E27FC236}">
                <a16:creationId xmlns:a16="http://schemas.microsoft.com/office/drawing/2014/main" id="{1DE2E981-93E3-432E-8651-2456E0A5988B}"/>
              </a:ext>
            </a:extLst>
          </p:cNvPr>
          <p:cNvSpPr>
            <a:spLocks xmlns:a="http://schemas.openxmlformats.org/drawingml/2006/main" noGrp="1"/>
          </p:cNvSpPr>
          <p:nvPr/>
        </p:nvSpPr>
        <p:spPr>
          <a:xfrm xmlns:a="http://schemas.openxmlformats.org/drawingml/2006/main">
            <a:off x="6858000" y="3048000"/>
            <a:ext cx="4762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BCCCDC"/>
            </a:solidFill>
            <a:prstDash val="solid"/>
          </a:ln>
        </p:spPr>
      </p:sp>
      <p:sp>
        <p:nvSpPr>
          <p:cNvPr id="15" name="kpi-accent-深水发现占比">
            <a:extLst xmlns:a="http://schemas.openxmlformats.org/drawingml/2006/main">
              <a:ext uri="{FF2B5EF4-FFF2-40B4-BE49-F238E27FC236}">
                <a16:creationId xmlns:a16="http://schemas.microsoft.com/office/drawing/2014/main" id="{06FE017A-CC2B-41D9-B5EE-B44E7703D586}"/>
              </a:ext>
            </a:extLst>
          </p:cNvPr>
          <p:cNvSpPr>
            <a:spLocks xmlns:a="http://schemas.openxmlformats.org/drawingml/2006/main" noGrp="1"/>
          </p:cNvSpPr>
          <p:nvPr/>
        </p:nvSpPr>
        <p:spPr>
          <a:xfrm xmlns:a="http://schemas.openxmlformats.org/drawingml/2006/main">
            <a:off x="6858000" y="3048000"/>
            <a:ext cx="66675" cy="1143000"/>
          </a:xfrm>
          <a:prstGeom xmlns:a="http://schemas.openxmlformats.org/drawingml/2006/main" prst="roundRect">
            <a:avLst>
              <a:gd name="adj" fmla="val 50000"/>
            </a:avLst>
          </a:prstGeom>
          <a:solidFill xmlns:a="http://schemas.openxmlformats.org/drawingml/2006/main">
            <a:srgbClr val="2F6B7C"/>
          </a:solidFill>
          <a:ln xmlns:a="http://schemas.openxmlformats.org/drawingml/2006/main" w="0">
            <a:noFill/>
            <a:prstDash val="solid"/>
          </a:ln>
        </p:spPr>
      </p:sp>
      <p:sp>
        <p:nvSpPr>
          <p:cNvPr id="16" name="kpi-value-深水发现占比">
            <a:extLst xmlns:a="http://schemas.openxmlformats.org/drawingml/2006/main">
              <a:ext uri="{FF2B5EF4-FFF2-40B4-BE49-F238E27FC236}">
                <a16:creationId xmlns:a16="http://schemas.microsoft.com/office/drawing/2014/main" id="{ED6DE4F7-EA7F-4FEC-9DA5-FBA056630D1B}"/>
              </a:ext>
            </a:extLst>
          </p:cNvPr>
          <p:cNvSpPr>
            <a:spLocks xmlns:a="http://schemas.openxmlformats.org/drawingml/2006/main" noGrp="1"/>
          </p:cNvSpPr>
          <p:nvPr/>
        </p:nvSpPr>
        <p:spPr>
          <a:xfrm xmlns:a="http://schemas.openxmlformats.org/drawingml/2006/main">
            <a:off x="7124700" y="3143250"/>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2F6B7C"/>
                </a:solidFill>
                <a:latin typeface="Microsoft YaHei"/>
                <a:ea typeface="Microsoft YaHei"/>
                <a:cs typeface="Microsoft YaHei"/>
              </a:defRPr>
            </a:pPr>
            <a:r>
              <a:rPr sz="2100" b="1">
                <a:solidFill>
                  <a:srgbClr val="2F6B7C"/>
                </a:solidFill>
                <a:latin typeface="Microsoft YaHei"/>
                <a:ea typeface="Microsoft YaHei"/>
                <a:cs typeface="Microsoft YaHei"/>
              </a:rPr>
              <a:t>51%</a:t>
            </a:r>
          </a:p>
        </p:txBody>
      </p:sp>
      <p:sp>
        <p:nvSpPr>
          <p:cNvPr id="17" name="kpi-label-深水发现占比">
            <a:extLst xmlns:a="http://schemas.openxmlformats.org/drawingml/2006/main">
              <a:ext uri="{FF2B5EF4-FFF2-40B4-BE49-F238E27FC236}">
                <a16:creationId xmlns:a16="http://schemas.microsoft.com/office/drawing/2014/main" id="{BF5C4B21-239C-48D8-B99D-E2B202249303}"/>
              </a:ext>
            </a:extLst>
          </p:cNvPr>
          <p:cNvSpPr>
            <a:spLocks xmlns:a="http://schemas.openxmlformats.org/drawingml/2006/main" noGrp="1"/>
          </p:cNvSpPr>
          <p:nvPr/>
        </p:nvSpPr>
        <p:spPr>
          <a:xfrm xmlns:a="http://schemas.openxmlformats.org/drawingml/2006/main">
            <a:off x="7124700" y="3524250"/>
            <a:ext cx="430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102A43"/>
                </a:solidFill>
                <a:latin typeface="Microsoft YaHei"/>
                <a:ea typeface="Microsoft YaHei"/>
                <a:cs typeface="Microsoft YaHei"/>
              </a:defRPr>
            </a:pPr>
            <a:r>
              <a:rPr sz="1200" b="1">
                <a:solidFill>
                  <a:srgbClr val="102A43"/>
                </a:solidFill>
                <a:latin typeface="Microsoft YaHei"/>
                <a:ea typeface="Microsoft YaHei"/>
                <a:cs typeface="Microsoft YaHei"/>
              </a:rPr>
              <a:t>深水发现占比</a:t>
            </a:r>
          </a:p>
        </p:txBody>
      </p:sp>
      <p:sp>
        <p:nvSpPr>
          <p:cNvPr id="18" name="kpi-note-深水发现占比">
            <a:extLst xmlns:a="http://schemas.openxmlformats.org/drawingml/2006/main">
              <a:ext uri="{FF2B5EF4-FFF2-40B4-BE49-F238E27FC236}">
                <a16:creationId xmlns:a16="http://schemas.microsoft.com/office/drawing/2014/main" id="{E080EEB4-AE93-4F86-943A-244129FC6132}"/>
              </a:ext>
            </a:extLst>
          </p:cNvPr>
          <p:cNvSpPr>
            <a:spLocks xmlns:a="http://schemas.openxmlformats.org/drawingml/2006/main" noGrp="1"/>
          </p:cNvSpPr>
          <p:nvPr/>
        </p:nvSpPr>
        <p:spPr>
          <a:xfrm xmlns:a="http://schemas.openxmlformats.org/drawingml/2006/main">
            <a:off x="7124700" y="37909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2011-2023年；2000-2010年为30%</a:t>
            </a:r>
          </a:p>
        </p:txBody>
      </p:sp>
      <p:sp>
        <p:nvSpPr>
          <p:cNvPr id="19" name="kpi-全球年均油气发现">
            <a:extLst xmlns:a="http://schemas.openxmlformats.org/drawingml/2006/main">
              <a:ext uri="{FF2B5EF4-FFF2-40B4-BE49-F238E27FC236}">
                <a16:creationId xmlns:a16="http://schemas.microsoft.com/office/drawing/2014/main" id="{55C95DB2-991A-4673-9E4E-2454AF31129B}"/>
              </a:ext>
            </a:extLst>
          </p:cNvPr>
          <p:cNvSpPr>
            <a:spLocks xmlns:a="http://schemas.openxmlformats.org/drawingml/2006/main" noGrp="1"/>
          </p:cNvSpPr>
          <p:nvPr/>
        </p:nvSpPr>
        <p:spPr>
          <a:xfrm xmlns:a="http://schemas.openxmlformats.org/drawingml/2006/main">
            <a:off x="6858000" y="4419600"/>
            <a:ext cx="4762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BCCCDC"/>
            </a:solidFill>
            <a:prstDash val="solid"/>
          </a:ln>
        </p:spPr>
      </p:sp>
      <p:sp>
        <p:nvSpPr>
          <p:cNvPr id="20" name="kpi-accent-全球年均油气发现">
            <a:extLst xmlns:a="http://schemas.openxmlformats.org/drawingml/2006/main">
              <a:ext uri="{FF2B5EF4-FFF2-40B4-BE49-F238E27FC236}">
                <a16:creationId xmlns:a16="http://schemas.microsoft.com/office/drawing/2014/main" id="{59CB6E71-285F-41C6-BA01-E83CE3CED524}"/>
              </a:ext>
            </a:extLst>
          </p:cNvPr>
          <p:cNvSpPr>
            <a:spLocks xmlns:a="http://schemas.openxmlformats.org/drawingml/2006/main" noGrp="1"/>
          </p:cNvSpPr>
          <p:nvPr/>
        </p:nvSpPr>
        <p:spPr>
          <a:xfrm xmlns:a="http://schemas.openxmlformats.org/drawingml/2006/main">
            <a:off x="6858000" y="4419600"/>
            <a:ext cx="66675" cy="1143000"/>
          </a:xfrm>
          <a:prstGeom xmlns:a="http://schemas.openxmlformats.org/drawingml/2006/main" prst="roundRect">
            <a:avLst>
              <a:gd name="adj" fmla="val 50000"/>
            </a:avLst>
          </a:prstGeom>
          <a:solidFill xmlns:a="http://schemas.openxmlformats.org/drawingml/2006/main">
            <a:srgbClr val="3E7C59"/>
          </a:solidFill>
          <a:ln xmlns:a="http://schemas.openxmlformats.org/drawingml/2006/main" w="0">
            <a:noFill/>
            <a:prstDash val="solid"/>
          </a:ln>
        </p:spPr>
      </p:sp>
      <p:sp>
        <p:nvSpPr>
          <p:cNvPr id="21" name="kpi-value-全球年均油气发现">
            <a:extLst xmlns:a="http://schemas.openxmlformats.org/drawingml/2006/main">
              <a:ext uri="{FF2B5EF4-FFF2-40B4-BE49-F238E27FC236}">
                <a16:creationId xmlns:a16="http://schemas.microsoft.com/office/drawing/2014/main" id="{EA7E7E17-3301-4401-BD62-9C1C37DFCAF2}"/>
              </a:ext>
            </a:extLst>
          </p:cNvPr>
          <p:cNvSpPr>
            <a:spLocks xmlns:a="http://schemas.openxmlformats.org/drawingml/2006/main" noGrp="1"/>
          </p:cNvSpPr>
          <p:nvPr/>
        </p:nvSpPr>
        <p:spPr>
          <a:xfrm xmlns:a="http://schemas.openxmlformats.org/drawingml/2006/main">
            <a:off x="7124700" y="4514850"/>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3E7C59"/>
                </a:solidFill>
                <a:latin typeface="Microsoft YaHei"/>
                <a:ea typeface="Microsoft YaHei"/>
                <a:cs typeface="Microsoft YaHei"/>
              </a:defRPr>
            </a:pPr>
            <a:r>
              <a:rPr sz="2100" b="1">
                <a:solidFill>
                  <a:srgbClr val="3E7C59"/>
                </a:solidFill>
                <a:latin typeface="Microsoft YaHei"/>
                <a:ea typeface="Microsoft YaHei"/>
                <a:cs typeface="Microsoft YaHei"/>
              </a:rPr>
              <a:t>18bn boe/年</a:t>
            </a:r>
          </a:p>
        </p:txBody>
      </p:sp>
      <p:sp>
        <p:nvSpPr>
          <p:cNvPr id="22" name="kpi-label-全球年均油气发现">
            <a:extLst xmlns:a="http://schemas.openxmlformats.org/drawingml/2006/main">
              <a:ext uri="{FF2B5EF4-FFF2-40B4-BE49-F238E27FC236}">
                <a16:creationId xmlns:a16="http://schemas.microsoft.com/office/drawing/2014/main" id="{D02ECC87-40FB-4B0F-A2A4-D001BC6A488D}"/>
              </a:ext>
            </a:extLst>
          </p:cNvPr>
          <p:cNvSpPr>
            <a:spLocks xmlns:a="http://schemas.openxmlformats.org/drawingml/2006/main" noGrp="1"/>
          </p:cNvSpPr>
          <p:nvPr/>
        </p:nvSpPr>
        <p:spPr>
          <a:xfrm xmlns:a="http://schemas.openxmlformats.org/drawingml/2006/main">
            <a:off x="7124700" y="4895850"/>
            <a:ext cx="430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102A43"/>
                </a:solidFill>
                <a:latin typeface="Microsoft YaHei"/>
                <a:ea typeface="Microsoft YaHei"/>
                <a:cs typeface="Microsoft YaHei"/>
              </a:defRPr>
            </a:pPr>
            <a:r>
              <a:rPr sz="1200" b="1">
                <a:solidFill>
                  <a:srgbClr val="102A43"/>
                </a:solidFill>
                <a:latin typeface="Microsoft YaHei"/>
                <a:ea typeface="Microsoft YaHei"/>
                <a:cs typeface="Microsoft YaHei"/>
              </a:rPr>
              <a:t>全球年均油气发现</a:t>
            </a:r>
          </a:p>
        </p:txBody>
      </p:sp>
      <p:sp>
        <p:nvSpPr>
          <p:cNvPr id="23" name="kpi-note-全球年均油气发现">
            <a:extLst xmlns:a="http://schemas.openxmlformats.org/drawingml/2006/main">
              <a:ext uri="{FF2B5EF4-FFF2-40B4-BE49-F238E27FC236}">
                <a16:creationId xmlns:a16="http://schemas.microsoft.com/office/drawing/2014/main" id="{3844AEE7-9729-4056-975D-906D4F5A4E3D}"/>
              </a:ext>
            </a:extLst>
          </p:cNvPr>
          <p:cNvSpPr>
            <a:spLocks xmlns:a="http://schemas.openxmlformats.org/drawingml/2006/main" noGrp="1"/>
          </p:cNvSpPr>
          <p:nvPr/>
        </p:nvSpPr>
        <p:spPr>
          <a:xfrm xmlns:a="http://schemas.openxmlformats.org/drawingml/2006/main">
            <a:off x="7124700" y="51625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2011-2023年，深水占比持续提升</a:t>
            </a:r>
          </a:p>
        </p:txBody>
      </p:sp>
      <p:sp>
        <p:nvSpPr>
          <p:cNvPr id="24" name="source-3">
            <a:extLst xmlns:a="http://schemas.openxmlformats.org/drawingml/2006/main">
              <a:ext uri="{FF2B5EF4-FFF2-40B4-BE49-F238E27FC236}">
                <a16:creationId xmlns:a16="http://schemas.microsoft.com/office/drawing/2014/main" id="{93663290-9AED-4A2F-BFEF-C26F0A0B44AB}"/>
              </a:ext>
            </a:extLst>
          </p:cNvPr>
          <p:cNvSpPr>
            <a:spLocks xmlns:a="http://schemas.openxmlformats.org/drawingml/2006/main" noGrp="1"/>
          </p:cNvSpPr>
          <p:nvPr/>
        </p:nvSpPr>
        <p:spPr>
          <a:xfrm xmlns:a="http://schemas.openxmlformats.org/drawingml/2006/main">
            <a:off x="533400" y="64198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0">
                <a:solidFill>
                  <a:srgbClr val="627D98"/>
                </a:solidFill>
                <a:latin typeface="Microsoft YaHei"/>
                <a:ea typeface="Microsoft YaHei"/>
                <a:cs typeface="Microsoft YaHei"/>
              </a:defRPr>
            </a:pPr>
            <a:r>
              <a:rPr sz="825" b="0">
                <a:solidFill>
                  <a:srgbClr val="627D98"/>
                </a:solidFill>
                <a:latin typeface="Microsoft YaHei"/>
                <a:ea typeface="Microsoft YaHei"/>
                <a:cs typeface="Microsoft YaHei"/>
              </a:rPr>
              <a:t>资料来源：国信证券《深水、超深水油气资源前景广阔》，2024-04-03，第3页；天然气单位已由亿立方米换算为十亿立方米</a:t>
            </a:r>
          </a:p>
        </p:txBody>
      </p:sp>
    </p:spTree>
    <p:extLst>
      <p:ext uri="{BB962C8B-B14F-4D97-AF65-F5344CB8AC3E}">
        <p14:creationId xmlns:p14="http://schemas.microsoft.com/office/powerpoint/2010/main" val="1930924577"/>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section-6">
            <a:extLst xmlns:a="http://schemas.openxmlformats.org/drawingml/2006/main">
              <a:ext uri="{FF2B5EF4-FFF2-40B4-BE49-F238E27FC236}">
                <a16:creationId xmlns:a16="http://schemas.microsoft.com/office/drawing/2014/main" id="{4A6F8D73-D78B-415B-AA9E-45FFA400FAD8}"/>
              </a:ext>
            </a:extLst>
          </p:cNvPr>
          <p:cNvSpPr>
            <a:spLocks xmlns:a="http://schemas.openxmlformats.org/drawingml/2006/main" noGrp="1"/>
          </p:cNvSpPr>
          <p:nvPr/>
        </p:nvSpPr>
        <p:spPr>
          <a:xfrm xmlns:a="http://schemas.openxmlformats.org/drawingml/2006/main">
            <a:off x="53340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76E3D"/>
                </a:solidFill>
                <a:latin typeface="Microsoft YaHei"/>
                <a:ea typeface="Microsoft YaHei"/>
                <a:cs typeface="Microsoft YaHei"/>
              </a:defRPr>
            </a:pPr>
            <a:r>
              <a:rPr sz="1050" b="1">
                <a:solidFill>
                  <a:srgbClr val="B76E3D"/>
                </a:solidFill>
                <a:latin typeface="Microsoft YaHei"/>
                <a:ea typeface="Microsoft YaHei"/>
                <a:cs typeface="Microsoft YaHei"/>
              </a:rPr>
              <a:t>中国结构机会</a:t>
            </a:r>
          </a:p>
        </p:txBody>
      </p:sp>
      <p:sp>
        <p:nvSpPr>
          <p:cNvPr id="2" name="title-6">
            <a:extLst xmlns:a="http://schemas.openxmlformats.org/drawingml/2006/main">
              <a:ext uri="{FF2B5EF4-FFF2-40B4-BE49-F238E27FC236}">
                <a16:creationId xmlns:a16="http://schemas.microsoft.com/office/drawing/2014/main" id="{97799164-6A89-4AA3-9B24-CCD4F9D061EB}"/>
              </a:ext>
            </a:extLst>
          </p:cNvPr>
          <p:cNvSpPr>
            <a:spLocks xmlns:a="http://schemas.openxmlformats.org/drawingml/2006/main" noGrp="1"/>
          </p:cNvSpPr>
          <p:nvPr/>
        </p:nvSpPr>
        <p:spPr>
          <a:xfrm xmlns:a="http://schemas.openxmlformats.org/drawingml/2006/main">
            <a:off x="533400" y="5524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2A43"/>
                </a:solidFill>
                <a:latin typeface="Microsoft YaHei"/>
                <a:ea typeface="Microsoft YaHei"/>
                <a:cs typeface="Microsoft YaHei"/>
              </a:defRPr>
            </a:pPr>
            <a:r>
              <a:rPr sz="2700" b="1">
                <a:solidFill>
                  <a:srgbClr val="102A43"/>
                </a:solidFill>
                <a:latin typeface="Microsoft YaHei"/>
                <a:ea typeface="Microsoft YaHei"/>
                <a:cs typeface="Microsoft YaHei"/>
              </a:rPr>
              <a:t>海洋油气已成为国内增储上产核心增量</a:t>
            </a:r>
          </a:p>
        </p:txBody>
      </p:sp>
      <p:sp>
        <p:nvSpPr>
          <p:cNvPr id="3" name="">
            <a:extLst xmlns:a="http://schemas.openxmlformats.org/drawingml/2006/main">
              <a:ext uri="{FF2B5EF4-FFF2-40B4-BE49-F238E27FC236}">
                <a16:creationId xmlns:a16="http://schemas.microsoft.com/office/drawing/2014/main" id="{30CF0BBD-AC36-4374-8B17-1DDA0A86FA35}"/>
              </a:ext>
            </a:extLst>
          </p:cNvPr>
          <p:cNvSpPr>
            <a:spLocks xmlns:a="http://schemas.openxmlformats.org/drawingml/2006/main" noGrp="1"/>
          </p:cNvSpPr>
          <p:nvPr/>
        </p:nvSpPr>
        <p:spPr>
          <a:xfrm xmlns:a="http://schemas.openxmlformats.org/drawingml/2006/main">
            <a:off x="533400" y="1333500"/>
            <a:ext cx="111252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4" name="page-6">
            <a:extLst xmlns:a="http://schemas.openxmlformats.org/drawingml/2006/main">
              <a:ext uri="{FF2B5EF4-FFF2-40B4-BE49-F238E27FC236}">
                <a16:creationId xmlns:a16="http://schemas.microsoft.com/office/drawing/2014/main" id="{686B1CBC-A275-4B93-B790-B19D8674A48B}"/>
              </a:ext>
            </a:extLst>
          </p:cNvPr>
          <p:cNvSpPr>
            <a:spLocks xmlns:a="http://schemas.openxmlformats.org/drawingml/2006/main" noGrp="1"/>
          </p:cNvSpPr>
          <p:nvPr/>
        </p:nvSpPr>
        <p:spPr>
          <a:xfrm xmlns:a="http://schemas.openxmlformats.org/drawingml/2006/main">
            <a:off x="11144250" y="6438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06</a:t>
            </a:r>
          </a:p>
        </p:txBody>
      </p:sp>
      <p:sp>
        <p:nvSpPr>
          <p:cNvPr id="5" name="kpi-2023年海洋原油产量">
            <a:extLst xmlns:a="http://schemas.openxmlformats.org/drawingml/2006/main">
              <a:ext uri="{FF2B5EF4-FFF2-40B4-BE49-F238E27FC236}">
                <a16:creationId xmlns:a16="http://schemas.microsoft.com/office/drawing/2014/main" id="{98C956DC-BD08-4F81-8FFD-585BC774D7E3}"/>
              </a:ext>
            </a:extLst>
          </p:cNvPr>
          <p:cNvSpPr>
            <a:spLocks xmlns:a="http://schemas.openxmlformats.org/drawingml/2006/main" noGrp="1"/>
          </p:cNvSpPr>
          <p:nvPr/>
        </p:nvSpPr>
        <p:spPr>
          <a:xfrm xmlns:a="http://schemas.openxmlformats.org/drawingml/2006/main">
            <a:off x="533400" y="1676400"/>
            <a:ext cx="33337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CCCDC"/>
            </a:solidFill>
            <a:prstDash val="solid"/>
          </a:ln>
        </p:spPr>
      </p:sp>
      <p:sp>
        <p:nvSpPr>
          <p:cNvPr id="6" name="kpi-accent-2023年海洋原油产量">
            <a:extLst xmlns:a="http://schemas.openxmlformats.org/drawingml/2006/main">
              <a:ext uri="{FF2B5EF4-FFF2-40B4-BE49-F238E27FC236}">
                <a16:creationId xmlns:a16="http://schemas.microsoft.com/office/drawing/2014/main" id="{4B2BEA3E-EADF-4A33-BAA0-0E0D85F4DBF3}"/>
              </a:ext>
            </a:extLst>
          </p:cNvPr>
          <p:cNvSpPr>
            <a:spLocks xmlns:a="http://schemas.openxmlformats.org/drawingml/2006/main" noGrp="1"/>
          </p:cNvSpPr>
          <p:nvPr/>
        </p:nvSpPr>
        <p:spPr>
          <a:xfrm xmlns:a="http://schemas.openxmlformats.org/drawingml/2006/main">
            <a:off x="533400" y="1676400"/>
            <a:ext cx="66675" cy="2000250"/>
          </a:xfrm>
          <a:prstGeom xmlns:a="http://schemas.openxmlformats.org/drawingml/2006/main" prst="roundRect">
            <a:avLst>
              <a:gd name="adj" fmla="val 50000"/>
            </a:avLst>
          </a:prstGeom>
          <a:solidFill xmlns:a="http://schemas.openxmlformats.org/drawingml/2006/main">
            <a:srgbClr val="2F6B7C"/>
          </a:solidFill>
          <a:ln xmlns:a="http://schemas.openxmlformats.org/drawingml/2006/main" w="0">
            <a:noFill/>
            <a:prstDash val="solid"/>
          </a:ln>
        </p:spPr>
      </p:sp>
      <p:sp>
        <p:nvSpPr>
          <p:cNvPr id="7" name="kpi-value-2023年海洋原油产量">
            <a:extLst xmlns:a="http://schemas.openxmlformats.org/drawingml/2006/main">
              <a:ext uri="{FF2B5EF4-FFF2-40B4-BE49-F238E27FC236}">
                <a16:creationId xmlns:a16="http://schemas.microsoft.com/office/drawing/2014/main" id="{1A36DA86-FD11-42D9-A6D0-049E9984F3F3}"/>
              </a:ext>
            </a:extLst>
          </p:cNvPr>
          <p:cNvSpPr>
            <a:spLocks xmlns:a="http://schemas.openxmlformats.org/drawingml/2006/main" noGrp="1"/>
          </p:cNvSpPr>
          <p:nvPr/>
        </p:nvSpPr>
        <p:spPr>
          <a:xfrm xmlns:a="http://schemas.openxmlformats.org/drawingml/2006/main">
            <a:off x="800100" y="1866900"/>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2F6B7C"/>
                </a:solidFill>
                <a:latin typeface="Microsoft YaHei"/>
                <a:ea typeface="Microsoft YaHei"/>
                <a:cs typeface="Microsoft YaHei"/>
              </a:defRPr>
            </a:pPr>
            <a:r>
              <a:rPr sz="2700" b="1">
                <a:solidFill>
                  <a:srgbClr val="2F6B7C"/>
                </a:solidFill>
                <a:latin typeface="Microsoft YaHei"/>
                <a:ea typeface="Microsoft YaHei"/>
                <a:cs typeface="Microsoft YaHei"/>
              </a:rPr>
              <a:t>6,220万吨</a:t>
            </a:r>
          </a:p>
        </p:txBody>
      </p:sp>
      <p:sp>
        <p:nvSpPr>
          <p:cNvPr id="8" name="kpi-label-2023年海洋原油产量">
            <a:extLst xmlns:a="http://schemas.openxmlformats.org/drawingml/2006/main">
              <a:ext uri="{FF2B5EF4-FFF2-40B4-BE49-F238E27FC236}">
                <a16:creationId xmlns:a16="http://schemas.microsoft.com/office/drawing/2014/main" id="{46778676-D3D1-464B-B556-40FB81FA8C82}"/>
              </a:ext>
            </a:extLst>
          </p:cNvPr>
          <p:cNvSpPr>
            <a:spLocks xmlns:a="http://schemas.openxmlformats.org/drawingml/2006/main" noGrp="1"/>
          </p:cNvSpPr>
          <p:nvPr/>
        </p:nvSpPr>
        <p:spPr>
          <a:xfrm xmlns:a="http://schemas.openxmlformats.org/drawingml/2006/main">
            <a:off x="800100" y="243840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2023年海洋原油产量</a:t>
            </a:r>
          </a:p>
        </p:txBody>
      </p:sp>
      <p:sp>
        <p:nvSpPr>
          <p:cNvPr id="9" name="kpi-note-2023年海洋原油产量">
            <a:extLst xmlns:a="http://schemas.openxmlformats.org/drawingml/2006/main">
              <a:ext uri="{FF2B5EF4-FFF2-40B4-BE49-F238E27FC236}">
                <a16:creationId xmlns:a16="http://schemas.microsoft.com/office/drawing/2014/main" id="{828C6141-6E5D-4743-8BBE-54CCB5CC567F}"/>
              </a:ext>
            </a:extLst>
          </p:cNvPr>
          <p:cNvSpPr>
            <a:spLocks xmlns:a="http://schemas.openxmlformats.org/drawingml/2006/main" noGrp="1"/>
          </p:cNvSpPr>
          <p:nvPr/>
        </p:nvSpPr>
        <p:spPr>
          <a:xfrm xmlns:a="http://schemas.openxmlformats.org/drawingml/2006/main">
            <a:off x="800100" y="2800350"/>
            <a:ext cx="2876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7D98"/>
                </a:solidFill>
                <a:latin typeface="Microsoft YaHei"/>
                <a:ea typeface="Microsoft YaHei"/>
                <a:cs typeface="Microsoft YaHei"/>
              </a:defRPr>
            </a:pPr>
            <a:r>
              <a:rPr sz="1050" b="0">
                <a:solidFill>
                  <a:srgbClr val="627D98"/>
                </a:solidFill>
                <a:latin typeface="Microsoft YaHei"/>
                <a:ea typeface="Microsoft YaHei"/>
                <a:cs typeface="Microsoft YaHei"/>
              </a:rPr>
              <a:t>同比新增约360万吨</a:t>
            </a:r>
          </a:p>
        </p:txBody>
      </p:sp>
      <p:sp>
        <p:nvSpPr>
          <p:cNvPr id="10" name="kpi-占全国原油产量增量">
            <a:extLst xmlns:a="http://schemas.openxmlformats.org/drawingml/2006/main">
              <a:ext uri="{FF2B5EF4-FFF2-40B4-BE49-F238E27FC236}">
                <a16:creationId xmlns:a16="http://schemas.microsoft.com/office/drawing/2014/main" id="{FB4F26E4-642C-4F4E-8BEC-E5F6F005DBE1}"/>
              </a:ext>
            </a:extLst>
          </p:cNvPr>
          <p:cNvSpPr>
            <a:spLocks xmlns:a="http://schemas.openxmlformats.org/drawingml/2006/main" noGrp="1"/>
          </p:cNvSpPr>
          <p:nvPr/>
        </p:nvSpPr>
        <p:spPr>
          <a:xfrm xmlns:a="http://schemas.openxmlformats.org/drawingml/2006/main">
            <a:off x="4429125" y="1676400"/>
            <a:ext cx="33337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CCCDC"/>
            </a:solidFill>
            <a:prstDash val="solid"/>
          </a:ln>
        </p:spPr>
      </p:sp>
      <p:sp>
        <p:nvSpPr>
          <p:cNvPr id="11" name="kpi-accent-占全国原油产量增量">
            <a:extLst xmlns:a="http://schemas.openxmlformats.org/drawingml/2006/main">
              <a:ext uri="{FF2B5EF4-FFF2-40B4-BE49-F238E27FC236}">
                <a16:creationId xmlns:a16="http://schemas.microsoft.com/office/drawing/2014/main" id="{BEB3CCA9-F7BF-46A5-8145-56250F7A66FA}"/>
              </a:ext>
            </a:extLst>
          </p:cNvPr>
          <p:cNvSpPr>
            <a:spLocks xmlns:a="http://schemas.openxmlformats.org/drawingml/2006/main" noGrp="1"/>
          </p:cNvSpPr>
          <p:nvPr/>
        </p:nvSpPr>
        <p:spPr>
          <a:xfrm xmlns:a="http://schemas.openxmlformats.org/drawingml/2006/main">
            <a:off x="4429125" y="1676400"/>
            <a:ext cx="66675" cy="2000250"/>
          </a:xfrm>
          <a:prstGeom xmlns:a="http://schemas.openxmlformats.org/drawingml/2006/main" prst="roundRect">
            <a:avLst>
              <a:gd name="adj" fmla="val 50000"/>
            </a:avLst>
          </a:prstGeom>
          <a:solidFill xmlns:a="http://schemas.openxmlformats.org/drawingml/2006/main">
            <a:srgbClr val="B76E3D"/>
          </a:solidFill>
          <a:ln xmlns:a="http://schemas.openxmlformats.org/drawingml/2006/main" w="0">
            <a:noFill/>
            <a:prstDash val="solid"/>
          </a:ln>
        </p:spPr>
      </p:sp>
      <p:sp>
        <p:nvSpPr>
          <p:cNvPr id="12" name="kpi-value-占全国原油产量增量">
            <a:extLst xmlns:a="http://schemas.openxmlformats.org/drawingml/2006/main">
              <a:ext uri="{FF2B5EF4-FFF2-40B4-BE49-F238E27FC236}">
                <a16:creationId xmlns:a16="http://schemas.microsoft.com/office/drawing/2014/main" id="{15737D65-E6A4-4C64-A16D-2B6D6E64B2AB}"/>
              </a:ext>
            </a:extLst>
          </p:cNvPr>
          <p:cNvSpPr>
            <a:spLocks xmlns:a="http://schemas.openxmlformats.org/drawingml/2006/main" noGrp="1"/>
          </p:cNvSpPr>
          <p:nvPr/>
        </p:nvSpPr>
        <p:spPr>
          <a:xfrm xmlns:a="http://schemas.openxmlformats.org/drawingml/2006/main">
            <a:off x="4695825" y="1866900"/>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B76E3D"/>
                </a:solidFill>
                <a:latin typeface="Microsoft YaHei"/>
                <a:ea typeface="Microsoft YaHei"/>
                <a:cs typeface="Microsoft YaHei"/>
              </a:defRPr>
            </a:pPr>
            <a:r>
              <a:rPr sz="2700" b="1">
                <a:solidFill>
                  <a:srgbClr val="B76E3D"/>
                </a:solidFill>
                <a:latin typeface="Microsoft YaHei"/>
                <a:ea typeface="Microsoft YaHei"/>
                <a:cs typeface="Microsoft YaHei"/>
              </a:rPr>
              <a:t>&gt;60%</a:t>
            </a:r>
          </a:p>
        </p:txBody>
      </p:sp>
      <p:sp>
        <p:nvSpPr>
          <p:cNvPr id="13" name="kpi-label-占全国原油产量增量">
            <a:extLst xmlns:a="http://schemas.openxmlformats.org/drawingml/2006/main">
              <a:ext uri="{FF2B5EF4-FFF2-40B4-BE49-F238E27FC236}">
                <a16:creationId xmlns:a16="http://schemas.microsoft.com/office/drawing/2014/main" id="{543003F0-ADF2-4709-AE5F-2818596E713C}"/>
              </a:ext>
            </a:extLst>
          </p:cNvPr>
          <p:cNvSpPr>
            <a:spLocks xmlns:a="http://schemas.openxmlformats.org/drawingml/2006/main" noGrp="1"/>
          </p:cNvSpPr>
          <p:nvPr/>
        </p:nvSpPr>
        <p:spPr>
          <a:xfrm xmlns:a="http://schemas.openxmlformats.org/drawingml/2006/main">
            <a:off x="4695825" y="243840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占全国原油产量增量</a:t>
            </a:r>
          </a:p>
        </p:txBody>
      </p:sp>
      <p:sp>
        <p:nvSpPr>
          <p:cNvPr id="14" name="kpi-note-占全国原油产量增量">
            <a:extLst xmlns:a="http://schemas.openxmlformats.org/drawingml/2006/main">
              <a:ext uri="{FF2B5EF4-FFF2-40B4-BE49-F238E27FC236}">
                <a16:creationId xmlns:a16="http://schemas.microsoft.com/office/drawing/2014/main" id="{5FC284EB-4B2A-4880-94CB-FB22BD26BE11}"/>
              </a:ext>
            </a:extLst>
          </p:cNvPr>
          <p:cNvSpPr>
            <a:spLocks xmlns:a="http://schemas.openxmlformats.org/drawingml/2006/main" noGrp="1"/>
          </p:cNvSpPr>
          <p:nvPr/>
        </p:nvSpPr>
        <p:spPr>
          <a:xfrm xmlns:a="http://schemas.openxmlformats.org/drawingml/2006/main">
            <a:off x="4695825" y="2800350"/>
            <a:ext cx="2876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7D98"/>
                </a:solidFill>
                <a:latin typeface="Microsoft YaHei"/>
                <a:ea typeface="Microsoft YaHei"/>
                <a:cs typeface="Microsoft YaHei"/>
              </a:defRPr>
            </a:pPr>
            <a:r>
              <a:rPr sz="1050" b="0">
                <a:solidFill>
                  <a:srgbClr val="627D98"/>
                </a:solidFill>
                <a:latin typeface="Microsoft YaHei"/>
                <a:ea typeface="Microsoft YaHei"/>
                <a:cs typeface="Microsoft YaHei"/>
              </a:rPr>
              <a:t>海上石油贡献全国大部分新增产量</a:t>
            </a:r>
          </a:p>
        </p:txBody>
      </p:sp>
      <p:sp>
        <p:nvSpPr>
          <p:cNvPr id="15" name="kpi-海洋油气资源占比">
            <a:extLst xmlns:a="http://schemas.openxmlformats.org/drawingml/2006/main">
              <a:ext uri="{FF2B5EF4-FFF2-40B4-BE49-F238E27FC236}">
                <a16:creationId xmlns:a16="http://schemas.microsoft.com/office/drawing/2014/main" id="{ADEB7116-9261-4923-B5EC-CE51568386C6}"/>
              </a:ext>
            </a:extLst>
          </p:cNvPr>
          <p:cNvSpPr>
            <a:spLocks xmlns:a="http://schemas.openxmlformats.org/drawingml/2006/main" noGrp="1"/>
          </p:cNvSpPr>
          <p:nvPr/>
        </p:nvSpPr>
        <p:spPr>
          <a:xfrm xmlns:a="http://schemas.openxmlformats.org/drawingml/2006/main">
            <a:off x="8324850" y="1676400"/>
            <a:ext cx="33337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CCCDC"/>
            </a:solidFill>
            <a:prstDash val="solid"/>
          </a:ln>
        </p:spPr>
      </p:sp>
      <p:sp>
        <p:nvSpPr>
          <p:cNvPr id="16" name="kpi-accent-海洋油气资源占比">
            <a:extLst xmlns:a="http://schemas.openxmlformats.org/drawingml/2006/main">
              <a:ext uri="{FF2B5EF4-FFF2-40B4-BE49-F238E27FC236}">
                <a16:creationId xmlns:a16="http://schemas.microsoft.com/office/drawing/2014/main" id="{DCB44F4F-95BD-4273-ABBF-7D6ACB40B330}"/>
              </a:ext>
            </a:extLst>
          </p:cNvPr>
          <p:cNvSpPr>
            <a:spLocks xmlns:a="http://schemas.openxmlformats.org/drawingml/2006/main" noGrp="1"/>
          </p:cNvSpPr>
          <p:nvPr/>
        </p:nvSpPr>
        <p:spPr>
          <a:xfrm xmlns:a="http://schemas.openxmlformats.org/drawingml/2006/main">
            <a:off x="8324850" y="1676400"/>
            <a:ext cx="66675" cy="2000250"/>
          </a:xfrm>
          <a:prstGeom xmlns:a="http://schemas.openxmlformats.org/drawingml/2006/main" prst="roundRect">
            <a:avLst>
              <a:gd name="adj" fmla="val 50000"/>
            </a:avLst>
          </a:prstGeom>
          <a:solidFill xmlns:a="http://schemas.openxmlformats.org/drawingml/2006/main">
            <a:srgbClr val="3E7C59"/>
          </a:solidFill>
          <a:ln xmlns:a="http://schemas.openxmlformats.org/drawingml/2006/main" w="0">
            <a:noFill/>
            <a:prstDash val="solid"/>
          </a:ln>
        </p:spPr>
      </p:sp>
      <p:sp>
        <p:nvSpPr>
          <p:cNvPr id="17" name="kpi-value-海洋油气资源占比">
            <a:extLst xmlns:a="http://schemas.openxmlformats.org/drawingml/2006/main">
              <a:ext uri="{FF2B5EF4-FFF2-40B4-BE49-F238E27FC236}">
                <a16:creationId xmlns:a16="http://schemas.microsoft.com/office/drawing/2014/main" id="{E48D0381-BF3E-4763-B84D-4D4F17461055}"/>
              </a:ext>
            </a:extLst>
          </p:cNvPr>
          <p:cNvSpPr>
            <a:spLocks xmlns:a="http://schemas.openxmlformats.org/drawingml/2006/main" noGrp="1"/>
          </p:cNvSpPr>
          <p:nvPr/>
        </p:nvSpPr>
        <p:spPr>
          <a:xfrm xmlns:a="http://schemas.openxmlformats.org/drawingml/2006/main">
            <a:off x="8591550" y="1866900"/>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3E7C59"/>
                </a:solidFill>
                <a:latin typeface="Microsoft YaHei"/>
                <a:ea typeface="Microsoft YaHei"/>
                <a:cs typeface="Microsoft YaHei"/>
              </a:defRPr>
            </a:pPr>
            <a:r>
              <a:rPr sz="2700" b="1">
                <a:solidFill>
                  <a:srgbClr val="3E7C59"/>
                </a:solidFill>
                <a:latin typeface="Microsoft YaHei"/>
                <a:ea typeface="Microsoft YaHei"/>
                <a:cs typeface="Microsoft YaHei"/>
              </a:rPr>
              <a:t>约1/3</a:t>
            </a:r>
          </a:p>
        </p:txBody>
      </p:sp>
      <p:sp>
        <p:nvSpPr>
          <p:cNvPr id="18" name="kpi-label-海洋油气资源占比">
            <a:extLst xmlns:a="http://schemas.openxmlformats.org/drawingml/2006/main">
              <a:ext uri="{FF2B5EF4-FFF2-40B4-BE49-F238E27FC236}">
                <a16:creationId xmlns:a16="http://schemas.microsoft.com/office/drawing/2014/main" id="{8809B95E-447A-4867-81CE-D8CD6FB1DB28}"/>
              </a:ext>
            </a:extLst>
          </p:cNvPr>
          <p:cNvSpPr>
            <a:spLocks xmlns:a="http://schemas.openxmlformats.org/drawingml/2006/main" noGrp="1"/>
          </p:cNvSpPr>
          <p:nvPr/>
        </p:nvSpPr>
        <p:spPr>
          <a:xfrm xmlns:a="http://schemas.openxmlformats.org/drawingml/2006/main">
            <a:off x="8591550" y="243840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海洋油气资源占比</a:t>
            </a:r>
          </a:p>
        </p:txBody>
      </p:sp>
      <p:sp>
        <p:nvSpPr>
          <p:cNvPr id="19" name="kpi-note-海洋油气资源占比">
            <a:extLst xmlns:a="http://schemas.openxmlformats.org/drawingml/2006/main">
              <a:ext uri="{FF2B5EF4-FFF2-40B4-BE49-F238E27FC236}">
                <a16:creationId xmlns:a16="http://schemas.microsoft.com/office/drawing/2014/main" id="{E8C884D9-C3AF-424C-84F2-B6D73F6B7D82}"/>
              </a:ext>
            </a:extLst>
          </p:cNvPr>
          <p:cNvSpPr>
            <a:spLocks xmlns:a="http://schemas.openxmlformats.org/drawingml/2006/main" noGrp="1"/>
          </p:cNvSpPr>
          <p:nvPr/>
        </p:nvSpPr>
        <p:spPr>
          <a:xfrm xmlns:a="http://schemas.openxmlformats.org/drawingml/2006/main">
            <a:off x="8591550" y="2800350"/>
            <a:ext cx="2876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7D98"/>
                </a:solidFill>
                <a:latin typeface="Microsoft YaHei"/>
                <a:ea typeface="Microsoft YaHei"/>
                <a:cs typeface="Microsoft YaHei"/>
              </a:defRPr>
            </a:pPr>
            <a:r>
              <a:rPr sz="1050" b="0">
                <a:solidFill>
                  <a:srgbClr val="627D98"/>
                </a:solidFill>
                <a:latin typeface="Microsoft YaHei"/>
                <a:ea typeface="Microsoft YaHei"/>
                <a:cs typeface="Microsoft YaHei"/>
              </a:rPr>
              <a:t>占国内油气总资源量</a:t>
            </a:r>
          </a:p>
        </p:txBody>
      </p:sp>
      <p:sp>
        <p:nvSpPr>
          <p:cNvPr id="20" name="china-implication">
            <a:extLst xmlns:a="http://schemas.openxmlformats.org/drawingml/2006/main">
              <a:ext uri="{FF2B5EF4-FFF2-40B4-BE49-F238E27FC236}">
                <a16:creationId xmlns:a16="http://schemas.microsoft.com/office/drawing/2014/main" id="{326F93CE-B1A5-4F8C-8A9F-5054E662C0DD}"/>
              </a:ext>
            </a:extLst>
          </p:cNvPr>
          <p:cNvSpPr>
            <a:spLocks xmlns:a="http://schemas.openxmlformats.org/drawingml/2006/main" noGrp="1"/>
          </p:cNvSpPr>
          <p:nvPr/>
        </p:nvSpPr>
        <p:spPr>
          <a:xfrm xmlns:a="http://schemas.openxmlformats.org/drawingml/2006/main">
            <a:off x="533400" y="4171950"/>
            <a:ext cx="111252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BCCCDC"/>
            </a:solidFill>
            <a:prstDash val="solid"/>
          </a:ln>
        </p:spPr>
      </p:sp>
      <p:sp>
        <p:nvSpPr>
          <p:cNvPr id="21" name="china-implication-head">
            <a:extLst xmlns:a="http://schemas.openxmlformats.org/drawingml/2006/main">
              <a:ext uri="{FF2B5EF4-FFF2-40B4-BE49-F238E27FC236}">
                <a16:creationId xmlns:a16="http://schemas.microsoft.com/office/drawing/2014/main" id="{5C2D1ACE-A664-430C-9E89-4E30A6D44EF1}"/>
              </a:ext>
            </a:extLst>
          </p:cNvPr>
          <p:cNvSpPr>
            <a:spLocks xmlns:a="http://schemas.openxmlformats.org/drawingml/2006/main" noGrp="1"/>
          </p:cNvSpPr>
          <p:nvPr/>
        </p:nvSpPr>
        <p:spPr>
          <a:xfrm xmlns:a="http://schemas.openxmlformats.org/drawingml/2006/main">
            <a:off x="876300" y="44958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a:solidFill>
                  <a:srgbClr val="B76E3D"/>
                </a:solidFill>
                <a:latin typeface="Microsoft YaHei"/>
                <a:ea typeface="Microsoft YaHei"/>
                <a:cs typeface="Microsoft YaHei"/>
              </a:defRPr>
            </a:pPr>
            <a:r>
              <a:rPr sz="1500" b="1">
                <a:solidFill>
                  <a:srgbClr val="B76E3D"/>
                </a:solidFill>
                <a:latin typeface="Microsoft YaHei"/>
                <a:ea typeface="Microsoft YaHei"/>
                <a:cs typeface="Microsoft YaHei"/>
              </a:rPr>
              <a:t>重点方向</a:t>
            </a:r>
          </a:p>
        </p:txBody>
      </p:sp>
      <p:sp>
        <p:nvSpPr>
          <p:cNvPr id="22" name="china-implication-body">
            <a:extLst xmlns:a="http://schemas.openxmlformats.org/drawingml/2006/main">
              <a:ext uri="{FF2B5EF4-FFF2-40B4-BE49-F238E27FC236}">
                <a16:creationId xmlns:a16="http://schemas.microsoft.com/office/drawing/2014/main" id="{92A69424-3FE7-4BC1-8239-A916DBE69B37}"/>
              </a:ext>
            </a:extLst>
          </p:cNvPr>
          <p:cNvSpPr>
            <a:spLocks xmlns:a="http://schemas.openxmlformats.org/drawingml/2006/main" noGrp="1"/>
          </p:cNvSpPr>
          <p:nvPr/>
        </p:nvSpPr>
        <p:spPr>
          <a:xfrm xmlns:a="http://schemas.openxmlformats.org/drawingml/2006/main">
            <a:off x="2381250" y="443865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102A43"/>
                </a:solidFill>
                <a:latin typeface="Microsoft YaHei"/>
                <a:ea typeface="Microsoft YaHei"/>
                <a:cs typeface="Microsoft YaHei"/>
              </a:defRPr>
            </a:pPr>
            <a:r>
              <a:rPr sz="2025" b="1">
                <a:solidFill>
                  <a:srgbClr val="102A43"/>
                </a:solidFill>
                <a:latin typeface="Microsoft YaHei"/>
                <a:ea typeface="Microsoft YaHei"/>
                <a:cs typeface="Microsoft YaHei"/>
              </a:rPr>
              <a:t>近海深层/超深层 + 深水海域 + 海上稠油与低渗透资源</a:t>
            </a:r>
          </a:p>
        </p:txBody>
      </p:sp>
      <p:sp>
        <p:nvSpPr>
          <p:cNvPr id="23" name="china-implication-note">
            <a:extLst xmlns:a="http://schemas.openxmlformats.org/drawingml/2006/main">
              <a:ext uri="{FF2B5EF4-FFF2-40B4-BE49-F238E27FC236}">
                <a16:creationId xmlns:a16="http://schemas.microsoft.com/office/drawing/2014/main" id="{DF30D44B-F9B8-45AA-ADB5-8E151B8DCA7D}"/>
              </a:ext>
            </a:extLst>
          </p:cNvPr>
          <p:cNvSpPr>
            <a:spLocks xmlns:a="http://schemas.openxmlformats.org/drawingml/2006/main" noGrp="1"/>
          </p:cNvSpPr>
          <p:nvPr/>
        </p:nvSpPr>
        <p:spPr>
          <a:xfrm xmlns:a="http://schemas.openxmlformats.org/drawingml/2006/main">
            <a:off x="2381250" y="5010150"/>
            <a:ext cx="838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7D98"/>
                </a:solidFill>
                <a:latin typeface="Microsoft YaHei"/>
                <a:ea typeface="Microsoft YaHei"/>
                <a:cs typeface="Microsoft YaHei"/>
              </a:defRPr>
            </a:pPr>
            <a:r>
              <a:rPr sz="1350" b="0">
                <a:solidFill>
                  <a:srgbClr val="627D98"/>
                </a:solidFill>
                <a:latin typeface="Microsoft YaHei"/>
                <a:ea typeface="Microsoft YaHei"/>
                <a:cs typeface="Microsoft YaHei"/>
              </a:rPr>
              <a:t>资源禀赋、能源安全目标和工程能力共同推动海洋油气成为持续性政策与资本投入方向。</a:t>
            </a:r>
          </a:p>
        </p:txBody>
      </p:sp>
      <p:sp>
        <p:nvSpPr>
          <p:cNvPr id="24" name="source-4">
            <a:extLst xmlns:a="http://schemas.openxmlformats.org/drawingml/2006/main">
              <a:ext uri="{FF2B5EF4-FFF2-40B4-BE49-F238E27FC236}">
                <a16:creationId xmlns:a16="http://schemas.microsoft.com/office/drawing/2014/main" id="{031CC19C-254E-4116-A903-A9C2CCA6677C}"/>
              </a:ext>
            </a:extLst>
          </p:cNvPr>
          <p:cNvSpPr>
            <a:spLocks xmlns:a="http://schemas.openxmlformats.org/drawingml/2006/main" noGrp="1"/>
          </p:cNvSpPr>
          <p:nvPr/>
        </p:nvSpPr>
        <p:spPr>
          <a:xfrm xmlns:a="http://schemas.openxmlformats.org/drawingml/2006/main">
            <a:off x="533400" y="64198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0">
                <a:solidFill>
                  <a:srgbClr val="627D98"/>
                </a:solidFill>
                <a:latin typeface="Microsoft YaHei"/>
                <a:ea typeface="Microsoft YaHei"/>
                <a:cs typeface="Microsoft YaHei"/>
              </a:defRPr>
            </a:pPr>
            <a:r>
              <a:rPr sz="825" b="0">
                <a:solidFill>
                  <a:srgbClr val="627D98"/>
                </a:solidFill>
                <a:latin typeface="Microsoft YaHei"/>
                <a:ea typeface="Microsoft YaHei"/>
                <a:cs typeface="Microsoft YaHei"/>
              </a:rPr>
              <a:t>资料来源：国信证券《深水、超深水油气资源前景广阔》，2024-04-03，第4页</a:t>
            </a:r>
          </a:p>
        </p:txBody>
      </p:sp>
    </p:spTree>
    <p:extLst>
      <p:ext uri="{BB962C8B-B14F-4D97-AF65-F5344CB8AC3E}">
        <p14:creationId xmlns:p14="http://schemas.microsoft.com/office/powerpoint/2010/main" val="1821214021"/>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section-7">
            <a:extLst xmlns:a="http://schemas.openxmlformats.org/drawingml/2006/main">
              <a:ext uri="{FF2B5EF4-FFF2-40B4-BE49-F238E27FC236}">
                <a16:creationId xmlns:a16="http://schemas.microsoft.com/office/drawing/2014/main" id="{E09DB555-FC14-4741-89C5-10CE9369FAC3}"/>
              </a:ext>
            </a:extLst>
          </p:cNvPr>
          <p:cNvSpPr>
            <a:spLocks xmlns:a="http://schemas.openxmlformats.org/drawingml/2006/main" noGrp="1"/>
          </p:cNvSpPr>
          <p:nvPr/>
        </p:nvSpPr>
        <p:spPr>
          <a:xfrm xmlns:a="http://schemas.openxmlformats.org/drawingml/2006/main">
            <a:off x="53340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76E3D"/>
                </a:solidFill>
                <a:latin typeface="Microsoft YaHei"/>
                <a:ea typeface="Microsoft YaHei"/>
                <a:cs typeface="Microsoft YaHei"/>
              </a:defRPr>
            </a:pPr>
            <a:r>
              <a:rPr sz="1050" b="1">
                <a:solidFill>
                  <a:srgbClr val="B76E3D"/>
                </a:solidFill>
                <a:latin typeface="Microsoft YaHei"/>
                <a:ea typeface="Microsoft YaHei"/>
                <a:cs typeface="Microsoft YaHei"/>
              </a:rPr>
              <a:t>公司兑现</a:t>
            </a:r>
          </a:p>
        </p:txBody>
      </p:sp>
      <p:sp>
        <p:nvSpPr>
          <p:cNvPr id="2" name="title-7">
            <a:extLst xmlns:a="http://schemas.openxmlformats.org/drawingml/2006/main">
              <a:ext uri="{FF2B5EF4-FFF2-40B4-BE49-F238E27FC236}">
                <a16:creationId xmlns:a16="http://schemas.microsoft.com/office/drawing/2014/main" id="{28FA479C-62AF-4E88-881E-EA4D7676A04F}"/>
              </a:ext>
            </a:extLst>
          </p:cNvPr>
          <p:cNvSpPr>
            <a:spLocks xmlns:a="http://schemas.openxmlformats.org/drawingml/2006/main" noGrp="1"/>
          </p:cNvSpPr>
          <p:nvPr/>
        </p:nvSpPr>
        <p:spPr>
          <a:xfrm xmlns:a="http://schemas.openxmlformats.org/drawingml/2006/main">
            <a:off x="533400" y="5524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2A43"/>
                </a:solidFill>
                <a:latin typeface="Microsoft YaHei"/>
                <a:ea typeface="Microsoft YaHei"/>
                <a:cs typeface="Microsoft YaHei"/>
              </a:defRPr>
            </a:pPr>
            <a:r>
              <a:rPr sz="2700" b="1">
                <a:solidFill>
                  <a:srgbClr val="102A43"/>
                </a:solidFill>
                <a:latin typeface="Microsoft YaHei"/>
                <a:ea typeface="Microsoft YaHei"/>
                <a:cs typeface="Microsoft YaHei"/>
              </a:rPr>
              <a:t>储量与产量同步增长，增长质量由替代率验证</a:t>
            </a:r>
          </a:p>
        </p:txBody>
      </p:sp>
      <p:sp>
        <p:nvSpPr>
          <p:cNvPr id="3" name="">
            <a:extLst xmlns:a="http://schemas.openxmlformats.org/drawingml/2006/main">
              <a:ext uri="{FF2B5EF4-FFF2-40B4-BE49-F238E27FC236}">
                <a16:creationId xmlns:a16="http://schemas.microsoft.com/office/drawing/2014/main" id="{F6698D20-4C05-44CB-9D60-1612128FA478}"/>
              </a:ext>
            </a:extLst>
          </p:cNvPr>
          <p:cNvSpPr>
            <a:spLocks xmlns:a="http://schemas.openxmlformats.org/drawingml/2006/main" noGrp="1"/>
          </p:cNvSpPr>
          <p:nvPr/>
        </p:nvSpPr>
        <p:spPr>
          <a:xfrm xmlns:a="http://schemas.openxmlformats.org/drawingml/2006/main">
            <a:off x="533400" y="1333500"/>
            <a:ext cx="111252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4" name="page-7">
            <a:extLst xmlns:a="http://schemas.openxmlformats.org/drawingml/2006/main">
              <a:ext uri="{FF2B5EF4-FFF2-40B4-BE49-F238E27FC236}">
                <a16:creationId xmlns:a16="http://schemas.microsoft.com/office/drawing/2014/main" id="{489CCF31-978F-42E7-A570-DCCBCB532A43}"/>
              </a:ext>
            </a:extLst>
          </p:cNvPr>
          <p:cNvSpPr>
            <a:spLocks xmlns:a="http://schemas.openxmlformats.org/drawingml/2006/main" noGrp="1"/>
          </p:cNvSpPr>
          <p:nvPr/>
        </p:nvSpPr>
        <p:spPr>
          <a:xfrm xmlns:a="http://schemas.openxmlformats.org/drawingml/2006/main">
            <a:off x="11144250" y="6438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07</a:t>
            </a:r>
          </a:p>
        </p:txBody>
      </p:sp>
      <p:graphicFrame>
        <p:nvGraphicFramePr>
          <p:cNvPr id="26" name="Chart"/>
          <p:cNvGraphicFramePr/>
          <p:nvPr/>
        </p:nvGraphicFramePr>
        <p:xfrm>
          <a:off xmlns:a="http://schemas.openxmlformats.org/drawingml/2006/main" x="533400" y="1676400"/>
          <a:ext xmlns:a="http://schemas.openxmlformats.org/drawingml/2006/main" cx="6191250" cy="3810000"/>
        </p:xfrm>
        <a:graphic xmlns:a="http://schemas.openxmlformats.org/drawingml/2006/main">
          <a:graphicData uri="http://schemas.openxmlformats.org/drawingml/2006/chart">
            <c:chart xmlns:r="http://schemas.openxmlformats.org/officeDocument/2006/relationships" xmlns:c="http://schemas.openxmlformats.org/drawingml/2006/chart" r:id="R98e8f6516d9a42b9"/>
          </a:graphicData>
        </a:graphic>
      </p:graphicFrame>
      <p:sp>
        <p:nvSpPr>
          <p:cNvPr id="6" name="kpi-2023年储量替代率">
            <a:extLst xmlns:a="http://schemas.openxmlformats.org/drawingml/2006/main">
              <a:ext uri="{FF2B5EF4-FFF2-40B4-BE49-F238E27FC236}">
                <a16:creationId xmlns:a16="http://schemas.microsoft.com/office/drawing/2014/main" id="{252E932B-6F42-41B4-8900-BF05CDA5D863}"/>
              </a:ext>
            </a:extLst>
          </p:cNvPr>
          <p:cNvSpPr>
            <a:spLocks xmlns:a="http://schemas.openxmlformats.org/drawingml/2006/main" noGrp="1"/>
          </p:cNvSpPr>
          <p:nvPr/>
        </p:nvSpPr>
        <p:spPr>
          <a:xfrm xmlns:a="http://schemas.openxmlformats.org/drawingml/2006/main">
            <a:off x="7239000" y="1676400"/>
            <a:ext cx="44196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BCCCDC"/>
            </a:solidFill>
            <a:prstDash val="solid"/>
          </a:ln>
        </p:spPr>
      </p:sp>
      <p:sp>
        <p:nvSpPr>
          <p:cNvPr id="7" name="kpi-accent-2023年储量替代率">
            <a:extLst xmlns:a="http://schemas.openxmlformats.org/drawingml/2006/main">
              <a:ext uri="{FF2B5EF4-FFF2-40B4-BE49-F238E27FC236}">
                <a16:creationId xmlns:a16="http://schemas.microsoft.com/office/drawing/2014/main" id="{1803006B-00CD-4FC6-A813-B35B39F7249F}"/>
              </a:ext>
            </a:extLst>
          </p:cNvPr>
          <p:cNvSpPr>
            <a:spLocks xmlns:a="http://schemas.openxmlformats.org/drawingml/2006/main" noGrp="1"/>
          </p:cNvSpPr>
          <p:nvPr/>
        </p:nvSpPr>
        <p:spPr>
          <a:xfrm xmlns:a="http://schemas.openxmlformats.org/drawingml/2006/main">
            <a:off x="7239000" y="1676400"/>
            <a:ext cx="66675" cy="1200150"/>
          </a:xfrm>
          <a:prstGeom xmlns:a="http://schemas.openxmlformats.org/drawingml/2006/main" prst="roundRect">
            <a:avLst>
              <a:gd name="adj" fmla="val 50000"/>
            </a:avLst>
          </a:prstGeom>
          <a:solidFill xmlns:a="http://schemas.openxmlformats.org/drawingml/2006/main">
            <a:srgbClr val="2F6B7C"/>
          </a:solidFill>
          <a:ln xmlns:a="http://schemas.openxmlformats.org/drawingml/2006/main" w="0">
            <a:noFill/>
            <a:prstDash val="solid"/>
          </a:ln>
        </p:spPr>
      </p:sp>
      <p:sp>
        <p:nvSpPr>
          <p:cNvPr id="8" name="kpi-value-2023年储量替代率">
            <a:extLst xmlns:a="http://schemas.openxmlformats.org/drawingml/2006/main">
              <a:ext uri="{FF2B5EF4-FFF2-40B4-BE49-F238E27FC236}">
                <a16:creationId xmlns:a16="http://schemas.microsoft.com/office/drawing/2014/main" id="{961D3418-A47C-4817-B0A1-8A4E9FB46A1B}"/>
              </a:ext>
            </a:extLst>
          </p:cNvPr>
          <p:cNvSpPr>
            <a:spLocks xmlns:a="http://schemas.openxmlformats.org/drawingml/2006/main" noGrp="1"/>
          </p:cNvSpPr>
          <p:nvPr/>
        </p:nvSpPr>
        <p:spPr>
          <a:xfrm xmlns:a="http://schemas.openxmlformats.org/drawingml/2006/main">
            <a:off x="7505700" y="1771650"/>
            <a:ext cx="3962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2F6B7C"/>
                </a:solidFill>
                <a:latin typeface="Microsoft YaHei"/>
                <a:ea typeface="Microsoft YaHei"/>
                <a:cs typeface="Microsoft YaHei"/>
              </a:defRPr>
            </a:pPr>
            <a:r>
              <a:rPr sz="2100" b="1">
                <a:solidFill>
                  <a:srgbClr val="2F6B7C"/>
                </a:solidFill>
                <a:latin typeface="Microsoft YaHei"/>
                <a:ea typeface="Microsoft YaHei"/>
                <a:cs typeface="Microsoft YaHei"/>
              </a:rPr>
              <a:t>180%</a:t>
            </a:r>
          </a:p>
        </p:txBody>
      </p:sp>
      <p:sp>
        <p:nvSpPr>
          <p:cNvPr id="9" name="kpi-label-2023年储量替代率">
            <a:extLst xmlns:a="http://schemas.openxmlformats.org/drawingml/2006/main">
              <a:ext uri="{FF2B5EF4-FFF2-40B4-BE49-F238E27FC236}">
                <a16:creationId xmlns:a16="http://schemas.microsoft.com/office/drawing/2014/main" id="{D076222B-2B70-4BA5-AF5A-81AE4DDA39A3}"/>
              </a:ext>
            </a:extLst>
          </p:cNvPr>
          <p:cNvSpPr>
            <a:spLocks xmlns:a="http://schemas.openxmlformats.org/drawingml/2006/main" noGrp="1"/>
          </p:cNvSpPr>
          <p:nvPr/>
        </p:nvSpPr>
        <p:spPr>
          <a:xfrm xmlns:a="http://schemas.openxmlformats.org/drawingml/2006/main">
            <a:off x="7505700" y="2152650"/>
            <a:ext cx="396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102A43"/>
                </a:solidFill>
                <a:latin typeface="Microsoft YaHei"/>
                <a:ea typeface="Microsoft YaHei"/>
                <a:cs typeface="Microsoft YaHei"/>
              </a:defRPr>
            </a:pPr>
            <a:r>
              <a:rPr sz="1200" b="1">
                <a:solidFill>
                  <a:srgbClr val="102A43"/>
                </a:solidFill>
                <a:latin typeface="Microsoft YaHei"/>
                <a:ea typeface="Microsoft YaHei"/>
                <a:cs typeface="Microsoft YaHei"/>
              </a:rPr>
              <a:t>2023年储量替代率</a:t>
            </a:r>
          </a:p>
        </p:txBody>
      </p:sp>
      <p:sp>
        <p:nvSpPr>
          <p:cNvPr id="10" name="kpi-note-2023年储量替代率">
            <a:extLst xmlns:a="http://schemas.openxmlformats.org/drawingml/2006/main">
              <a:ext uri="{FF2B5EF4-FFF2-40B4-BE49-F238E27FC236}">
                <a16:creationId xmlns:a16="http://schemas.microsoft.com/office/drawing/2014/main" id="{4AB91629-E008-42AC-B02C-F0BFCED79C14}"/>
              </a:ext>
            </a:extLst>
          </p:cNvPr>
          <p:cNvSpPr>
            <a:spLocks xmlns:a="http://schemas.openxmlformats.org/drawingml/2006/main" noGrp="1"/>
          </p:cNvSpPr>
          <p:nvPr/>
        </p:nvSpPr>
        <p:spPr>
          <a:xfrm xmlns:a="http://schemas.openxmlformats.org/drawingml/2006/main">
            <a:off x="7505700" y="2419350"/>
            <a:ext cx="3962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连续7年储量寿命维持10年以上</a:t>
            </a:r>
          </a:p>
        </p:txBody>
      </p:sp>
      <p:sp>
        <p:nvSpPr>
          <p:cNvPr id="11" name="kpi-净证实储量同比">
            <a:extLst xmlns:a="http://schemas.openxmlformats.org/drawingml/2006/main">
              <a:ext uri="{FF2B5EF4-FFF2-40B4-BE49-F238E27FC236}">
                <a16:creationId xmlns:a16="http://schemas.microsoft.com/office/drawing/2014/main" id="{786B8C7D-33FA-43F2-9E0C-4013C2D42D01}"/>
              </a:ext>
            </a:extLst>
          </p:cNvPr>
          <p:cNvSpPr>
            <a:spLocks xmlns:a="http://schemas.openxmlformats.org/drawingml/2006/main" noGrp="1"/>
          </p:cNvSpPr>
          <p:nvPr/>
        </p:nvSpPr>
        <p:spPr>
          <a:xfrm xmlns:a="http://schemas.openxmlformats.org/drawingml/2006/main">
            <a:off x="7239000" y="3105150"/>
            <a:ext cx="44196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BCCCDC"/>
            </a:solidFill>
            <a:prstDash val="solid"/>
          </a:ln>
        </p:spPr>
      </p:sp>
      <p:sp>
        <p:nvSpPr>
          <p:cNvPr id="12" name="kpi-accent-净证实储量同比">
            <a:extLst xmlns:a="http://schemas.openxmlformats.org/drawingml/2006/main">
              <a:ext uri="{FF2B5EF4-FFF2-40B4-BE49-F238E27FC236}">
                <a16:creationId xmlns:a16="http://schemas.microsoft.com/office/drawing/2014/main" id="{9CBF52FE-2071-4417-9FC3-1F54AF43260C}"/>
              </a:ext>
            </a:extLst>
          </p:cNvPr>
          <p:cNvSpPr>
            <a:spLocks xmlns:a="http://schemas.openxmlformats.org/drawingml/2006/main" noGrp="1"/>
          </p:cNvSpPr>
          <p:nvPr/>
        </p:nvSpPr>
        <p:spPr>
          <a:xfrm xmlns:a="http://schemas.openxmlformats.org/drawingml/2006/main">
            <a:off x="7239000" y="3105150"/>
            <a:ext cx="66675" cy="1200150"/>
          </a:xfrm>
          <a:prstGeom xmlns:a="http://schemas.openxmlformats.org/drawingml/2006/main" prst="roundRect">
            <a:avLst>
              <a:gd name="adj" fmla="val 50000"/>
            </a:avLst>
          </a:prstGeom>
          <a:solidFill xmlns:a="http://schemas.openxmlformats.org/drawingml/2006/main">
            <a:srgbClr val="B76E3D"/>
          </a:solidFill>
          <a:ln xmlns:a="http://schemas.openxmlformats.org/drawingml/2006/main" w="0">
            <a:noFill/>
            <a:prstDash val="solid"/>
          </a:ln>
        </p:spPr>
      </p:sp>
      <p:sp>
        <p:nvSpPr>
          <p:cNvPr id="13" name="kpi-value-净证实储量同比">
            <a:extLst xmlns:a="http://schemas.openxmlformats.org/drawingml/2006/main">
              <a:ext uri="{FF2B5EF4-FFF2-40B4-BE49-F238E27FC236}">
                <a16:creationId xmlns:a16="http://schemas.microsoft.com/office/drawing/2014/main" id="{35CE12EF-F2CB-4D5A-A85B-459AE4CCC9AE}"/>
              </a:ext>
            </a:extLst>
          </p:cNvPr>
          <p:cNvSpPr>
            <a:spLocks xmlns:a="http://schemas.openxmlformats.org/drawingml/2006/main" noGrp="1"/>
          </p:cNvSpPr>
          <p:nvPr/>
        </p:nvSpPr>
        <p:spPr>
          <a:xfrm xmlns:a="http://schemas.openxmlformats.org/drawingml/2006/main">
            <a:off x="7505700" y="3200400"/>
            <a:ext cx="3962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B76E3D"/>
                </a:solidFill>
                <a:latin typeface="Microsoft YaHei"/>
                <a:ea typeface="Microsoft YaHei"/>
                <a:cs typeface="Microsoft YaHei"/>
              </a:defRPr>
            </a:pPr>
            <a:r>
              <a:rPr sz="2100" b="1">
                <a:solidFill>
                  <a:srgbClr val="B76E3D"/>
                </a:solidFill>
                <a:latin typeface="Microsoft YaHei"/>
                <a:ea typeface="Microsoft YaHei"/>
                <a:cs typeface="Microsoft YaHei"/>
              </a:rPr>
              <a:t>+8.7%</a:t>
            </a:r>
          </a:p>
        </p:txBody>
      </p:sp>
      <p:sp>
        <p:nvSpPr>
          <p:cNvPr id="14" name="kpi-label-净证实储量同比">
            <a:extLst xmlns:a="http://schemas.openxmlformats.org/drawingml/2006/main">
              <a:ext uri="{FF2B5EF4-FFF2-40B4-BE49-F238E27FC236}">
                <a16:creationId xmlns:a16="http://schemas.microsoft.com/office/drawing/2014/main" id="{4D75B15F-A2BE-4E7B-B807-37DDBECFF527}"/>
              </a:ext>
            </a:extLst>
          </p:cNvPr>
          <p:cNvSpPr>
            <a:spLocks xmlns:a="http://schemas.openxmlformats.org/drawingml/2006/main" noGrp="1"/>
          </p:cNvSpPr>
          <p:nvPr/>
        </p:nvSpPr>
        <p:spPr>
          <a:xfrm xmlns:a="http://schemas.openxmlformats.org/drawingml/2006/main">
            <a:off x="7505700" y="3581400"/>
            <a:ext cx="396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102A43"/>
                </a:solidFill>
                <a:latin typeface="Microsoft YaHei"/>
                <a:ea typeface="Microsoft YaHei"/>
                <a:cs typeface="Microsoft YaHei"/>
              </a:defRPr>
            </a:pPr>
            <a:r>
              <a:rPr sz="1200" b="1">
                <a:solidFill>
                  <a:srgbClr val="102A43"/>
                </a:solidFill>
                <a:latin typeface="Microsoft YaHei"/>
                <a:ea typeface="Microsoft YaHei"/>
                <a:cs typeface="Microsoft YaHei"/>
              </a:rPr>
              <a:t>净证实储量同比</a:t>
            </a:r>
          </a:p>
        </p:txBody>
      </p:sp>
      <p:sp>
        <p:nvSpPr>
          <p:cNvPr id="15" name="kpi-note-净证实储量同比">
            <a:extLst xmlns:a="http://schemas.openxmlformats.org/drawingml/2006/main">
              <a:ext uri="{FF2B5EF4-FFF2-40B4-BE49-F238E27FC236}">
                <a16:creationId xmlns:a16="http://schemas.microsoft.com/office/drawing/2014/main" id="{8BE4525F-34AD-435E-A9BE-A2D5986BE983}"/>
              </a:ext>
            </a:extLst>
          </p:cNvPr>
          <p:cNvSpPr>
            <a:spLocks xmlns:a="http://schemas.openxmlformats.org/drawingml/2006/main" noGrp="1"/>
          </p:cNvSpPr>
          <p:nvPr/>
        </p:nvSpPr>
        <p:spPr>
          <a:xfrm xmlns:a="http://schemas.openxmlformats.org/drawingml/2006/main">
            <a:off x="7505700" y="3848100"/>
            <a:ext cx="3962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国内储量同比增长12.6%</a:t>
            </a:r>
          </a:p>
        </p:txBody>
      </p:sp>
      <p:sp>
        <p:nvSpPr>
          <p:cNvPr id="16" name="kpi-净产量同比">
            <a:extLst xmlns:a="http://schemas.openxmlformats.org/drawingml/2006/main">
              <a:ext uri="{FF2B5EF4-FFF2-40B4-BE49-F238E27FC236}">
                <a16:creationId xmlns:a16="http://schemas.microsoft.com/office/drawing/2014/main" id="{D856964C-A404-4D69-9E4B-3217BD05FDE1}"/>
              </a:ext>
            </a:extLst>
          </p:cNvPr>
          <p:cNvSpPr>
            <a:spLocks xmlns:a="http://schemas.openxmlformats.org/drawingml/2006/main" noGrp="1"/>
          </p:cNvSpPr>
          <p:nvPr/>
        </p:nvSpPr>
        <p:spPr>
          <a:xfrm xmlns:a="http://schemas.openxmlformats.org/drawingml/2006/main">
            <a:off x="7239000" y="4533900"/>
            <a:ext cx="44196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BCCCDC"/>
            </a:solidFill>
            <a:prstDash val="solid"/>
          </a:ln>
        </p:spPr>
      </p:sp>
      <p:sp>
        <p:nvSpPr>
          <p:cNvPr id="17" name="kpi-accent-净产量同比">
            <a:extLst xmlns:a="http://schemas.openxmlformats.org/drawingml/2006/main">
              <a:ext uri="{FF2B5EF4-FFF2-40B4-BE49-F238E27FC236}">
                <a16:creationId xmlns:a16="http://schemas.microsoft.com/office/drawing/2014/main" id="{A9D9DD41-3B98-40EA-995D-99EC324F7AD0}"/>
              </a:ext>
            </a:extLst>
          </p:cNvPr>
          <p:cNvSpPr>
            <a:spLocks xmlns:a="http://schemas.openxmlformats.org/drawingml/2006/main" noGrp="1"/>
          </p:cNvSpPr>
          <p:nvPr/>
        </p:nvSpPr>
        <p:spPr>
          <a:xfrm xmlns:a="http://schemas.openxmlformats.org/drawingml/2006/main">
            <a:off x="7239000" y="4533900"/>
            <a:ext cx="66675" cy="1200150"/>
          </a:xfrm>
          <a:prstGeom xmlns:a="http://schemas.openxmlformats.org/drawingml/2006/main" prst="roundRect">
            <a:avLst>
              <a:gd name="adj" fmla="val 50000"/>
            </a:avLst>
          </a:prstGeom>
          <a:solidFill xmlns:a="http://schemas.openxmlformats.org/drawingml/2006/main">
            <a:srgbClr val="3E7C59"/>
          </a:solidFill>
          <a:ln xmlns:a="http://schemas.openxmlformats.org/drawingml/2006/main" w="0">
            <a:noFill/>
            <a:prstDash val="solid"/>
          </a:ln>
        </p:spPr>
      </p:sp>
      <p:sp>
        <p:nvSpPr>
          <p:cNvPr id="18" name="kpi-value-净产量同比">
            <a:extLst xmlns:a="http://schemas.openxmlformats.org/drawingml/2006/main">
              <a:ext uri="{FF2B5EF4-FFF2-40B4-BE49-F238E27FC236}">
                <a16:creationId xmlns:a16="http://schemas.microsoft.com/office/drawing/2014/main" id="{2B8D17AB-18B9-461C-9888-13F8102A2A0B}"/>
              </a:ext>
            </a:extLst>
          </p:cNvPr>
          <p:cNvSpPr>
            <a:spLocks xmlns:a="http://schemas.openxmlformats.org/drawingml/2006/main" noGrp="1"/>
          </p:cNvSpPr>
          <p:nvPr/>
        </p:nvSpPr>
        <p:spPr>
          <a:xfrm xmlns:a="http://schemas.openxmlformats.org/drawingml/2006/main">
            <a:off x="7505700" y="4629150"/>
            <a:ext cx="3962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3E7C59"/>
                </a:solidFill>
                <a:latin typeface="Microsoft YaHei"/>
                <a:ea typeface="Microsoft YaHei"/>
                <a:cs typeface="Microsoft YaHei"/>
              </a:defRPr>
            </a:pPr>
            <a:r>
              <a:rPr sz="2100" b="1">
                <a:solidFill>
                  <a:srgbClr val="3E7C59"/>
                </a:solidFill>
                <a:latin typeface="Microsoft YaHei"/>
                <a:ea typeface="Microsoft YaHei"/>
                <a:cs typeface="Microsoft YaHei"/>
              </a:rPr>
              <a:t>+8.7%</a:t>
            </a:r>
          </a:p>
        </p:txBody>
      </p:sp>
      <p:sp>
        <p:nvSpPr>
          <p:cNvPr id="19" name="kpi-label-净产量同比">
            <a:extLst xmlns:a="http://schemas.openxmlformats.org/drawingml/2006/main">
              <a:ext uri="{FF2B5EF4-FFF2-40B4-BE49-F238E27FC236}">
                <a16:creationId xmlns:a16="http://schemas.microsoft.com/office/drawing/2014/main" id="{720BF211-7C7E-4471-8690-2172F7397E8A}"/>
              </a:ext>
            </a:extLst>
          </p:cNvPr>
          <p:cNvSpPr>
            <a:spLocks xmlns:a="http://schemas.openxmlformats.org/drawingml/2006/main" noGrp="1"/>
          </p:cNvSpPr>
          <p:nvPr/>
        </p:nvSpPr>
        <p:spPr>
          <a:xfrm xmlns:a="http://schemas.openxmlformats.org/drawingml/2006/main">
            <a:off x="7505700" y="5010150"/>
            <a:ext cx="396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102A43"/>
                </a:solidFill>
                <a:latin typeface="Microsoft YaHei"/>
                <a:ea typeface="Microsoft YaHei"/>
                <a:cs typeface="Microsoft YaHei"/>
              </a:defRPr>
            </a:pPr>
            <a:r>
              <a:rPr sz="1200" b="1">
                <a:solidFill>
                  <a:srgbClr val="102A43"/>
                </a:solidFill>
                <a:latin typeface="Microsoft YaHei"/>
                <a:ea typeface="Microsoft YaHei"/>
                <a:cs typeface="Microsoft YaHei"/>
              </a:rPr>
              <a:t>净产量同比</a:t>
            </a:r>
          </a:p>
        </p:txBody>
      </p:sp>
      <p:sp>
        <p:nvSpPr>
          <p:cNvPr id="20" name="kpi-note-净产量同比">
            <a:extLst xmlns:a="http://schemas.openxmlformats.org/drawingml/2006/main">
              <a:ext uri="{FF2B5EF4-FFF2-40B4-BE49-F238E27FC236}">
                <a16:creationId xmlns:a16="http://schemas.microsoft.com/office/drawing/2014/main" id="{2B8CC102-D8FF-4AB7-BE61-FDFFA168BA88}"/>
              </a:ext>
            </a:extLst>
          </p:cNvPr>
          <p:cNvSpPr>
            <a:spLocks xmlns:a="http://schemas.openxmlformats.org/drawingml/2006/main" noGrp="1"/>
          </p:cNvSpPr>
          <p:nvPr/>
        </p:nvSpPr>
        <p:spPr>
          <a:xfrm xmlns:a="http://schemas.openxmlformats.org/drawingml/2006/main">
            <a:off x="7505700" y="5276850"/>
            <a:ext cx="3962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2023年达到678百万桶油当量</a:t>
            </a:r>
          </a:p>
        </p:txBody>
      </p:sp>
      <p:sp>
        <p:nvSpPr>
          <p:cNvPr id="21" name="source-4-6">
            <a:extLst xmlns:a="http://schemas.openxmlformats.org/drawingml/2006/main">
              <a:ext uri="{FF2B5EF4-FFF2-40B4-BE49-F238E27FC236}">
                <a16:creationId xmlns:a16="http://schemas.microsoft.com/office/drawing/2014/main" id="{C8F0E4E8-24FB-4956-B217-3614E166D1DA}"/>
              </a:ext>
            </a:extLst>
          </p:cNvPr>
          <p:cNvSpPr>
            <a:spLocks xmlns:a="http://schemas.openxmlformats.org/drawingml/2006/main" noGrp="1"/>
          </p:cNvSpPr>
          <p:nvPr/>
        </p:nvSpPr>
        <p:spPr>
          <a:xfrm xmlns:a="http://schemas.openxmlformats.org/drawingml/2006/main">
            <a:off x="533400" y="64198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0">
                <a:solidFill>
                  <a:srgbClr val="627D98"/>
                </a:solidFill>
                <a:latin typeface="Microsoft YaHei"/>
                <a:ea typeface="Microsoft YaHei"/>
                <a:cs typeface="Microsoft YaHei"/>
              </a:defRPr>
            </a:pPr>
            <a:r>
              <a:rPr sz="825" b="0">
                <a:solidFill>
                  <a:srgbClr val="627D98"/>
                </a:solidFill>
                <a:latin typeface="Microsoft YaHei"/>
                <a:ea typeface="Microsoft YaHei"/>
                <a:cs typeface="Microsoft YaHei"/>
              </a:rPr>
              <a:t>资料来源：国信证券《深水、超深水油气资源前景广阔》，2024-04-03，第4-6页；2022储量由2023值及8.7%增速反推，仅用于趋势对比</a:t>
            </a:r>
          </a:p>
        </p:txBody>
      </p:sp>
    </p:spTree>
    <p:extLst>
      <p:ext uri="{BB962C8B-B14F-4D97-AF65-F5344CB8AC3E}">
        <p14:creationId xmlns:p14="http://schemas.microsoft.com/office/powerpoint/2010/main" val="787690082"/>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section-8">
            <a:extLst xmlns:a="http://schemas.openxmlformats.org/drawingml/2006/main">
              <a:ext uri="{FF2B5EF4-FFF2-40B4-BE49-F238E27FC236}">
                <a16:creationId xmlns:a16="http://schemas.microsoft.com/office/drawing/2014/main" id="{F9EF9BDB-1DAC-4433-8C24-3BFE30E99FEE}"/>
              </a:ext>
            </a:extLst>
          </p:cNvPr>
          <p:cNvSpPr>
            <a:spLocks xmlns:a="http://schemas.openxmlformats.org/drawingml/2006/main" noGrp="1"/>
          </p:cNvSpPr>
          <p:nvPr/>
        </p:nvSpPr>
        <p:spPr>
          <a:xfrm xmlns:a="http://schemas.openxmlformats.org/drawingml/2006/main">
            <a:off x="53340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76E3D"/>
                </a:solidFill>
                <a:latin typeface="Microsoft YaHei"/>
                <a:ea typeface="Microsoft YaHei"/>
                <a:cs typeface="Microsoft YaHei"/>
              </a:defRPr>
            </a:pPr>
            <a:r>
              <a:rPr sz="1050" b="1">
                <a:solidFill>
                  <a:srgbClr val="B76E3D"/>
                </a:solidFill>
                <a:latin typeface="Microsoft YaHei"/>
                <a:ea typeface="Microsoft YaHei"/>
                <a:cs typeface="Microsoft YaHei"/>
              </a:rPr>
              <a:t>资产组合</a:t>
            </a:r>
          </a:p>
        </p:txBody>
      </p:sp>
      <p:sp>
        <p:nvSpPr>
          <p:cNvPr id="2" name="title-8">
            <a:extLst xmlns:a="http://schemas.openxmlformats.org/drawingml/2006/main">
              <a:ext uri="{FF2B5EF4-FFF2-40B4-BE49-F238E27FC236}">
                <a16:creationId xmlns:a16="http://schemas.microsoft.com/office/drawing/2014/main" id="{6EAAE58E-1ECE-4DCE-9ABB-8EC878D02E0A}"/>
              </a:ext>
            </a:extLst>
          </p:cNvPr>
          <p:cNvSpPr>
            <a:spLocks xmlns:a="http://schemas.openxmlformats.org/drawingml/2006/main" noGrp="1"/>
          </p:cNvSpPr>
          <p:nvPr/>
        </p:nvSpPr>
        <p:spPr>
          <a:xfrm xmlns:a="http://schemas.openxmlformats.org/drawingml/2006/main">
            <a:off x="533400" y="5524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2A43"/>
                </a:solidFill>
                <a:latin typeface="Microsoft YaHei"/>
                <a:ea typeface="Microsoft YaHei"/>
                <a:cs typeface="Microsoft YaHei"/>
              </a:defRPr>
            </a:pPr>
            <a:r>
              <a:rPr sz="2700" b="1">
                <a:solidFill>
                  <a:srgbClr val="102A43"/>
                </a:solidFill>
                <a:latin typeface="Microsoft YaHei"/>
                <a:ea typeface="Microsoft YaHei"/>
                <a:cs typeface="Microsoft YaHei"/>
              </a:rPr>
              <a:t>渤海与南海东部构成国内储量和产量双支柱</a:t>
            </a:r>
          </a:p>
        </p:txBody>
      </p:sp>
      <p:sp>
        <p:nvSpPr>
          <p:cNvPr id="3" name="">
            <a:extLst xmlns:a="http://schemas.openxmlformats.org/drawingml/2006/main">
              <a:ext uri="{FF2B5EF4-FFF2-40B4-BE49-F238E27FC236}">
                <a16:creationId xmlns:a16="http://schemas.microsoft.com/office/drawing/2014/main" id="{C115DEF9-EA07-4699-B6A6-94F5BE3A6A20}"/>
              </a:ext>
            </a:extLst>
          </p:cNvPr>
          <p:cNvSpPr>
            <a:spLocks xmlns:a="http://schemas.openxmlformats.org/drawingml/2006/main" noGrp="1"/>
          </p:cNvSpPr>
          <p:nvPr/>
        </p:nvSpPr>
        <p:spPr>
          <a:xfrm xmlns:a="http://schemas.openxmlformats.org/drawingml/2006/main">
            <a:off x="533400" y="1333500"/>
            <a:ext cx="111252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4" name="page-8">
            <a:extLst xmlns:a="http://schemas.openxmlformats.org/drawingml/2006/main">
              <a:ext uri="{FF2B5EF4-FFF2-40B4-BE49-F238E27FC236}">
                <a16:creationId xmlns:a16="http://schemas.microsoft.com/office/drawing/2014/main" id="{245B12E1-8641-4E9A-8F47-DE16163A10C6}"/>
              </a:ext>
            </a:extLst>
          </p:cNvPr>
          <p:cNvSpPr>
            <a:spLocks xmlns:a="http://schemas.openxmlformats.org/drawingml/2006/main" noGrp="1"/>
          </p:cNvSpPr>
          <p:nvPr/>
        </p:nvSpPr>
        <p:spPr>
          <a:xfrm xmlns:a="http://schemas.openxmlformats.org/drawingml/2006/main">
            <a:off x="11144250" y="6438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08</a:t>
            </a:r>
          </a:p>
        </p:txBody>
      </p:sp>
      <p:graphicFrame>
        <p:nvGraphicFramePr>
          <p:cNvPr id="13" name=""/>
          <p:cNvGraphicFramePr/>
          <p:nvPr/>
        </p:nvGraphicFramePr>
        <p:xfrm>
          <a:off xmlns:a="http://schemas.openxmlformats.org/drawingml/2006/main" x="533400" y="1752600"/>
          <a:ext xmlns:a="http://schemas.openxmlformats.org/drawingml/2006/main" cx="11125200" cy="3238500"/>
        </p:xfrm>
        <a:graphic xmlns:a="http://schemas.openxmlformats.org/drawingml/2006/main">
          <a:graphicData uri="http://schemas.openxmlformats.org/drawingml/2006/table">
            <a:tbl>
              <a:tblPr firstRow="1" bandRow="1"/>
              <a:tblGrid>
                <a:gridCol w="2095500"/>
                <a:gridCol w="2476500"/>
                <a:gridCol w="1809750"/>
                <a:gridCol w="2857500"/>
                <a:gridCol w="1885950"/>
              </a:tblGrid>
              <a:tr h="539750">
                <a:tc>
                  <a:txBody>
                    <a:bodyPr/>
                    <a:lstStyle/>
                    <a:p>
                      <a:r>
                        <a:t>区域</a:t>
                      </a:r>
                    </a:p>
                  </a:txBody>
                  <a:tcPr marL="91440" marR="91440" marT="45720" marB="45720"/>
                </a:tc>
                <a:tc>
                  <a:txBody>
                    <a:bodyPr/>
                    <a:lstStyle/>
                    <a:p>
                      <a:r>
                        <a:t>2023储量</a:t>
                      </a:r>
                    </a:p>
                    <a:p>
                      <a:r>
                        <a:t>百万桶油当量</a:t>
                      </a:r>
                    </a:p>
                  </a:txBody>
                  <a:tcPr marL="91440" marR="91440" marT="45720" marB="45720"/>
                </a:tc>
                <a:tc>
                  <a:txBody>
                    <a:bodyPr/>
                    <a:lstStyle/>
                    <a:p>
                      <a:r>
                        <a:t>储量同比</a:t>
                      </a:r>
                    </a:p>
                  </a:txBody>
                  <a:tcPr marL="91440" marR="91440" marT="45720" marB="45720"/>
                </a:tc>
                <a:tc>
                  <a:txBody>
                    <a:bodyPr/>
                    <a:lstStyle/>
                    <a:p>
                      <a:r>
                        <a:t>2023产量</a:t>
                      </a:r>
                    </a:p>
                    <a:p>
                      <a:r>
                        <a:t>桶油当量/日</a:t>
                      </a:r>
                    </a:p>
                  </a:txBody>
                  <a:tcPr marL="91440" marR="91440" marT="45720" marB="45720"/>
                </a:tc>
                <a:tc>
                  <a:txBody>
                    <a:bodyPr/>
                    <a:lstStyle/>
                    <a:p>
                      <a:r>
                        <a:t>产量同比</a:t>
                      </a:r>
                    </a:p>
                  </a:txBody>
                  <a:tcPr marL="91440" marR="91440" marT="45720" marB="45720"/>
                </a:tc>
              </a:tr>
              <a:tr h="539750">
                <a:tc>
                  <a:txBody>
                    <a:bodyPr/>
                    <a:lstStyle/>
                    <a:p>
                      <a:r>
                        <a:t>渤海</a:t>
                      </a:r>
                    </a:p>
                  </a:txBody>
                  <a:tcPr marL="91440" marR="91440" marT="45720" marB="45720">
                    <a:solidFill>
                      <a:srgbClr val="F3E6DD"/>
                    </a:solidFill>
                  </a:tcPr>
                </a:tc>
                <a:tc>
                  <a:txBody>
                    <a:bodyPr/>
                    <a:lstStyle/>
                    <a:p>
                      <a:r>
                        <a:t>1,968.4</a:t>
                      </a:r>
                    </a:p>
                  </a:txBody>
                  <a:tcPr marL="91440" marR="91440" marT="45720" marB="45720"/>
                </a:tc>
                <a:tc>
                  <a:txBody>
                    <a:bodyPr/>
                    <a:lstStyle/>
                    <a:p>
                      <a:r>
                        <a:t>14.37%</a:t>
                      </a:r>
                    </a:p>
                  </a:txBody>
                  <a:tcPr marL="91440" marR="91440" marT="45720" marB="45720"/>
                </a:tc>
                <a:tc>
                  <a:txBody>
                    <a:bodyPr/>
                    <a:lstStyle/>
                    <a:p>
                      <a:r>
                        <a:t>599,847</a:t>
                      </a:r>
                    </a:p>
                  </a:txBody>
                  <a:tcPr marL="91440" marR="91440" marT="45720" marB="45720"/>
                </a:tc>
                <a:tc>
                  <a:txBody>
                    <a:bodyPr/>
                    <a:lstStyle/>
                    <a:p>
                      <a:r>
                        <a:t>7.55%</a:t>
                      </a:r>
                    </a:p>
                  </a:txBody>
                  <a:tcPr marL="91440" marR="91440" marT="45720" marB="45720"/>
                </a:tc>
              </a:tr>
              <a:tr h="539750">
                <a:tc>
                  <a:txBody>
                    <a:bodyPr/>
                    <a:lstStyle/>
                    <a:p>
                      <a:r>
                        <a:t>南海西部</a:t>
                      </a:r>
                    </a:p>
                  </a:txBody>
                  <a:tcPr marL="91440" marR="91440" marT="45720" marB="45720"/>
                </a:tc>
                <a:tc>
                  <a:txBody>
                    <a:bodyPr/>
                    <a:lstStyle/>
                    <a:p>
                      <a:r>
                        <a:t>861.9</a:t>
                      </a:r>
                    </a:p>
                  </a:txBody>
                  <a:tcPr marL="91440" marR="91440" marT="45720" marB="45720"/>
                </a:tc>
                <a:tc>
                  <a:txBody>
                    <a:bodyPr/>
                    <a:lstStyle/>
                    <a:p>
                      <a:r>
                        <a:t>-4.56%</a:t>
                      </a:r>
                    </a:p>
                  </a:txBody>
                  <a:tcPr marL="91440" marR="91440" marT="45720" marB="45720"/>
                </a:tc>
                <a:tc>
                  <a:txBody>
                    <a:bodyPr/>
                    <a:lstStyle/>
                    <a:p>
                      <a:r>
                        <a:t>221,573</a:t>
                      </a:r>
                    </a:p>
                  </a:txBody>
                  <a:tcPr marL="91440" marR="91440" marT="45720" marB="45720"/>
                </a:tc>
                <a:tc>
                  <a:txBody>
                    <a:bodyPr/>
                    <a:lstStyle/>
                    <a:p>
                      <a:r>
                        <a:t>5.14%</a:t>
                      </a:r>
                    </a:p>
                  </a:txBody>
                  <a:tcPr marL="91440" marR="91440" marT="45720" marB="45720"/>
                </a:tc>
              </a:tr>
              <a:tr h="539750">
                <a:tc>
                  <a:txBody>
                    <a:bodyPr/>
                    <a:lstStyle/>
                    <a:p>
                      <a:r>
                        <a:t>南海东部</a:t>
                      </a:r>
                    </a:p>
                  </a:txBody>
                  <a:tcPr marL="91440" marR="91440" marT="45720" marB="45720">
                    <a:solidFill>
                      <a:srgbClr val="E2EEF1"/>
                    </a:solidFill>
                  </a:tcPr>
                </a:tc>
                <a:tc>
                  <a:txBody>
                    <a:bodyPr/>
                    <a:lstStyle/>
                    <a:p>
                      <a:r>
                        <a:t>892.6</a:t>
                      </a:r>
                    </a:p>
                  </a:txBody>
                  <a:tcPr marL="91440" marR="91440" marT="45720" marB="45720"/>
                </a:tc>
                <a:tc>
                  <a:txBody>
                    <a:bodyPr/>
                    <a:lstStyle/>
                    <a:p>
                      <a:r>
                        <a:t>30.94%</a:t>
                      </a:r>
                    </a:p>
                  </a:txBody>
                  <a:tcPr marL="91440" marR="91440" marT="45720" marB="45720"/>
                </a:tc>
                <a:tc>
                  <a:txBody>
                    <a:bodyPr/>
                    <a:lstStyle/>
                    <a:p>
                      <a:r>
                        <a:t>375,232</a:t>
                      </a:r>
                    </a:p>
                  </a:txBody>
                  <a:tcPr marL="91440" marR="91440" marT="45720" marB="45720"/>
                </a:tc>
                <a:tc>
                  <a:txBody>
                    <a:bodyPr/>
                    <a:lstStyle/>
                    <a:p>
                      <a:r>
                        <a:t>5.50%</a:t>
                      </a:r>
                    </a:p>
                  </a:txBody>
                  <a:tcPr marL="91440" marR="91440" marT="45720" marB="45720"/>
                </a:tc>
              </a:tr>
              <a:tr h="539750">
                <a:tc>
                  <a:txBody>
                    <a:bodyPr/>
                    <a:lstStyle/>
                    <a:p>
                      <a:r>
                        <a:t>东海</a:t>
                      </a:r>
                    </a:p>
                  </a:txBody>
                  <a:tcPr marL="91440" marR="91440" marT="45720" marB="45720"/>
                </a:tc>
                <a:tc>
                  <a:txBody>
                    <a:bodyPr/>
                    <a:lstStyle/>
                    <a:p>
                      <a:r>
                        <a:t>192.8</a:t>
                      </a:r>
                    </a:p>
                  </a:txBody>
                  <a:tcPr marL="91440" marR="91440" marT="45720" marB="45720"/>
                </a:tc>
                <a:tc>
                  <a:txBody>
                    <a:bodyPr/>
                    <a:lstStyle/>
                    <a:p>
                      <a:r>
                        <a:t>-0.67%</a:t>
                      </a:r>
                    </a:p>
                  </a:txBody>
                  <a:tcPr marL="91440" marR="91440" marT="45720" marB="45720"/>
                </a:tc>
                <a:tc>
                  <a:txBody>
                    <a:bodyPr/>
                    <a:lstStyle/>
                    <a:p>
                      <a:r>
                        <a:t>31,154</a:t>
                      </a:r>
                    </a:p>
                  </a:txBody>
                  <a:tcPr marL="91440" marR="91440" marT="45720" marB="45720"/>
                </a:tc>
                <a:tc>
                  <a:txBody>
                    <a:bodyPr/>
                    <a:lstStyle/>
                    <a:p>
                      <a:r>
                        <a:t>61.19%</a:t>
                      </a:r>
                    </a:p>
                  </a:txBody>
                  <a:tcPr marL="91440" marR="91440" marT="45720" marB="45720"/>
                </a:tc>
              </a:tr>
              <a:tr h="539750">
                <a:tc>
                  <a:txBody>
                    <a:bodyPr/>
                    <a:lstStyle/>
                    <a:p>
                      <a:r>
                        <a:t>陆上</a:t>
                      </a:r>
                    </a:p>
                  </a:txBody>
                  <a:tcPr marL="91440" marR="91440" marT="45720" marB="45720"/>
                </a:tc>
                <a:tc>
                  <a:txBody>
                    <a:bodyPr/>
                    <a:lstStyle/>
                    <a:p>
                      <a:r>
                        <a:t>133.2</a:t>
                      </a:r>
                    </a:p>
                  </a:txBody>
                  <a:tcPr marL="91440" marR="91440" marT="45720" marB="45720"/>
                </a:tc>
                <a:tc>
                  <a:txBody>
                    <a:bodyPr/>
                    <a:lstStyle/>
                    <a:p>
                      <a:r>
                        <a:t>37.04%</a:t>
                      </a:r>
                    </a:p>
                  </a:txBody>
                  <a:tcPr marL="91440" marR="91440" marT="45720" marB="45720"/>
                </a:tc>
                <a:tc>
                  <a:txBody>
                    <a:bodyPr/>
                    <a:lstStyle/>
                    <a:p>
                      <a:r>
                        <a:t>49,919</a:t>
                      </a:r>
                    </a:p>
                  </a:txBody>
                  <a:tcPr marL="91440" marR="91440" marT="45720" marB="45720"/>
                </a:tc>
                <a:tc>
                  <a:txBody>
                    <a:bodyPr/>
                    <a:lstStyle/>
                    <a:p>
                      <a:r>
                        <a:t>20.65%</a:t>
                      </a:r>
                    </a:p>
                  </a:txBody>
                  <a:tcPr marL="91440" marR="91440" marT="45720" marB="45720"/>
                </a:tc>
              </a:tr>
            </a:tbl>
          </a:graphicData>
        </a:graphic>
      </p:graphicFrame>
      <p:sp>
        <p:nvSpPr>
          <p:cNvPr id="6" name="portfolio-callout">
            <a:extLst xmlns:a="http://schemas.openxmlformats.org/drawingml/2006/main">
              <a:ext uri="{FF2B5EF4-FFF2-40B4-BE49-F238E27FC236}">
                <a16:creationId xmlns:a16="http://schemas.microsoft.com/office/drawing/2014/main" id="{0E4185FC-F146-42E5-9330-8FBCF2F01298}"/>
              </a:ext>
            </a:extLst>
          </p:cNvPr>
          <p:cNvSpPr>
            <a:spLocks xmlns:a="http://schemas.openxmlformats.org/drawingml/2006/main" noGrp="1"/>
          </p:cNvSpPr>
          <p:nvPr/>
        </p:nvSpPr>
        <p:spPr>
          <a:xfrm xmlns:a="http://schemas.openxmlformats.org/drawingml/2006/main">
            <a:off x="533400" y="5219700"/>
            <a:ext cx="11125200" cy="666750"/>
          </a:xfrm>
          <a:prstGeom xmlns:a="http://schemas.openxmlformats.org/drawingml/2006/main" prst="roundRect">
            <a:avLst>
              <a:gd name="adj" fmla="val 8571"/>
            </a:avLst>
          </a:prstGeom>
          <a:solidFill xmlns:a="http://schemas.openxmlformats.org/drawingml/2006/main">
            <a:srgbClr val="102A43"/>
          </a:solidFill>
          <a:ln xmlns:a="http://schemas.openxmlformats.org/drawingml/2006/main" w="0">
            <a:noFill/>
            <a:prstDash val="solid"/>
          </a:ln>
        </p:spPr>
      </p:sp>
      <p:sp>
        <p:nvSpPr>
          <p:cNvPr id="7" name="portfolio-callout-text">
            <a:extLst xmlns:a="http://schemas.openxmlformats.org/drawingml/2006/main">
              <a:ext uri="{FF2B5EF4-FFF2-40B4-BE49-F238E27FC236}">
                <a16:creationId xmlns:a16="http://schemas.microsoft.com/office/drawing/2014/main" id="{7FE4EBCF-DCF3-4730-9DE3-66A874A88D1D}"/>
              </a:ext>
            </a:extLst>
          </p:cNvPr>
          <p:cNvSpPr>
            <a:spLocks xmlns:a="http://schemas.openxmlformats.org/drawingml/2006/main" noGrp="1"/>
          </p:cNvSpPr>
          <p:nvPr/>
        </p:nvSpPr>
        <p:spPr>
          <a:xfrm xmlns:a="http://schemas.openxmlformats.org/drawingml/2006/main">
            <a:off x="800100" y="5410200"/>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渤海提供最大体量，南海东部提供更快储量增速；东海与陆上虽基数较小，但产量增长更快。</a:t>
            </a:r>
          </a:p>
        </p:txBody>
      </p:sp>
      <p:sp>
        <p:nvSpPr>
          <p:cNvPr id="8" name="source-7、10、13">
            <a:extLst xmlns:a="http://schemas.openxmlformats.org/drawingml/2006/main">
              <a:ext uri="{FF2B5EF4-FFF2-40B4-BE49-F238E27FC236}">
                <a16:creationId xmlns:a16="http://schemas.microsoft.com/office/drawing/2014/main" id="{D2C22BA3-9011-4989-87FB-513C5BB021E4}"/>
              </a:ext>
            </a:extLst>
          </p:cNvPr>
          <p:cNvSpPr>
            <a:spLocks xmlns:a="http://schemas.openxmlformats.org/drawingml/2006/main" noGrp="1"/>
          </p:cNvSpPr>
          <p:nvPr/>
        </p:nvSpPr>
        <p:spPr>
          <a:xfrm xmlns:a="http://schemas.openxmlformats.org/drawingml/2006/main">
            <a:off x="533400" y="64198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0">
                <a:solidFill>
                  <a:srgbClr val="627D98"/>
                </a:solidFill>
                <a:latin typeface="Microsoft YaHei"/>
                <a:ea typeface="Microsoft YaHei"/>
                <a:cs typeface="Microsoft YaHei"/>
              </a:defRPr>
            </a:pPr>
            <a:r>
              <a:rPr sz="825" b="0">
                <a:solidFill>
                  <a:srgbClr val="627D98"/>
                </a:solidFill>
                <a:latin typeface="Microsoft YaHei"/>
                <a:ea typeface="Microsoft YaHei"/>
                <a:cs typeface="Microsoft YaHei"/>
              </a:rPr>
              <a:t>资料来源：国信证券《深水、超深水油气资源前景广阔》，2024-04-03，第7、10、13页</a:t>
            </a:r>
          </a:p>
        </p:txBody>
      </p:sp>
    </p:spTree>
    <p:extLst>
      <p:ext uri="{BB962C8B-B14F-4D97-AF65-F5344CB8AC3E}">
        <p14:creationId xmlns:p14="http://schemas.microsoft.com/office/powerpoint/2010/main" val="1447588903"/>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section-9">
            <a:extLst xmlns:a="http://schemas.openxmlformats.org/drawingml/2006/main">
              <a:ext uri="{FF2B5EF4-FFF2-40B4-BE49-F238E27FC236}">
                <a16:creationId xmlns:a16="http://schemas.microsoft.com/office/drawing/2014/main" id="{51163051-3D64-4D4D-B6C4-97A0DE1BD4AA}"/>
              </a:ext>
            </a:extLst>
          </p:cNvPr>
          <p:cNvSpPr>
            <a:spLocks xmlns:a="http://schemas.openxmlformats.org/drawingml/2006/main" noGrp="1"/>
          </p:cNvSpPr>
          <p:nvPr/>
        </p:nvSpPr>
        <p:spPr>
          <a:xfrm xmlns:a="http://schemas.openxmlformats.org/drawingml/2006/main">
            <a:off x="53340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76E3D"/>
                </a:solidFill>
                <a:latin typeface="Microsoft YaHei"/>
                <a:ea typeface="Microsoft YaHei"/>
                <a:cs typeface="Microsoft YaHei"/>
              </a:defRPr>
            </a:pPr>
            <a:r>
              <a:rPr sz="1050" b="1">
                <a:solidFill>
                  <a:srgbClr val="B76E3D"/>
                </a:solidFill>
                <a:latin typeface="Microsoft YaHei"/>
                <a:ea typeface="Microsoft YaHei"/>
                <a:cs typeface="Microsoft YaHei"/>
              </a:rPr>
              <a:t>技术壁垒</a:t>
            </a:r>
          </a:p>
        </p:txBody>
      </p:sp>
      <p:sp>
        <p:nvSpPr>
          <p:cNvPr id="2" name="title-9">
            <a:extLst xmlns:a="http://schemas.openxmlformats.org/drawingml/2006/main">
              <a:ext uri="{FF2B5EF4-FFF2-40B4-BE49-F238E27FC236}">
                <a16:creationId xmlns:a16="http://schemas.microsoft.com/office/drawing/2014/main" id="{AEF71109-CED3-4DE0-83E9-C4E94CFCA789}"/>
              </a:ext>
            </a:extLst>
          </p:cNvPr>
          <p:cNvSpPr>
            <a:spLocks xmlns:a="http://schemas.openxmlformats.org/drawingml/2006/main" noGrp="1"/>
          </p:cNvSpPr>
          <p:nvPr/>
        </p:nvSpPr>
        <p:spPr>
          <a:xfrm xmlns:a="http://schemas.openxmlformats.org/drawingml/2006/main">
            <a:off x="533400" y="5524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2A43"/>
                </a:solidFill>
                <a:latin typeface="Microsoft YaHei"/>
                <a:ea typeface="Microsoft YaHei"/>
                <a:cs typeface="Microsoft YaHei"/>
              </a:defRPr>
            </a:pPr>
            <a:r>
              <a:rPr sz="2700" b="1">
                <a:solidFill>
                  <a:srgbClr val="102A43"/>
                </a:solidFill>
                <a:latin typeface="Microsoft YaHei"/>
                <a:ea typeface="Microsoft YaHei"/>
                <a:cs typeface="Microsoft YaHei"/>
              </a:rPr>
              <a:t>理论、工程与项目经验形成深水开发闭环</a:t>
            </a:r>
          </a:p>
        </p:txBody>
      </p:sp>
      <p:sp>
        <p:nvSpPr>
          <p:cNvPr id="3" name="">
            <a:extLst xmlns:a="http://schemas.openxmlformats.org/drawingml/2006/main">
              <a:ext uri="{FF2B5EF4-FFF2-40B4-BE49-F238E27FC236}">
                <a16:creationId xmlns:a16="http://schemas.microsoft.com/office/drawing/2014/main" id="{E1768A2E-B05E-497B-A130-5313C60B7984}"/>
              </a:ext>
            </a:extLst>
          </p:cNvPr>
          <p:cNvSpPr>
            <a:spLocks xmlns:a="http://schemas.openxmlformats.org/drawingml/2006/main" noGrp="1"/>
          </p:cNvSpPr>
          <p:nvPr/>
        </p:nvSpPr>
        <p:spPr>
          <a:xfrm xmlns:a="http://schemas.openxmlformats.org/drawingml/2006/main">
            <a:off x="533400" y="1333500"/>
            <a:ext cx="111252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4" name="page-9">
            <a:extLst xmlns:a="http://schemas.openxmlformats.org/drawingml/2006/main">
              <a:ext uri="{FF2B5EF4-FFF2-40B4-BE49-F238E27FC236}">
                <a16:creationId xmlns:a16="http://schemas.microsoft.com/office/drawing/2014/main" id="{245E56DC-811A-47D1-B21A-E3469DE15185}"/>
              </a:ext>
            </a:extLst>
          </p:cNvPr>
          <p:cNvSpPr>
            <a:spLocks xmlns:a="http://schemas.openxmlformats.org/drawingml/2006/main" noGrp="1"/>
          </p:cNvSpPr>
          <p:nvPr/>
        </p:nvSpPr>
        <p:spPr>
          <a:xfrm xmlns:a="http://schemas.openxmlformats.org/drawingml/2006/main">
            <a:off x="11144250" y="6438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09</a:t>
            </a:r>
          </a:p>
        </p:txBody>
      </p:sp>
      <p:sp>
        <p:nvSpPr>
          <p:cNvPr id="5" name="tech-0">
            <a:extLst xmlns:a="http://schemas.openxmlformats.org/drawingml/2006/main">
              <a:ext uri="{FF2B5EF4-FFF2-40B4-BE49-F238E27FC236}">
                <a16:creationId xmlns:a16="http://schemas.microsoft.com/office/drawing/2014/main" id="{0D5A109B-2CFF-4718-9094-46FD8B4781BD}"/>
              </a:ext>
            </a:extLst>
          </p:cNvPr>
          <p:cNvSpPr>
            <a:spLocks xmlns:a="http://schemas.openxmlformats.org/drawingml/2006/main" noGrp="1"/>
          </p:cNvSpPr>
          <p:nvPr/>
        </p:nvSpPr>
        <p:spPr>
          <a:xfrm xmlns:a="http://schemas.openxmlformats.org/drawingml/2006/main">
            <a:off x="533400" y="1733550"/>
            <a:ext cx="3333750" cy="3314700"/>
          </a:xfrm>
          <a:prstGeom xmlns:a="http://schemas.openxmlformats.org/drawingml/2006/main" prst="roundRect">
            <a:avLst>
              <a:gd name="adj" fmla="val 2299"/>
            </a:avLst>
          </a:prstGeom>
          <a:solidFill xmlns:a="http://schemas.openxmlformats.org/drawingml/2006/main">
            <a:srgbClr val="FFFFFF"/>
          </a:solidFill>
          <a:ln xmlns:a="http://schemas.openxmlformats.org/drawingml/2006/main" w="9525">
            <a:solidFill>
              <a:srgbClr val="BCCCDC"/>
            </a:solidFill>
            <a:prstDash val="solid"/>
          </a:ln>
        </p:spPr>
      </p:sp>
      <p:sp>
        <p:nvSpPr>
          <p:cNvPr id="6" name="tech-no-0">
            <a:extLst xmlns:a="http://schemas.openxmlformats.org/drawingml/2006/main">
              <a:ext uri="{FF2B5EF4-FFF2-40B4-BE49-F238E27FC236}">
                <a16:creationId xmlns:a16="http://schemas.microsoft.com/office/drawing/2014/main" id="{B3BC07AF-7855-450A-8B23-B3991915C6DB}"/>
              </a:ext>
            </a:extLst>
          </p:cNvPr>
          <p:cNvSpPr>
            <a:spLocks xmlns:a="http://schemas.openxmlformats.org/drawingml/2006/main" noGrp="1"/>
          </p:cNvSpPr>
          <p:nvPr/>
        </p:nvSpPr>
        <p:spPr>
          <a:xfrm xmlns:a="http://schemas.openxmlformats.org/drawingml/2006/main">
            <a:off x="800100" y="2000250"/>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792"/>
          </a:bodyPr>
          <a:lstStyle xmlns:a="http://schemas.openxmlformats.org/drawingml/2006/main"/>
          <a:p xmlns:a="http://schemas.openxmlformats.org/drawingml/2006/main">
            <a:pPr algn="l">
              <a:defRPr sz="2400" b="1">
                <a:solidFill>
                  <a:srgbClr val="B76E3D"/>
                </a:solidFill>
                <a:latin typeface="Microsoft YaHei"/>
                <a:ea typeface="Microsoft YaHei"/>
                <a:cs typeface="Microsoft YaHei"/>
              </a:defRPr>
            </a:pPr>
            <a:r>
              <a:rPr sz="2400" b="1">
                <a:solidFill>
                  <a:srgbClr val="B76E3D"/>
                </a:solidFill>
                <a:latin typeface="Microsoft YaHei"/>
                <a:ea typeface="Microsoft YaHei"/>
                <a:cs typeface="Microsoft YaHei"/>
              </a:rPr>
              <a:t>01</a:t>
            </a:r>
          </a:p>
        </p:txBody>
      </p:sp>
      <p:sp>
        <p:nvSpPr>
          <p:cNvPr id="7" name="tech-head-0">
            <a:extLst xmlns:a="http://schemas.openxmlformats.org/drawingml/2006/main">
              <a:ext uri="{FF2B5EF4-FFF2-40B4-BE49-F238E27FC236}">
                <a16:creationId xmlns:a16="http://schemas.microsoft.com/office/drawing/2014/main" id="{657A7960-8562-4D59-A4D3-B8BD1DA2F768}"/>
              </a:ext>
            </a:extLst>
          </p:cNvPr>
          <p:cNvSpPr>
            <a:spLocks xmlns:a="http://schemas.openxmlformats.org/drawingml/2006/main" noGrp="1"/>
          </p:cNvSpPr>
          <p:nvPr/>
        </p:nvSpPr>
        <p:spPr>
          <a:xfrm xmlns:a="http://schemas.openxmlformats.org/drawingml/2006/main">
            <a:off x="800100" y="26098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勘探理论</a:t>
            </a:r>
          </a:p>
        </p:txBody>
      </p:sp>
      <p:sp>
        <p:nvSpPr>
          <p:cNvPr id="8" name="tech-body-0">
            <a:extLst xmlns:a="http://schemas.openxmlformats.org/drawingml/2006/main">
              <a:ext uri="{FF2B5EF4-FFF2-40B4-BE49-F238E27FC236}">
                <a16:creationId xmlns:a16="http://schemas.microsoft.com/office/drawing/2014/main" id="{4EF9FCE7-6F41-4C3B-BA7D-541AC7D3ABEE}"/>
              </a:ext>
            </a:extLst>
          </p:cNvPr>
          <p:cNvSpPr>
            <a:spLocks xmlns:a="http://schemas.openxmlformats.org/drawingml/2006/main" noGrp="1"/>
          </p:cNvSpPr>
          <p:nvPr/>
        </p:nvSpPr>
        <p:spPr>
          <a:xfrm xmlns:a="http://schemas.openxmlformats.org/drawingml/2006/main">
            <a:off x="800100" y="3219450"/>
            <a:ext cx="2724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7D98"/>
                </a:solidFill>
                <a:latin typeface="Microsoft YaHei"/>
                <a:ea typeface="Microsoft YaHei"/>
                <a:cs typeface="Microsoft YaHei"/>
              </a:defRPr>
            </a:pPr>
            <a:r>
              <a:rPr sz="1350" b="0">
                <a:solidFill>
                  <a:srgbClr val="627D98"/>
                </a:solidFill>
                <a:latin typeface="Microsoft YaHei"/>
                <a:ea typeface="Microsoft YaHei"/>
                <a:cs typeface="Microsoft YaHei"/>
              </a:rPr>
              <a:t>深水成藏、高温高压、深埋潜山等理论创新，提高复杂区资源识别率。</a:t>
            </a:r>
          </a:p>
        </p:txBody>
      </p:sp>
      <p:sp>
        <p:nvSpPr>
          <p:cNvPr id="9" name="tech-1">
            <a:extLst xmlns:a="http://schemas.openxmlformats.org/drawingml/2006/main">
              <a:ext uri="{FF2B5EF4-FFF2-40B4-BE49-F238E27FC236}">
                <a16:creationId xmlns:a16="http://schemas.microsoft.com/office/drawing/2014/main" id="{9E022AAC-DD3C-4EE1-81E1-B95B9A271A4F}"/>
              </a:ext>
            </a:extLst>
          </p:cNvPr>
          <p:cNvSpPr>
            <a:spLocks xmlns:a="http://schemas.openxmlformats.org/drawingml/2006/main" noGrp="1"/>
          </p:cNvSpPr>
          <p:nvPr/>
        </p:nvSpPr>
        <p:spPr>
          <a:xfrm xmlns:a="http://schemas.openxmlformats.org/drawingml/2006/main">
            <a:off x="4267200" y="1733550"/>
            <a:ext cx="3333750" cy="3314700"/>
          </a:xfrm>
          <a:prstGeom xmlns:a="http://schemas.openxmlformats.org/drawingml/2006/main" prst="roundRect">
            <a:avLst>
              <a:gd name="adj" fmla="val 2299"/>
            </a:avLst>
          </a:prstGeom>
          <a:solidFill xmlns:a="http://schemas.openxmlformats.org/drawingml/2006/main">
            <a:srgbClr val="102A43"/>
          </a:solidFill>
          <a:ln xmlns:a="http://schemas.openxmlformats.org/drawingml/2006/main" w="0">
            <a:noFill/>
            <a:prstDash val="solid"/>
          </a:ln>
        </p:spPr>
      </p:sp>
      <p:sp>
        <p:nvSpPr>
          <p:cNvPr id="10" name="tech-no-1">
            <a:extLst xmlns:a="http://schemas.openxmlformats.org/drawingml/2006/main">
              <a:ext uri="{FF2B5EF4-FFF2-40B4-BE49-F238E27FC236}">
                <a16:creationId xmlns:a16="http://schemas.microsoft.com/office/drawing/2014/main" id="{B844462B-C3EB-417B-A9D3-5B42245A5BBE}"/>
              </a:ext>
            </a:extLst>
          </p:cNvPr>
          <p:cNvSpPr>
            <a:spLocks xmlns:a="http://schemas.openxmlformats.org/drawingml/2006/main" noGrp="1"/>
          </p:cNvSpPr>
          <p:nvPr/>
        </p:nvSpPr>
        <p:spPr>
          <a:xfrm xmlns:a="http://schemas.openxmlformats.org/drawingml/2006/main">
            <a:off x="4533900" y="2000250"/>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792"/>
          </a:bodyPr>
          <a:lstStyle xmlns:a="http://schemas.openxmlformats.org/drawingml/2006/main"/>
          <a:p xmlns:a="http://schemas.openxmlformats.org/drawingml/2006/main">
            <a:pPr algn="l">
              <a:defRPr sz="2400" b="1">
                <a:solidFill>
                  <a:srgbClr val="B76E3D"/>
                </a:solidFill>
                <a:latin typeface="Microsoft YaHei"/>
                <a:ea typeface="Microsoft YaHei"/>
                <a:cs typeface="Microsoft YaHei"/>
              </a:defRPr>
            </a:pPr>
            <a:r>
              <a:rPr sz="2400" b="1">
                <a:solidFill>
                  <a:srgbClr val="B76E3D"/>
                </a:solidFill>
                <a:latin typeface="Microsoft YaHei"/>
                <a:ea typeface="Microsoft YaHei"/>
                <a:cs typeface="Microsoft YaHei"/>
              </a:rPr>
              <a:t>02</a:t>
            </a:r>
          </a:p>
        </p:txBody>
      </p:sp>
      <p:sp>
        <p:nvSpPr>
          <p:cNvPr id="11" name="tech-head-1">
            <a:extLst xmlns:a="http://schemas.openxmlformats.org/drawingml/2006/main">
              <a:ext uri="{FF2B5EF4-FFF2-40B4-BE49-F238E27FC236}">
                <a16:creationId xmlns:a16="http://schemas.microsoft.com/office/drawing/2014/main" id="{EDEDE204-C7C9-47E3-BABD-051DA0AB1CFC}"/>
              </a:ext>
            </a:extLst>
          </p:cNvPr>
          <p:cNvSpPr>
            <a:spLocks xmlns:a="http://schemas.openxmlformats.org/drawingml/2006/main" noGrp="1"/>
          </p:cNvSpPr>
          <p:nvPr/>
        </p:nvSpPr>
        <p:spPr>
          <a:xfrm xmlns:a="http://schemas.openxmlformats.org/drawingml/2006/main">
            <a:off x="4533900" y="26098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钻完井技术</a:t>
            </a:r>
          </a:p>
        </p:txBody>
      </p:sp>
      <p:sp>
        <p:nvSpPr>
          <p:cNvPr id="12" name="tech-body-1">
            <a:extLst xmlns:a="http://schemas.openxmlformats.org/drawingml/2006/main">
              <a:ext uri="{FF2B5EF4-FFF2-40B4-BE49-F238E27FC236}">
                <a16:creationId xmlns:a16="http://schemas.microsoft.com/office/drawing/2014/main" id="{B3918268-55A7-40BE-B573-8483EFFAF77B}"/>
              </a:ext>
            </a:extLst>
          </p:cNvPr>
          <p:cNvSpPr>
            <a:spLocks xmlns:a="http://schemas.openxmlformats.org/drawingml/2006/main" noGrp="1"/>
          </p:cNvSpPr>
          <p:nvPr/>
        </p:nvSpPr>
        <p:spPr>
          <a:xfrm xmlns:a="http://schemas.openxmlformats.org/drawingml/2006/main">
            <a:off x="4533900" y="3219450"/>
            <a:ext cx="2724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D9E2EC"/>
                </a:solidFill>
                <a:latin typeface="Microsoft YaHei"/>
                <a:ea typeface="Microsoft YaHei"/>
                <a:cs typeface="Microsoft YaHei"/>
              </a:defRPr>
            </a:pPr>
            <a:r>
              <a:rPr sz="1350" b="0">
                <a:solidFill>
                  <a:srgbClr val="D9E2EC"/>
                </a:solidFill>
                <a:latin typeface="Microsoft YaHei"/>
                <a:ea typeface="Microsoft YaHei"/>
                <a:cs typeface="Microsoft YaHei"/>
              </a:rPr>
              <a:t>深水表层导管、无隔水管钻井、井壁强化和优快钻井形成自主能力。</a:t>
            </a:r>
          </a:p>
        </p:txBody>
      </p:sp>
      <p:sp>
        <p:nvSpPr>
          <p:cNvPr id="13" name="tech-2">
            <a:extLst xmlns:a="http://schemas.openxmlformats.org/drawingml/2006/main">
              <a:ext uri="{FF2B5EF4-FFF2-40B4-BE49-F238E27FC236}">
                <a16:creationId xmlns:a16="http://schemas.microsoft.com/office/drawing/2014/main" id="{24BF7434-A57A-42C9-9DAB-CD0EEBB6C9A2}"/>
              </a:ext>
            </a:extLst>
          </p:cNvPr>
          <p:cNvSpPr>
            <a:spLocks xmlns:a="http://schemas.openxmlformats.org/drawingml/2006/main" noGrp="1"/>
          </p:cNvSpPr>
          <p:nvPr/>
        </p:nvSpPr>
        <p:spPr>
          <a:xfrm xmlns:a="http://schemas.openxmlformats.org/drawingml/2006/main">
            <a:off x="8001000" y="1733550"/>
            <a:ext cx="3333750" cy="3314700"/>
          </a:xfrm>
          <a:prstGeom xmlns:a="http://schemas.openxmlformats.org/drawingml/2006/main" prst="roundRect">
            <a:avLst>
              <a:gd name="adj" fmla="val 2299"/>
            </a:avLst>
          </a:prstGeom>
          <a:solidFill xmlns:a="http://schemas.openxmlformats.org/drawingml/2006/main">
            <a:srgbClr val="FFFFFF"/>
          </a:solidFill>
          <a:ln xmlns:a="http://schemas.openxmlformats.org/drawingml/2006/main" w="9525">
            <a:solidFill>
              <a:srgbClr val="BCCCDC"/>
            </a:solidFill>
            <a:prstDash val="solid"/>
          </a:ln>
        </p:spPr>
      </p:sp>
      <p:sp>
        <p:nvSpPr>
          <p:cNvPr id="14" name="tech-no-2">
            <a:extLst xmlns:a="http://schemas.openxmlformats.org/drawingml/2006/main">
              <a:ext uri="{FF2B5EF4-FFF2-40B4-BE49-F238E27FC236}">
                <a16:creationId xmlns:a16="http://schemas.microsoft.com/office/drawing/2014/main" id="{03E96F50-7B08-4107-BF5D-030B1066E250}"/>
              </a:ext>
            </a:extLst>
          </p:cNvPr>
          <p:cNvSpPr>
            <a:spLocks xmlns:a="http://schemas.openxmlformats.org/drawingml/2006/main" noGrp="1"/>
          </p:cNvSpPr>
          <p:nvPr/>
        </p:nvSpPr>
        <p:spPr>
          <a:xfrm xmlns:a="http://schemas.openxmlformats.org/drawingml/2006/main">
            <a:off x="8267700" y="2000250"/>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792"/>
          </a:bodyPr>
          <a:lstStyle xmlns:a="http://schemas.openxmlformats.org/drawingml/2006/main"/>
          <a:p xmlns:a="http://schemas.openxmlformats.org/drawingml/2006/main">
            <a:pPr algn="l">
              <a:defRPr sz="2400" b="1">
                <a:solidFill>
                  <a:srgbClr val="B76E3D"/>
                </a:solidFill>
                <a:latin typeface="Microsoft YaHei"/>
                <a:ea typeface="Microsoft YaHei"/>
                <a:cs typeface="Microsoft YaHei"/>
              </a:defRPr>
            </a:pPr>
            <a:r>
              <a:rPr sz="2400" b="1">
                <a:solidFill>
                  <a:srgbClr val="B76E3D"/>
                </a:solidFill>
                <a:latin typeface="Microsoft YaHei"/>
                <a:ea typeface="Microsoft YaHei"/>
                <a:cs typeface="Microsoft YaHei"/>
              </a:rPr>
              <a:t>03</a:t>
            </a:r>
          </a:p>
        </p:txBody>
      </p:sp>
      <p:sp>
        <p:nvSpPr>
          <p:cNvPr id="15" name="tech-head-2">
            <a:extLst xmlns:a="http://schemas.openxmlformats.org/drawingml/2006/main">
              <a:ext uri="{FF2B5EF4-FFF2-40B4-BE49-F238E27FC236}">
                <a16:creationId xmlns:a16="http://schemas.microsoft.com/office/drawing/2014/main" id="{6B989858-1C48-482A-883E-C6D650834074}"/>
              </a:ext>
            </a:extLst>
          </p:cNvPr>
          <p:cNvSpPr>
            <a:spLocks xmlns:a="http://schemas.openxmlformats.org/drawingml/2006/main" noGrp="1"/>
          </p:cNvSpPr>
          <p:nvPr/>
        </p:nvSpPr>
        <p:spPr>
          <a:xfrm xmlns:a="http://schemas.openxmlformats.org/drawingml/2006/main">
            <a:off x="8267700" y="26098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工程装备</a:t>
            </a:r>
          </a:p>
        </p:txBody>
      </p:sp>
      <p:sp>
        <p:nvSpPr>
          <p:cNvPr id="16" name="tech-body-2">
            <a:extLst xmlns:a="http://schemas.openxmlformats.org/drawingml/2006/main">
              <a:ext uri="{FF2B5EF4-FFF2-40B4-BE49-F238E27FC236}">
                <a16:creationId xmlns:a16="http://schemas.microsoft.com/office/drawing/2014/main" id="{447D75B4-053F-40DB-BDB5-B038351AA32D}"/>
              </a:ext>
            </a:extLst>
          </p:cNvPr>
          <p:cNvSpPr>
            <a:spLocks xmlns:a="http://schemas.openxmlformats.org/drawingml/2006/main" noGrp="1"/>
          </p:cNvSpPr>
          <p:nvPr/>
        </p:nvSpPr>
        <p:spPr>
          <a:xfrm xmlns:a="http://schemas.openxmlformats.org/drawingml/2006/main">
            <a:off x="8267700" y="3219450"/>
            <a:ext cx="2724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7D98"/>
                </a:solidFill>
                <a:latin typeface="Microsoft YaHei"/>
                <a:ea typeface="Microsoft YaHei"/>
                <a:cs typeface="Microsoft YaHei"/>
              </a:defRPr>
            </a:pPr>
            <a:r>
              <a:rPr sz="1350" b="0">
                <a:solidFill>
                  <a:srgbClr val="627D98"/>
                </a:solidFill>
                <a:latin typeface="Microsoft YaHei"/>
                <a:ea typeface="Microsoft YaHei"/>
                <a:cs typeface="Microsoft YaHei"/>
              </a:rPr>
              <a:t>“海洋石油981”“深海一号”“海基二号”等装备覆盖勘探、生产与集输。</a:t>
            </a:r>
          </a:p>
        </p:txBody>
      </p:sp>
      <p:sp>
        <p:nvSpPr>
          <p:cNvPr id="17" name="tech-proof">
            <a:extLst xmlns:a="http://schemas.openxmlformats.org/drawingml/2006/main">
              <a:ext uri="{FF2B5EF4-FFF2-40B4-BE49-F238E27FC236}">
                <a16:creationId xmlns:a16="http://schemas.microsoft.com/office/drawing/2014/main" id="{DC886815-ECB0-4FD9-B219-D4750C78CB7B}"/>
              </a:ext>
            </a:extLst>
          </p:cNvPr>
          <p:cNvSpPr>
            <a:spLocks xmlns:a="http://schemas.openxmlformats.org/drawingml/2006/main" noGrp="1"/>
          </p:cNvSpPr>
          <p:nvPr/>
        </p:nvSpPr>
        <p:spPr>
          <a:xfrm xmlns:a="http://schemas.openxmlformats.org/drawingml/2006/main">
            <a:off x="533400" y="5353050"/>
            <a:ext cx="11125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2F6B7C"/>
                </a:solidFill>
                <a:latin typeface="Microsoft YaHei"/>
                <a:ea typeface="Microsoft YaHei"/>
                <a:cs typeface="Microsoft YaHei"/>
              </a:defRPr>
            </a:pPr>
            <a:r>
              <a:rPr sz="1650" b="1">
                <a:solidFill>
                  <a:srgbClr val="2F6B7C"/>
                </a:solidFill>
                <a:latin typeface="Microsoft YaHei"/>
                <a:ea typeface="Microsoft YaHei"/>
                <a:cs typeface="Microsoft YaHei"/>
              </a:rPr>
              <a:t>工程效率证明：渤海平均钻井周期由57天降至10天以内，效率提升6-7倍。</a:t>
            </a:r>
          </a:p>
        </p:txBody>
      </p:sp>
      <p:sp>
        <p:nvSpPr>
          <p:cNvPr id="18" name="source-14-16">
            <a:extLst xmlns:a="http://schemas.openxmlformats.org/drawingml/2006/main">
              <a:ext uri="{FF2B5EF4-FFF2-40B4-BE49-F238E27FC236}">
                <a16:creationId xmlns:a16="http://schemas.microsoft.com/office/drawing/2014/main" id="{C718E4A1-B918-4A24-B3CD-70C2F2ED3128}"/>
              </a:ext>
            </a:extLst>
          </p:cNvPr>
          <p:cNvSpPr>
            <a:spLocks xmlns:a="http://schemas.openxmlformats.org/drawingml/2006/main" noGrp="1"/>
          </p:cNvSpPr>
          <p:nvPr/>
        </p:nvSpPr>
        <p:spPr>
          <a:xfrm xmlns:a="http://schemas.openxmlformats.org/drawingml/2006/main">
            <a:off x="533400" y="64198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0">
                <a:solidFill>
                  <a:srgbClr val="627D98"/>
                </a:solidFill>
                <a:latin typeface="Microsoft YaHei"/>
                <a:ea typeface="Microsoft YaHei"/>
                <a:cs typeface="Microsoft YaHei"/>
              </a:defRPr>
            </a:pPr>
            <a:r>
              <a:rPr sz="825" b="0">
                <a:solidFill>
                  <a:srgbClr val="627D98"/>
                </a:solidFill>
                <a:latin typeface="Microsoft YaHei"/>
                <a:ea typeface="Microsoft YaHei"/>
                <a:cs typeface="Microsoft YaHei"/>
              </a:rPr>
              <a:t>资料来源：国信证券《深水、超深水油气资源前景广阔》，2024-04-03，第14-16页</a:t>
            </a:r>
          </a:p>
        </p:txBody>
      </p:sp>
    </p:spTree>
    <p:extLst>
      <p:ext uri="{BB962C8B-B14F-4D97-AF65-F5344CB8AC3E}">
        <p14:creationId xmlns:p14="http://schemas.microsoft.com/office/powerpoint/2010/main" val="482712776"/>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section-10">
            <a:extLst xmlns:a="http://schemas.openxmlformats.org/drawingml/2006/main">
              <a:ext uri="{FF2B5EF4-FFF2-40B4-BE49-F238E27FC236}">
                <a16:creationId xmlns:a16="http://schemas.microsoft.com/office/drawing/2014/main" id="{5CC97A3E-C11C-4122-BFBD-CA39C32577A2}"/>
              </a:ext>
            </a:extLst>
          </p:cNvPr>
          <p:cNvSpPr>
            <a:spLocks xmlns:a="http://schemas.openxmlformats.org/drawingml/2006/main" noGrp="1"/>
          </p:cNvSpPr>
          <p:nvPr/>
        </p:nvSpPr>
        <p:spPr>
          <a:xfrm xmlns:a="http://schemas.openxmlformats.org/drawingml/2006/main">
            <a:off x="53340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76E3D"/>
                </a:solidFill>
                <a:latin typeface="Microsoft YaHei"/>
                <a:ea typeface="Microsoft YaHei"/>
                <a:cs typeface="Microsoft YaHei"/>
              </a:defRPr>
            </a:pPr>
            <a:r>
              <a:rPr sz="1050" b="1">
                <a:solidFill>
                  <a:srgbClr val="B76E3D"/>
                </a:solidFill>
                <a:latin typeface="Microsoft YaHei"/>
                <a:ea typeface="Microsoft YaHei"/>
                <a:cs typeface="Microsoft YaHei"/>
              </a:rPr>
              <a:t>财务与估值</a:t>
            </a:r>
          </a:p>
        </p:txBody>
      </p:sp>
      <p:sp>
        <p:nvSpPr>
          <p:cNvPr id="2" name="title-10">
            <a:extLst xmlns:a="http://schemas.openxmlformats.org/drawingml/2006/main">
              <a:ext uri="{FF2B5EF4-FFF2-40B4-BE49-F238E27FC236}">
                <a16:creationId xmlns:a16="http://schemas.microsoft.com/office/drawing/2014/main" id="{D6911E9D-937E-4F99-9A32-6DE65F5ADF7A}"/>
              </a:ext>
            </a:extLst>
          </p:cNvPr>
          <p:cNvSpPr>
            <a:spLocks xmlns:a="http://schemas.openxmlformats.org/drawingml/2006/main" noGrp="1"/>
          </p:cNvSpPr>
          <p:nvPr/>
        </p:nvSpPr>
        <p:spPr>
          <a:xfrm xmlns:a="http://schemas.openxmlformats.org/drawingml/2006/main">
            <a:off x="533400" y="5524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2A43"/>
                </a:solidFill>
                <a:latin typeface="Microsoft YaHei"/>
                <a:ea typeface="Microsoft YaHei"/>
                <a:cs typeface="Microsoft YaHei"/>
              </a:defRPr>
            </a:pPr>
            <a:r>
              <a:rPr sz="2700" b="1">
                <a:solidFill>
                  <a:srgbClr val="102A43"/>
                </a:solidFill>
                <a:latin typeface="Microsoft YaHei"/>
                <a:ea typeface="Microsoft YaHei"/>
                <a:cs typeface="Microsoft YaHei"/>
              </a:rPr>
              <a:t>盈利增长消化估值，现金流维持较强</a:t>
            </a:r>
          </a:p>
        </p:txBody>
      </p:sp>
      <p:sp>
        <p:nvSpPr>
          <p:cNvPr id="3" name="">
            <a:extLst xmlns:a="http://schemas.openxmlformats.org/drawingml/2006/main">
              <a:ext uri="{FF2B5EF4-FFF2-40B4-BE49-F238E27FC236}">
                <a16:creationId xmlns:a16="http://schemas.microsoft.com/office/drawing/2014/main" id="{49CAE698-501D-4A14-9707-D0FAF7978787}"/>
              </a:ext>
            </a:extLst>
          </p:cNvPr>
          <p:cNvSpPr>
            <a:spLocks xmlns:a="http://schemas.openxmlformats.org/drawingml/2006/main" noGrp="1"/>
          </p:cNvSpPr>
          <p:nvPr/>
        </p:nvSpPr>
        <p:spPr>
          <a:xfrm xmlns:a="http://schemas.openxmlformats.org/drawingml/2006/main">
            <a:off x="533400" y="1333500"/>
            <a:ext cx="111252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4" name="page-10">
            <a:extLst xmlns:a="http://schemas.openxmlformats.org/drawingml/2006/main">
              <a:ext uri="{FF2B5EF4-FFF2-40B4-BE49-F238E27FC236}">
                <a16:creationId xmlns:a16="http://schemas.microsoft.com/office/drawing/2014/main" id="{6B3601AA-0AD7-4504-AD34-DC4ED5D18423}"/>
              </a:ext>
            </a:extLst>
          </p:cNvPr>
          <p:cNvSpPr>
            <a:spLocks xmlns:a="http://schemas.openxmlformats.org/drawingml/2006/main" noGrp="1"/>
          </p:cNvSpPr>
          <p:nvPr/>
        </p:nvSpPr>
        <p:spPr>
          <a:xfrm xmlns:a="http://schemas.openxmlformats.org/drawingml/2006/main">
            <a:off x="11144250" y="6438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10</a:t>
            </a:r>
          </a:p>
        </p:txBody>
      </p:sp>
      <p:graphicFrame>
        <p:nvGraphicFramePr>
          <p:cNvPr id="14" name=""/>
          <p:cNvGraphicFramePr/>
          <p:nvPr/>
        </p:nvGraphicFramePr>
        <p:xfrm>
          <a:off xmlns:a="http://schemas.openxmlformats.org/drawingml/2006/main" x="533400" y="1752600"/>
          <a:ext xmlns:a="http://schemas.openxmlformats.org/drawingml/2006/main" cx="6953250" cy="3238500"/>
        </p:xfrm>
        <a:graphic xmlns:a="http://schemas.openxmlformats.org/drawingml/2006/main">
          <a:graphicData uri="http://schemas.openxmlformats.org/drawingml/2006/table">
            <a:tbl>
              <a:tblPr firstRow="1" bandRow="1"/>
              <a:tblGrid>
                <a:gridCol w="2381250"/>
                <a:gridCol w="1143000"/>
                <a:gridCol w="1143000"/>
                <a:gridCol w="1143000"/>
                <a:gridCol w="1143000"/>
              </a:tblGrid>
              <a:tr h="539750">
                <a:tc>
                  <a:txBody>
                    <a:bodyPr/>
                    <a:lstStyle/>
                    <a:p>
                      <a:r>
                        <a:t>指标</a:t>
                      </a:r>
                    </a:p>
                  </a:txBody>
                  <a:tcPr marL="91440" marR="91440" marT="45720" marB="45720"/>
                </a:tc>
                <a:tc>
                  <a:txBody>
                    <a:bodyPr/>
                    <a:lstStyle/>
                    <a:p>
                      <a:r>
                        <a:t>2023A</a:t>
                      </a:r>
                    </a:p>
                  </a:txBody>
                  <a:tcPr marL="91440" marR="91440" marT="45720" marB="45720"/>
                </a:tc>
                <a:tc>
                  <a:txBody>
                    <a:bodyPr/>
                    <a:lstStyle/>
                    <a:p>
                      <a:r>
                        <a:t>2024E</a:t>
                      </a:r>
                    </a:p>
                  </a:txBody>
                  <a:tcPr marL="91440" marR="91440" marT="45720" marB="45720"/>
                </a:tc>
                <a:tc>
                  <a:txBody>
                    <a:bodyPr/>
                    <a:lstStyle/>
                    <a:p>
                      <a:r>
                        <a:t>2025E</a:t>
                      </a:r>
                    </a:p>
                  </a:txBody>
                  <a:tcPr marL="91440" marR="91440" marT="45720" marB="45720"/>
                </a:tc>
                <a:tc>
                  <a:txBody>
                    <a:bodyPr/>
                    <a:lstStyle/>
                    <a:p>
                      <a:r>
                        <a:t>2026E</a:t>
                      </a:r>
                    </a:p>
                  </a:txBody>
                  <a:tcPr marL="91440" marR="91440" marT="45720" marB="45720"/>
                </a:tc>
              </a:tr>
              <a:tr h="539750">
                <a:tc>
                  <a:txBody>
                    <a:bodyPr/>
                    <a:lstStyle/>
                    <a:p>
                      <a:r>
                        <a:t>营业收入（亿元）</a:t>
                      </a:r>
                    </a:p>
                  </a:txBody>
                  <a:tcPr marL="91440" marR="91440" marT="45720" marB="45720"/>
                </a:tc>
                <a:tc>
                  <a:txBody>
                    <a:bodyPr/>
                    <a:lstStyle/>
                    <a:p>
                      <a:r>
                        <a:t>4,166</a:t>
                      </a:r>
                    </a:p>
                  </a:txBody>
                  <a:tcPr marL="91440" marR="91440" marT="45720" marB="45720"/>
                </a:tc>
                <a:tc>
                  <a:txBody>
                    <a:bodyPr/>
                    <a:lstStyle/>
                    <a:p>
                      <a:r>
                        <a:t>4,546</a:t>
                      </a:r>
                    </a:p>
                  </a:txBody>
                  <a:tcPr marL="91440" marR="91440" marT="45720" marB="45720"/>
                </a:tc>
                <a:tc>
                  <a:txBody>
                    <a:bodyPr/>
                    <a:lstStyle/>
                    <a:p>
                      <a:r>
                        <a:t>4,823</a:t>
                      </a:r>
                    </a:p>
                  </a:txBody>
                  <a:tcPr marL="91440" marR="91440" marT="45720" marB="45720"/>
                </a:tc>
                <a:tc>
                  <a:txBody>
                    <a:bodyPr/>
                    <a:lstStyle/>
                    <a:p>
                      <a:r>
                        <a:t>4,975</a:t>
                      </a:r>
                    </a:p>
                  </a:txBody>
                  <a:tcPr marL="91440" marR="91440" marT="45720" marB="45720"/>
                </a:tc>
              </a:tr>
              <a:tr h="539750">
                <a:tc>
                  <a:txBody>
                    <a:bodyPr/>
                    <a:lstStyle/>
                    <a:p>
                      <a:r>
                        <a:t>归母净利润（亿元）</a:t>
                      </a:r>
                    </a:p>
                  </a:txBody>
                  <a:tcPr marL="91440" marR="91440" marT="45720" marB="45720"/>
                </a:tc>
                <a:tc>
                  <a:txBody>
                    <a:bodyPr/>
                    <a:lstStyle/>
                    <a:p>
                      <a:r>
                        <a:t>1,238</a:t>
                      </a:r>
                    </a:p>
                  </a:txBody>
                  <a:tcPr marL="91440" marR="91440" marT="45720" marB="45720"/>
                </a:tc>
                <a:tc>
                  <a:txBody>
                    <a:bodyPr/>
                    <a:lstStyle/>
                    <a:p>
                      <a:r>
                        <a:t>1,468</a:t>
                      </a:r>
                    </a:p>
                  </a:txBody>
                  <a:tcPr marL="91440" marR="91440" marT="45720" marB="45720"/>
                </a:tc>
                <a:tc>
                  <a:txBody>
                    <a:bodyPr/>
                    <a:lstStyle/>
                    <a:p>
                      <a:r>
                        <a:t>1,564</a:t>
                      </a:r>
                    </a:p>
                  </a:txBody>
                  <a:tcPr marL="91440" marR="91440" marT="45720" marB="45720"/>
                </a:tc>
                <a:tc>
                  <a:txBody>
                    <a:bodyPr/>
                    <a:lstStyle/>
                    <a:p>
                      <a:r>
                        <a:t>1,633</a:t>
                      </a:r>
                    </a:p>
                  </a:txBody>
                  <a:tcPr marL="91440" marR="91440" marT="45720" marB="45720"/>
                </a:tc>
              </a:tr>
              <a:tr h="539750">
                <a:tc>
                  <a:txBody>
                    <a:bodyPr/>
                    <a:lstStyle/>
                    <a:p>
                      <a:r>
                        <a:t>EPS（元）</a:t>
                      </a:r>
                    </a:p>
                  </a:txBody>
                  <a:tcPr marL="91440" marR="91440" marT="45720" marB="45720"/>
                </a:tc>
                <a:tc>
                  <a:txBody>
                    <a:bodyPr/>
                    <a:lstStyle/>
                    <a:p>
                      <a:r>
                        <a:t>2.60</a:t>
                      </a:r>
                    </a:p>
                  </a:txBody>
                  <a:tcPr marL="91440" marR="91440" marT="45720" marB="45720"/>
                </a:tc>
                <a:tc>
                  <a:txBody>
                    <a:bodyPr/>
                    <a:lstStyle/>
                    <a:p>
                      <a:r>
                        <a:t>3.09</a:t>
                      </a:r>
                    </a:p>
                  </a:txBody>
                  <a:tcPr marL="91440" marR="91440" marT="45720" marB="45720"/>
                </a:tc>
                <a:tc>
                  <a:txBody>
                    <a:bodyPr/>
                    <a:lstStyle/>
                    <a:p>
                      <a:r>
                        <a:t>3.29</a:t>
                      </a:r>
                    </a:p>
                  </a:txBody>
                  <a:tcPr marL="91440" marR="91440" marT="45720" marB="45720"/>
                </a:tc>
                <a:tc>
                  <a:txBody>
                    <a:bodyPr/>
                    <a:lstStyle/>
                    <a:p>
                      <a:r>
                        <a:t>3.43</a:t>
                      </a:r>
                    </a:p>
                  </a:txBody>
                  <a:tcPr marL="91440" marR="91440" marT="45720" marB="45720"/>
                </a:tc>
              </a:tr>
              <a:tr h="539750">
                <a:tc>
                  <a:txBody>
                    <a:bodyPr/>
                    <a:lstStyle/>
                    <a:p>
                      <a:r>
                        <a:t>A股PE（倍）</a:t>
                      </a:r>
                    </a:p>
                  </a:txBody>
                  <a:tcPr marL="91440" marR="91440" marT="45720" marB="45720"/>
                </a:tc>
                <a:tc>
                  <a:txBody>
                    <a:bodyPr/>
                    <a:lstStyle/>
                    <a:p>
                      <a:r>
                        <a:t>11.4</a:t>
                      </a:r>
                    </a:p>
                  </a:txBody>
                  <a:tcPr marL="91440" marR="91440" marT="45720" marB="45720"/>
                </a:tc>
                <a:tc>
                  <a:txBody>
                    <a:bodyPr/>
                    <a:lstStyle/>
                    <a:p>
                      <a:r>
                        <a:t>9.7</a:t>
                      </a:r>
                    </a:p>
                  </a:txBody>
                  <a:tcPr marL="91440" marR="91440" marT="45720" marB="45720"/>
                </a:tc>
                <a:tc>
                  <a:txBody>
                    <a:bodyPr/>
                    <a:lstStyle/>
                    <a:p>
                      <a:r>
                        <a:t>9.1</a:t>
                      </a:r>
                    </a:p>
                  </a:txBody>
                  <a:tcPr marL="91440" marR="91440" marT="45720" marB="45720"/>
                </a:tc>
                <a:tc>
                  <a:txBody>
                    <a:bodyPr/>
                    <a:lstStyle/>
                    <a:p>
                      <a:r>
                        <a:t>8.7</a:t>
                      </a:r>
                    </a:p>
                  </a:txBody>
                  <a:tcPr marL="91440" marR="91440" marT="45720" marB="45720"/>
                </a:tc>
              </a:tr>
              <a:tr h="539750">
                <a:tc>
                  <a:txBody>
                    <a:bodyPr/>
                    <a:lstStyle/>
                    <a:p>
                      <a:r>
                        <a:t>股息率</a:t>
                      </a:r>
                    </a:p>
                  </a:txBody>
                  <a:tcPr marL="91440" marR="91440" marT="45720" marB="45720"/>
                </a:tc>
                <a:tc>
                  <a:txBody>
                    <a:bodyPr/>
                    <a:lstStyle/>
                    <a:p>
                      <a:r>
                        <a:t>4.5%</a:t>
                      </a:r>
                    </a:p>
                  </a:txBody>
                  <a:tcPr marL="91440" marR="91440" marT="45720" marB="45720"/>
                </a:tc>
                <a:tc>
                  <a:txBody>
                    <a:bodyPr/>
                    <a:lstStyle/>
                    <a:p>
                      <a:r>
                        <a:t>4.7%</a:t>
                      </a:r>
                    </a:p>
                  </a:txBody>
                  <a:tcPr marL="91440" marR="91440" marT="45720" marB="45720"/>
                </a:tc>
                <a:tc>
                  <a:txBody>
                    <a:bodyPr/>
                    <a:lstStyle/>
                    <a:p>
                      <a:r>
                        <a:t>5.0%</a:t>
                      </a:r>
                    </a:p>
                  </a:txBody>
                  <a:tcPr marL="91440" marR="91440" marT="45720" marB="45720"/>
                </a:tc>
                <a:tc>
                  <a:txBody>
                    <a:bodyPr/>
                    <a:lstStyle/>
                    <a:p>
                      <a:r>
                        <a:t>5.2%</a:t>
                      </a:r>
                    </a:p>
                  </a:txBody>
                  <a:tcPr marL="91440" marR="91440" marT="45720" marB="45720"/>
                </a:tc>
              </a:tr>
            </a:tbl>
          </a:graphicData>
        </a:graphic>
      </p:graphicFrame>
      <p:graphicFrame>
        <p:nvGraphicFramePr>
          <p:cNvPr id="15" name="Chart"/>
          <p:cNvGraphicFramePr/>
          <p:nvPr/>
        </p:nvGraphicFramePr>
        <p:xfrm>
          <a:off xmlns:a="http://schemas.openxmlformats.org/drawingml/2006/main" x="7905750" y="1752600"/>
          <a:ext xmlns:a="http://schemas.openxmlformats.org/drawingml/2006/main" cx="3752850" cy="3238500"/>
        </p:xfrm>
        <a:graphic xmlns:a="http://schemas.openxmlformats.org/drawingml/2006/main">
          <a:graphicData uri="http://schemas.openxmlformats.org/drawingml/2006/chart">
            <c:chart xmlns:r="http://schemas.openxmlformats.org/officeDocument/2006/relationships" xmlns:c="http://schemas.openxmlformats.org/drawingml/2006/chart" r:id="R5601fab27fb142bc"/>
          </a:graphicData>
        </a:graphic>
      </p:graphicFrame>
      <p:sp>
        <p:nvSpPr>
          <p:cNvPr id="7" name="financial-callout">
            <a:extLst xmlns:a="http://schemas.openxmlformats.org/drawingml/2006/main">
              <a:ext uri="{FF2B5EF4-FFF2-40B4-BE49-F238E27FC236}">
                <a16:creationId xmlns:a16="http://schemas.microsoft.com/office/drawing/2014/main" id="{EA8FB34A-8520-408C-875A-96B835CFA1F0}"/>
              </a:ext>
            </a:extLst>
          </p:cNvPr>
          <p:cNvSpPr>
            <a:spLocks xmlns:a="http://schemas.openxmlformats.org/drawingml/2006/main" noGrp="1"/>
          </p:cNvSpPr>
          <p:nvPr/>
        </p:nvSpPr>
        <p:spPr>
          <a:xfrm xmlns:a="http://schemas.openxmlformats.org/drawingml/2006/main">
            <a:off x="533400" y="5276850"/>
            <a:ext cx="11125200" cy="609600"/>
          </a:xfrm>
          <a:prstGeom xmlns:a="http://schemas.openxmlformats.org/drawingml/2006/main" prst="roundRect">
            <a:avLst>
              <a:gd name="adj" fmla="val 9375"/>
            </a:avLst>
          </a:prstGeom>
          <a:solidFill xmlns:a="http://schemas.openxmlformats.org/drawingml/2006/main">
            <a:srgbClr val="102A43"/>
          </a:solidFill>
          <a:ln xmlns:a="http://schemas.openxmlformats.org/drawingml/2006/main" w="0">
            <a:noFill/>
            <a:prstDash val="solid"/>
          </a:ln>
        </p:spPr>
      </p:sp>
      <p:sp>
        <p:nvSpPr>
          <p:cNvPr id="8" name="financial-callout-text">
            <a:extLst xmlns:a="http://schemas.openxmlformats.org/drawingml/2006/main">
              <a:ext uri="{FF2B5EF4-FFF2-40B4-BE49-F238E27FC236}">
                <a16:creationId xmlns:a16="http://schemas.microsoft.com/office/drawing/2014/main" id="{76E221A5-5FA2-4066-82A7-EF36B8199D97}"/>
              </a:ext>
            </a:extLst>
          </p:cNvPr>
          <p:cNvSpPr>
            <a:spLocks xmlns:a="http://schemas.openxmlformats.org/drawingml/2006/main" noGrp="1"/>
          </p:cNvSpPr>
          <p:nvPr/>
        </p:nvSpPr>
        <p:spPr>
          <a:xfrm xmlns:a="http://schemas.openxmlformats.org/drawingml/2006/main">
            <a:off x="800100" y="543877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原报告维持“买入”评级；预测期净利润增长与PE下行同时出现。</a:t>
            </a:r>
          </a:p>
        </p:txBody>
      </p:sp>
      <p:sp>
        <p:nvSpPr>
          <p:cNvPr id="9" name="source-17-18">
            <a:extLst xmlns:a="http://schemas.openxmlformats.org/drawingml/2006/main">
              <a:ext uri="{FF2B5EF4-FFF2-40B4-BE49-F238E27FC236}">
                <a16:creationId xmlns:a16="http://schemas.microsoft.com/office/drawing/2014/main" id="{B46F57D3-222B-4509-A0E5-D3A3C6E39DA7}"/>
              </a:ext>
            </a:extLst>
          </p:cNvPr>
          <p:cNvSpPr>
            <a:spLocks xmlns:a="http://schemas.openxmlformats.org/drawingml/2006/main" noGrp="1"/>
          </p:cNvSpPr>
          <p:nvPr/>
        </p:nvSpPr>
        <p:spPr>
          <a:xfrm xmlns:a="http://schemas.openxmlformats.org/drawingml/2006/main">
            <a:off x="533400" y="64198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0">
                <a:solidFill>
                  <a:srgbClr val="627D98"/>
                </a:solidFill>
                <a:latin typeface="Microsoft YaHei"/>
                <a:ea typeface="Microsoft YaHei"/>
                <a:cs typeface="Microsoft YaHei"/>
              </a:defRPr>
            </a:pPr>
            <a:r>
              <a:rPr sz="825" b="0">
                <a:solidFill>
                  <a:srgbClr val="627D98"/>
                </a:solidFill>
                <a:latin typeface="Microsoft YaHei"/>
                <a:ea typeface="Microsoft YaHei"/>
                <a:cs typeface="Microsoft YaHei"/>
              </a:rPr>
              <a:t>资料来源：国信证券《深水、超深水油气资源前景广阔》，2024-04-03，第17-18页；金额由百万元换算为亿元</a:t>
            </a:r>
          </a:p>
        </p:txBody>
      </p:sp>
    </p:spTree>
    <p:extLst>
      <p:ext uri="{BB962C8B-B14F-4D97-AF65-F5344CB8AC3E}">
        <p14:creationId xmlns:p14="http://schemas.microsoft.com/office/powerpoint/2010/main" val="112956056"/>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2" name="section-11">
            <a:extLst xmlns:a="http://schemas.openxmlformats.org/drawingml/2006/main">
              <a:ext uri="{FF2B5EF4-FFF2-40B4-BE49-F238E27FC236}">
                <a16:creationId xmlns:a16="http://schemas.microsoft.com/office/drawing/2014/main" id="{20954862-2CDC-4218-9859-9FB9C415EBF6}"/>
              </a:ext>
            </a:extLst>
          </p:cNvPr>
          <p:cNvSpPr>
            <a:spLocks xmlns:a="http://schemas.openxmlformats.org/drawingml/2006/main" noGrp="1"/>
          </p:cNvSpPr>
          <p:nvPr/>
        </p:nvSpPr>
        <p:spPr>
          <a:xfrm xmlns:a="http://schemas.openxmlformats.org/drawingml/2006/main">
            <a:off x="53340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B76E3D"/>
                </a:solidFill>
                <a:latin typeface="Microsoft YaHei"/>
                <a:ea typeface="Microsoft YaHei"/>
                <a:cs typeface="Microsoft YaHei"/>
              </a:defRPr>
            </a:pPr>
            <a:r>
              <a:rPr sz="1050" b="1">
                <a:solidFill>
                  <a:srgbClr val="B76E3D"/>
                </a:solidFill>
                <a:latin typeface="Microsoft YaHei"/>
                <a:ea typeface="Microsoft YaHei"/>
                <a:cs typeface="Microsoft YaHei"/>
              </a:rPr>
              <a:t>催化与风险</a:t>
            </a:r>
          </a:p>
        </p:txBody>
      </p:sp>
      <p:sp>
        <p:nvSpPr>
          <p:cNvPr id="2" name="title-11">
            <a:extLst xmlns:a="http://schemas.openxmlformats.org/drawingml/2006/main">
              <a:ext uri="{FF2B5EF4-FFF2-40B4-BE49-F238E27FC236}">
                <a16:creationId xmlns:a16="http://schemas.microsoft.com/office/drawing/2014/main" id="{19A06767-1ABB-4B33-9B05-382FAD3D9697}"/>
              </a:ext>
            </a:extLst>
          </p:cNvPr>
          <p:cNvSpPr>
            <a:spLocks xmlns:a="http://schemas.openxmlformats.org/drawingml/2006/main" noGrp="1"/>
          </p:cNvSpPr>
          <p:nvPr/>
        </p:nvSpPr>
        <p:spPr>
          <a:xfrm xmlns:a="http://schemas.openxmlformats.org/drawingml/2006/main">
            <a:off x="533400" y="5524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102A43"/>
                </a:solidFill>
                <a:latin typeface="Microsoft YaHei"/>
                <a:ea typeface="Microsoft YaHei"/>
                <a:cs typeface="Microsoft YaHei"/>
              </a:defRPr>
            </a:pPr>
            <a:r>
              <a:rPr sz="2700" b="1">
                <a:solidFill>
                  <a:srgbClr val="102A43"/>
                </a:solidFill>
                <a:latin typeface="Microsoft YaHei"/>
                <a:ea typeface="Microsoft YaHei"/>
                <a:cs typeface="Microsoft YaHei"/>
              </a:rPr>
              <a:t>上行来自资源兑现，下行集中于油价与执行</a:t>
            </a:r>
          </a:p>
        </p:txBody>
      </p:sp>
      <p:sp>
        <p:nvSpPr>
          <p:cNvPr id="3" name="">
            <a:extLst xmlns:a="http://schemas.openxmlformats.org/drawingml/2006/main">
              <a:ext uri="{FF2B5EF4-FFF2-40B4-BE49-F238E27FC236}">
                <a16:creationId xmlns:a16="http://schemas.microsoft.com/office/drawing/2014/main" id="{1D14ABF4-FFA9-455B-B866-584528129D2E}"/>
              </a:ext>
            </a:extLst>
          </p:cNvPr>
          <p:cNvSpPr>
            <a:spLocks xmlns:a="http://schemas.openxmlformats.org/drawingml/2006/main" noGrp="1"/>
          </p:cNvSpPr>
          <p:nvPr/>
        </p:nvSpPr>
        <p:spPr>
          <a:xfrm xmlns:a="http://schemas.openxmlformats.org/drawingml/2006/main">
            <a:off x="533400" y="1333500"/>
            <a:ext cx="11125200" cy="9525"/>
          </a:xfrm>
          <a:prstGeom xmlns:a="http://schemas.openxmlformats.org/drawingml/2006/main" prst="line">
            <a:avLst/>
          </a:prstGeom>
          <a:noFill xmlns:a="http://schemas.openxmlformats.org/drawingml/2006/main"/>
          <a:ln xmlns:a="http://schemas.openxmlformats.org/drawingml/2006/main" w="9525">
            <a:solidFill>
              <a:srgbClr val="BCCCDC"/>
            </a:solidFill>
            <a:prstDash val="solid"/>
          </a:ln>
        </p:spPr>
      </p:sp>
      <p:sp>
        <p:nvSpPr>
          <p:cNvPr id="4" name="page-11">
            <a:extLst xmlns:a="http://schemas.openxmlformats.org/drawingml/2006/main">
              <a:ext uri="{FF2B5EF4-FFF2-40B4-BE49-F238E27FC236}">
                <a16:creationId xmlns:a16="http://schemas.microsoft.com/office/drawing/2014/main" id="{46D2A9CC-B00D-4371-A547-7532C4160FCA}"/>
              </a:ext>
            </a:extLst>
          </p:cNvPr>
          <p:cNvSpPr>
            <a:spLocks xmlns:a="http://schemas.openxmlformats.org/drawingml/2006/main" noGrp="1"/>
          </p:cNvSpPr>
          <p:nvPr/>
        </p:nvSpPr>
        <p:spPr>
          <a:xfrm xmlns:a="http://schemas.openxmlformats.org/drawingml/2006/main">
            <a:off x="11144250" y="6438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627D98"/>
                </a:solidFill>
                <a:latin typeface="Microsoft YaHei"/>
                <a:ea typeface="Microsoft YaHei"/>
                <a:cs typeface="Microsoft YaHei"/>
              </a:defRPr>
            </a:pPr>
            <a:r>
              <a:rPr sz="900" b="0">
                <a:solidFill>
                  <a:srgbClr val="627D98"/>
                </a:solidFill>
                <a:latin typeface="Microsoft YaHei"/>
                <a:ea typeface="Microsoft YaHei"/>
                <a:cs typeface="Microsoft YaHei"/>
              </a:rPr>
              <a:t>11</a:t>
            </a:r>
          </a:p>
        </p:txBody>
      </p:sp>
      <p:sp>
        <p:nvSpPr>
          <p:cNvPr id="5" name="catalyst-head">
            <a:extLst xmlns:a="http://schemas.openxmlformats.org/drawingml/2006/main">
              <a:ext uri="{FF2B5EF4-FFF2-40B4-BE49-F238E27FC236}">
                <a16:creationId xmlns:a16="http://schemas.microsoft.com/office/drawing/2014/main" id="{78C4BF1D-0403-454F-A05F-4F3200BE506E}"/>
              </a:ext>
            </a:extLst>
          </p:cNvPr>
          <p:cNvSpPr>
            <a:spLocks xmlns:a="http://schemas.openxmlformats.org/drawingml/2006/main" noGrp="1"/>
          </p:cNvSpPr>
          <p:nvPr/>
        </p:nvSpPr>
        <p:spPr>
          <a:xfrm xmlns:a="http://schemas.openxmlformats.org/drawingml/2006/main">
            <a:off x="533400" y="17526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3E7C59"/>
                </a:solidFill>
                <a:latin typeface="Microsoft YaHei"/>
                <a:ea typeface="Microsoft YaHei"/>
                <a:cs typeface="Microsoft YaHei"/>
              </a:defRPr>
            </a:pPr>
            <a:r>
              <a:rPr sz="1800" b="1">
                <a:solidFill>
                  <a:srgbClr val="3E7C59"/>
                </a:solidFill>
                <a:latin typeface="Microsoft YaHei"/>
                <a:ea typeface="Microsoft YaHei"/>
                <a:cs typeface="Microsoft YaHei"/>
              </a:rPr>
              <a:t>潜在催化</a:t>
            </a:r>
          </a:p>
        </p:txBody>
      </p:sp>
      <p:sp>
        <p:nvSpPr>
          <p:cNvPr id="6" name="risk-head">
            <a:extLst xmlns:a="http://schemas.openxmlformats.org/drawingml/2006/main">
              <a:ext uri="{FF2B5EF4-FFF2-40B4-BE49-F238E27FC236}">
                <a16:creationId xmlns:a16="http://schemas.microsoft.com/office/drawing/2014/main" id="{4A6F7639-A9D4-44FD-B7A0-BA056378A237}"/>
              </a:ext>
            </a:extLst>
          </p:cNvPr>
          <p:cNvSpPr>
            <a:spLocks xmlns:a="http://schemas.openxmlformats.org/drawingml/2006/main" noGrp="1"/>
          </p:cNvSpPr>
          <p:nvPr/>
        </p:nvSpPr>
        <p:spPr>
          <a:xfrm xmlns:a="http://schemas.openxmlformats.org/drawingml/2006/main">
            <a:off x="6477000" y="17526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A84632"/>
                </a:solidFill>
                <a:latin typeface="Microsoft YaHei"/>
                <a:ea typeface="Microsoft YaHei"/>
                <a:cs typeface="Microsoft YaHei"/>
              </a:defRPr>
            </a:pPr>
            <a:r>
              <a:rPr sz="1800" b="1">
                <a:solidFill>
                  <a:srgbClr val="A84632"/>
                </a:solidFill>
                <a:latin typeface="Microsoft YaHei"/>
                <a:ea typeface="Microsoft YaHei"/>
                <a:cs typeface="Microsoft YaHei"/>
              </a:rPr>
              <a:t>核心风险</a:t>
            </a:r>
          </a:p>
        </p:txBody>
      </p:sp>
      <p:sp>
        <p:nvSpPr>
          <p:cNvPr id="7" name="cat-no-0">
            <a:extLst xmlns:a="http://schemas.openxmlformats.org/drawingml/2006/main">
              <a:ext uri="{FF2B5EF4-FFF2-40B4-BE49-F238E27FC236}">
                <a16:creationId xmlns:a16="http://schemas.microsoft.com/office/drawing/2014/main" id="{9C89B8AE-02A3-473B-9A8A-31FD40BEF143}"/>
              </a:ext>
            </a:extLst>
          </p:cNvPr>
          <p:cNvSpPr>
            <a:spLocks xmlns:a="http://schemas.openxmlformats.org/drawingml/2006/main" noGrp="1"/>
          </p:cNvSpPr>
          <p:nvPr/>
        </p:nvSpPr>
        <p:spPr>
          <a:xfrm xmlns:a="http://schemas.openxmlformats.org/drawingml/2006/main">
            <a:off x="533400" y="2362200"/>
            <a:ext cx="419100" cy="419100"/>
          </a:xfrm>
          <a:prstGeom xmlns:a="http://schemas.openxmlformats.org/drawingml/2006/main" prst="roundRect">
            <a:avLst>
              <a:gd name="adj" fmla="val 50000"/>
            </a:avLst>
          </a:prstGeom>
          <a:solidFill xmlns:a="http://schemas.openxmlformats.org/drawingml/2006/main">
            <a:srgbClr val="3E7C59"/>
          </a:solidFill>
          <a:ln xmlns:a="http://schemas.openxmlformats.org/drawingml/2006/main" w="0">
            <a:noFill/>
            <a:prstDash val="solid"/>
          </a:ln>
        </p:spPr>
      </p:sp>
      <p:sp>
        <p:nvSpPr>
          <p:cNvPr id="8" name="cat-n-0">
            <a:extLst xmlns:a="http://schemas.openxmlformats.org/drawingml/2006/main">
              <a:ext uri="{FF2B5EF4-FFF2-40B4-BE49-F238E27FC236}">
                <a16:creationId xmlns:a16="http://schemas.microsoft.com/office/drawing/2014/main" id="{B384EEB2-D4BB-4B10-B2A8-4CAE1D0C80DB}"/>
              </a:ext>
            </a:extLst>
          </p:cNvPr>
          <p:cNvSpPr>
            <a:spLocks xmlns:a="http://schemas.openxmlformats.org/drawingml/2006/main" noGrp="1"/>
          </p:cNvSpPr>
          <p:nvPr/>
        </p:nvSpPr>
        <p:spPr>
          <a:xfrm xmlns:a="http://schemas.openxmlformats.org/drawingml/2006/main">
            <a:off x="533400" y="24193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1</a:t>
            </a:r>
          </a:p>
        </p:txBody>
      </p:sp>
      <p:sp>
        <p:nvSpPr>
          <p:cNvPr id="9" name="cat-t-0">
            <a:extLst xmlns:a="http://schemas.openxmlformats.org/drawingml/2006/main">
              <a:ext uri="{FF2B5EF4-FFF2-40B4-BE49-F238E27FC236}">
                <a16:creationId xmlns:a16="http://schemas.microsoft.com/office/drawing/2014/main" id="{8BE45BB0-5101-4390-882C-00EB3722E690}"/>
              </a:ext>
            </a:extLst>
          </p:cNvPr>
          <p:cNvSpPr>
            <a:spLocks xmlns:a="http://schemas.openxmlformats.org/drawingml/2006/main" noGrp="1"/>
          </p:cNvSpPr>
          <p:nvPr/>
        </p:nvSpPr>
        <p:spPr>
          <a:xfrm xmlns:a="http://schemas.openxmlformats.org/drawingml/2006/main">
            <a:off x="1143000" y="24003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2A43"/>
                </a:solidFill>
                <a:latin typeface="Microsoft YaHei"/>
                <a:ea typeface="Microsoft YaHei"/>
                <a:cs typeface="Microsoft YaHei"/>
              </a:defRPr>
            </a:pPr>
            <a:r>
              <a:rPr sz="1425" b="1">
                <a:solidFill>
                  <a:srgbClr val="102A43"/>
                </a:solidFill>
                <a:latin typeface="Microsoft YaHei"/>
                <a:ea typeface="Microsoft YaHei"/>
                <a:cs typeface="Microsoft YaHei"/>
              </a:rPr>
              <a:t>新增亿吨级发现转化为可采储量</a:t>
            </a:r>
          </a:p>
        </p:txBody>
      </p:sp>
      <p:sp>
        <p:nvSpPr>
          <p:cNvPr id="10" name="cat-no-1">
            <a:extLst xmlns:a="http://schemas.openxmlformats.org/drawingml/2006/main">
              <a:ext uri="{FF2B5EF4-FFF2-40B4-BE49-F238E27FC236}">
                <a16:creationId xmlns:a16="http://schemas.microsoft.com/office/drawing/2014/main" id="{7FF66BE6-545A-4E65-A74D-C4C7DC618170}"/>
              </a:ext>
            </a:extLst>
          </p:cNvPr>
          <p:cNvSpPr>
            <a:spLocks xmlns:a="http://schemas.openxmlformats.org/drawingml/2006/main" noGrp="1"/>
          </p:cNvSpPr>
          <p:nvPr/>
        </p:nvSpPr>
        <p:spPr>
          <a:xfrm xmlns:a="http://schemas.openxmlformats.org/drawingml/2006/main">
            <a:off x="533400" y="3143250"/>
            <a:ext cx="419100" cy="419100"/>
          </a:xfrm>
          <a:prstGeom xmlns:a="http://schemas.openxmlformats.org/drawingml/2006/main" prst="roundRect">
            <a:avLst>
              <a:gd name="adj" fmla="val 50000"/>
            </a:avLst>
          </a:prstGeom>
          <a:solidFill xmlns:a="http://schemas.openxmlformats.org/drawingml/2006/main">
            <a:srgbClr val="3E7C59"/>
          </a:solidFill>
          <a:ln xmlns:a="http://schemas.openxmlformats.org/drawingml/2006/main" w="0">
            <a:noFill/>
            <a:prstDash val="solid"/>
          </a:ln>
        </p:spPr>
      </p:sp>
      <p:sp>
        <p:nvSpPr>
          <p:cNvPr id="11" name="cat-n-1">
            <a:extLst xmlns:a="http://schemas.openxmlformats.org/drawingml/2006/main">
              <a:ext uri="{FF2B5EF4-FFF2-40B4-BE49-F238E27FC236}">
                <a16:creationId xmlns:a16="http://schemas.microsoft.com/office/drawing/2014/main" id="{D5440526-F23F-4A84-BE4D-586FECC2BBEE}"/>
              </a:ext>
            </a:extLst>
          </p:cNvPr>
          <p:cNvSpPr>
            <a:spLocks xmlns:a="http://schemas.openxmlformats.org/drawingml/2006/main" noGrp="1"/>
          </p:cNvSpPr>
          <p:nvPr/>
        </p:nvSpPr>
        <p:spPr>
          <a:xfrm xmlns:a="http://schemas.openxmlformats.org/drawingml/2006/main">
            <a:off x="533400" y="32004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2</a:t>
            </a:r>
          </a:p>
        </p:txBody>
      </p:sp>
      <p:sp>
        <p:nvSpPr>
          <p:cNvPr id="12" name="cat-t-1">
            <a:extLst xmlns:a="http://schemas.openxmlformats.org/drawingml/2006/main">
              <a:ext uri="{FF2B5EF4-FFF2-40B4-BE49-F238E27FC236}">
                <a16:creationId xmlns:a16="http://schemas.microsoft.com/office/drawing/2014/main" id="{E7A857F9-A523-458F-AE47-24FB79389D23}"/>
              </a:ext>
            </a:extLst>
          </p:cNvPr>
          <p:cNvSpPr>
            <a:spLocks xmlns:a="http://schemas.openxmlformats.org/drawingml/2006/main" noGrp="1"/>
          </p:cNvSpPr>
          <p:nvPr/>
        </p:nvSpPr>
        <p:spPr>
          <a:xfrm xmlns:a="http://schemas.openxmlformats.org/drawingml/2006/main">
            <a:off x="1143000" y="31813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2A43"/>
                </a:solidFill>
                <a:latin typeface="Microsoft YaHei"/>
                <a:ea typeface="Microsoft YaHei"/>
                <a:cs typeface="Microsoft YaHei"/>
              </a:defRPr>
            </a:pPr>
            <a:r>
              <a:rPr sz="1425" b="1">
                <a:solidFill>
                  <a:srgbClr val="102A43"/>
                </a:solidFill>
                <a:latin typeface="Microsoft YaHei"/>
                <a:ea typeface="Microsoft YaHei"/>
                <a:cs typeface="Microsoft YaHei"/>
              </a:rPr>
              <a:t>深水/超深水新项目按期投产</a:t>
            </a:r>
          </a:p>
        </p:txBody>
      </p:sp>
      <p:sp>
        <p:nvSpPr>
          <p:cNvPr id="13" name="cat-no-2">
            <a:extLst xmlns:a="http://schemas.openxmlformats.org/drawingml/2006/main">
              <a:ext uri="{FF2B5EF4-FFF2-40B4-BE49-F238E27FC236}">
                <a16:creationId xmlns:a16="http://schemas.microsoft.com/office/drawing/2014/main" id="{2D24D835-E999-42B0-9018-8D8F03A10D03}"/>
              </a:ext>
            </a:extLst>
          </p:cNvPr>
          <p:cNvSpPr>
            <a:spLocks xmlns:a="http://schemas.openxmlformats.org/drawingml/2006/main" noGrp="1"/>
          </p:cNvSpPr>
          <p:nvPr/>
        </p:nvSpPr>
        <p:spPr>
          <a:xfrm xmlns:a="http://schemas.openxmlformats.org/drawingml/2006/main">
            <a:off x="533400" y="3924300"/>
            <a:ext cx="419100" cy="419100"/>
          </a:xfrm>
          <a:prstGeom xmlns:a="http://schemas.openxmlformats.org/drawingml/2006/main" prst="roundRect">
            <a:avLst>
              <a:gd name="adj" fmla="val 50000"/>
            </a:avLst>
          </a:prstGeom>
          <a:solidFill xmlns:a="http://schemas.openxmlformats.org/drawingml/2006/main">
            <a:srgbClr val="3E7C59"/>
          </a:solidFill>
          <a:ln xmlns:a="http://schemas.openxmlformats.org/drawingml/2006/main" w="0">
            <a:noFill/>
            <a:prstDash val="solid"/>
          </a:ln>
        </p:spPr>
      </p:sp>
      <p:sp>
        <p:nvSpPr>
          <p:cNvPr id="14" name="cat-n-2">
            <a:extLst xmlns:a="http://schemas.openxmlformats.org/drawingml/2006/main">
              <a:ext uri="{FF2B5EF4-FFF2-40B4-BE49-F238E27FC236}">
                <a16:creationId xmlns:a16="http://schemas.microsoft.com/office/drawing/2014/main" id="{32EFCDB9-7BD8-4BA9-82B0-61B5C3961A99}"/>
              </a:ext>
            </a:extLst>
          </p:cNvPr>
          <p:cNvSpPr>
            <a:spLocks xmlns:a="http://schemas.openxmlformats.org/drawingml/2006/main" noGrp="1"/>
          </p:cNvSpPr>
          <p:nvPr/>
        </p:nvSpPr>
        <p:spPr>
          <a:xfrm xmlns:a="http://schemas.openxmlformats.org/drawingml/2006/main">
            <a:off x="533400" y="39814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3</a:t>
            </a:r>
          </a:p>
        </p:txBody>
      </p:sp>
      <p:sp>
        <p:nvSpPr>
          <p:cNvPr id="15" name="cat-t-2">
            <a:extLst xmlns:a="http://schemas.openxmlformats.org/drawingml/2006/main">
              <a:ext uri="{FF2B5EF4-FFF2-40B4-BE49-F238E27FC236}">
                <a16:creationId xmlns:a16="http://schemas.microsoft.com/office/drawing/2014/main" id="{6B40E914-339A-4155-8E0F-8017D9438B90}"/>
              </a:ext>
            </a:extLst>
          </p:cNvPr>
          <p:cNvSpPr>
            <a:spLocks xmlns:a="http://schemas.openxmlformats.org/drawingml/2006/main" noGrp="1"/>
          </p:cNvSpPr>
          <p:nvPr/>
        </p:nvSpPr>
        <p:spPr>
          <a:xfrm xmlns:a="http://schemas.openxmlformats.org/drawingml/2006/main">
            <a:off x="1143000" y="39624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2A43"/>
                </a:solidFill>
                <a:latin typeface="Microsoft YaHei"/>
                <a:ea typeface="Microsoft YaHei"/>
                <a:cs typeface="Microsoft YaHei"/>
              </a:defRPr>
            </a:pPr>
            <a:r>
              <a:rPr sz="1425" b="1">
                <a:solidFill>
                  <a:srgbClr val="102A43"/>
                </a:solidFill>
                <a:latin typeface="Microsoft YaHei"/>
                <a:ea typeface="Microsoft YaHei"/>
                <a:cs typeface="Microsoft YaHei"/>
              </a:rPr>
              <a:t>钻完井效率继续提升、桶油成本下降</a:t>
            </a:r>
          </a:p>
        </p:txBody>
      </p:sp>
      <p:sp>
        <p:nvSpPr>
          <p:cNvPr id="16" name="cat-no-3">
            <a:extLst xmlns:a="http://schemas.openxmlformats.org/drawingml/2006/main">
              <a:ext uri="{FF2B5EF4-FFF2-40B4-BE49-F238E27FC236}">
                <a16:creationId xmlns:a16="http://schemas.microsoft.com/office/drawing/2014/main" id="{33FBB936-9BAF-427E-AF4B-05DD12A7CA80}"/>
              </a:ext>
            </a:extLst>
          </p:cNvPr>
          <p:cNvSpPr>
            <a:spLocks xmlns:a="http://schemas.openxmlformats.org/drawingml/2006/main" noGrp="1"/>
          </p:cNvSpPr>
          <p:nvPr/>
        </p:nvSpPr>
        <p:spPr>
          <a:xfrm xmlns:a="http://schemas.openxmlformats.org/drawingml/2006/main">
            <a:off x="533400" y="4705350"/>
            <a:ext cx="419100" cy="419100"/>
          </a:xfrm>
          <a:prstGeom xmlns:a="http://schemas.openxmlformats.org/drawingml/2006/main" prst="roundRect">
            <a:avLst>
              <a:gd name="adj" fmla="val 50000"/>
            </a:avLst>
          </a:prstGeom>
          <a:solidFill xmlns:a="http://schemas.openxmlformats.org/drawingml/2006/main">
            <a:srgbClr val="3E7C59"/>
          </a:solidFill>
          <a:ln xmlns:a="http://schemas.openxmlformats.org/drawingml/2006/main" w="0">
            <a:noFill/>
            <a:prstDash val="solid"/>
          </a:ln>
        </p:spPr>
      </p:sp>
      <p:sp>
        <p:nvSpPr>
          <p:cNvPr id="17" name="cat-n-3">
            <a:extLst xmlns:a="http://schemas.openxmlformats.org/drawingml/2006/main">
              <a:ext uri="{FF2B5EF4-FFF2-40B4-BE49-F238E27FC236}">
                <a16:creationId xmlns:a16="http://schemas.microsoft.com/office/drawing/2014/main" id="{0F3C9965-7869-440C-BEF3-D20416AA376C}"/>
              </a:ext>
            </a:extLst>
          </p:cNvPr>
          <p:cNvSpPr>
            <a:spLocks xmlns:a="http://schemas.openxmlformats.org/drawingml/2006/main" noGrp="1"/>
          </p:cNvSpPr>
          <p:nvPr/>
        </p:nvSpPr>
        <p:spPr>
          <a:xfrm xmlns:a="http://schemas.openxmlformats.org/drawingml/2006/main">
            <a:off x="533400" y="4762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4</a:t>
            </a:r>
          </a:p>
        </p:txBody>
      </p:sp>
      <p:sp>
        <p:nvSpPr>
          <p:cNvPr id="18" name="cat-t-3">
            <a:extLst xmlns:a="http://schemas.openxmlformats.org/drawingml/2006/main">
              <a:ext uri="{FF2B5EF4-FFF2-40B4-BE49-F238E27FC236}">
                <a16:creationId xmlns:a16="http://schemas.microsoft.com/office/drawing/2014/main" id="{B644A5DA-03DF-48B6-A856-37A9CFFDBA9E}"/>
              </a:ext>
            </a:extLst>
          </p:cNvPr>
          <p:cNvSpPr>
            <a:spLocks xmlns:a="http://schemas.openxmlformats.org/drawingml/2006/main" noGrp="1"/>
          </p:cNvSpPr>
          <p:nvPr/>
        </p:nvSpPr>
        <p:spPr>
          <a:xfrm xmlns:a="http://schemas.openxmlformats.org/drawingml/2006/main">
            <a:off x="1143000" y="47434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2A43"/>
                </a:solidFill>
                <a:latin typeface="Microsoft YaHei"/>
                <a:ea typeface="Microsoft YaHei"/>
                <a:cs typeface="Microsoft YaHei"/>
              </a:defRPr>
            </a:pPr>
            <a:r>
              <a:rPr sz="1425" b="1">
                <a:solidFill>
                  <a:srgbClr val="102A43"/>
                </a:solidFill>
                <a:latin typeface="Microsoft YaHei"/>
                <a:ea typeface="Microsoft YaHei"/>
                <a:cs typeface="Microsoft YaHei"/>
              </a:rPr>
              <a:t>油价中枢与分红能力维持稳定</a:t>
            </a:r>
          </a:p>
        </p:txBody>
      </p:sp>
      <p:sp>
        <p:nvSpPr>
          <p:cNvPr id="19" name="risk-no-0">
            <a:extLst xmlns:a="http://schemas.openxmlformats.org/drawingml/2006/main">
              <a:ext uri="{FF2B5EF4-FFF2-40B4-BE49-F238E27FC236}">
                <a16:creationId xmlns:a16="http://schemas.microsoft.com/office/drawing/2014/main" id="{D99644CB-D79C-4758-8D4B-6635F59C5300}"/>
              </a:ext>
            </a:extLst>
          </p:cNvPr>
          <p:cNvSpPr>
            <a:spLocks xmlns:a="http://schemas.openxmlformats.org/drawingml/2006/main" noGrp="1"/>
          </p:cNvSpPr>
          <p:nvPr/>
        </p:nvSpPr>
        <p:spPr>
          <a:xfrm xmlns:a="http://schemas.openxmlformats.org/drawingml/2006/main">
            <a:off x="6477000" y="2362200"/>
            <a:ext cx="419100" cy="419100"/>
          </a:xfrm>
          <a:prstGeom xmlns:a="http://schemas.openxmlformats.org/drawingml/2006/main" prst="roundRect">
            <a:avLst>
              <a:gd name="adj" fmla="val 50000"/>
            </a:avLst>
          </a:prstGeom>
          <a:solidFill xmlns:a="http://schemas.openxmlformats.org/drawingml/2006/main">
            <a:srgbClr val="A84632"/>
          </a:solidFill>
          <a:ln xmlns:a="http://schemas.openxmlformats.org/drawingml/2006/main" w="0">
            <a:noFill/>
            <a:prstDash val="solid"/>
          </a:ln>
        </p:spPr>
      </p:sp>
      <p:sp>
        <p:nvSpPr>
          <p:cNvPr id="20" name="risk-n-0">
            <a:extLst xmlns:a="http://schemas.openxmlformats.org/drawingml/2006/main">
              <a:ext uri="{FF2B5EF4-FFF2-40B4-BE49-F238E27FC236}">
                <a16:creationId xmlns:a16="http://schemas.microsoft.com/office/drawing/2014/main" id="{5D403A76-1252-4127-B692-35004FC0354B}"/>
              </a:ext>
            </a:extLst>
          </p:cNvPr>
          <p:cNvSpPr>
            <a:spLocks xmlns:a="http://schemas.openxmlformats.org/drawingml/2006/main" noGrp="1"/>
          </p:cNvSpPr>
          <p:nvPr/>
        </p:nvSpPr>
        <p:spPr>
          <a:xfrm xmlns:a="http://schemas.openxmlformats.org/drawingml/2006/main">
            <a:off x="6477000" y="24193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1</a:t>
            </a:r>
          </a:p>
        </p:txBody>
      </p:sp>
      <p:sp>
        <p:nvSpPr>
          <p:cNvPr id="21" name="risk-t-0">
            <a:extLst xmlns:a="http://schemas.openxmlformats.org/drawingml/2006/main">
              <a:ext uri="{FF2B5EF4-FFF2-40B4-BE49-F238E27FC236}">
                <a16:creationId xmlns:a16="http://schemas.microsoft.com/office/drawing/2014/main" id="{BBAF880A-73B5-4544-B415-CC122FEEA129}"/>
              </a:ext>
            </a:extLst>
          </p:cNvPr>
          <p:cNvSpPr>
            <a:spLocks xmlns:a="http://schemas.openxmlformats.org/drawingml/2006/main" noGrp="1"/>
          </p:cNvSpPr>
          <p:nvPr/>
        </p:nvSpPr>
        <p:spPr>
          <a:xfrm xmlns:a="http://schemas.openxmlformats.org/drawingml/2006/main">
            <a:off x="7086600" y="24003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2A43"/>
                </a:solidFill>
                <a:latin typeface="Microsoft YaHei"/>
                <a:ea typeface="Microsoft YaHei"/>
                <a:cs typeface="Microsoft YaHei"/>
              </a:defRPr>
            </a:pPr>
            <a:r>
              <a:rPr sz="1425" b="1">
                <a:solidFill>
                  <a:srgbClr val="102A43"/>
                </a:solidFill>
                <a:latin typeface="Microsoft YaHei"/>
                <a:ea typeface="Microsoft YaHei"/>
                <a:cs typeface="Microsoft YaHei"/>
              </a:rPr>
              <a:t>原油价格大幅波动</a:t>
            </a:r>
          </a:p>
        </p:txBody>
      </p:sp>
      <p:sp>
        <p:nvSpPr>
          <p:cNvPr id="22" name="risk-no-1">
            <a:extLst xmlns:a="http://schemas.openxmlformats.org/drawingml/2006/main">
              <a:ext uri="{FF2B5EF4-FFF2-40B4-BE49-F238E27FC236}">
                <a16:creationId xmlns:a16="http://schemas.microsoft.com/office/drawing/2014/main" id="{3F3EC71C-963F-4F96-8924-A4C2BDE2915C}"/>
              </a:ext>
            </a:extLst>
          </p:cNvPr>
          <p:cNvSpPr>
            <a:spLocks xmlns:a="http://schemas.openxmlformats.org/drawingml/2006/main" noGrp="1"/>
          </p:cNvSpPr>
          <p:nvPr/>
        </p:nvSpPr>
        <p:spPr>
          <a:xfrm xmlns:a="http://schemas.openxmlformats.org/drawingml/2006/main">
            <a:off x="6477000" y="3143250"/>
            <a:ext cx="419100" cy="419100"/>
          </a:xfrm>
          <a:prstGeom xmlns:a="http://schemas.openxmlformats.org/drawingml/2006/main" prst="roundRect">
            <a:avLst>
              <a:gd name="adj" fmla="val 50000"/>
            </a:avLst>
          </a:prstGeom>
          <a:solidFill xmlns:a="http://schemas.openxmlformats.org/drawingml/2006/main">
            <a:srgbClr val="A84632"/>
          </a:solidFill>
          <a:ln xmlns:a="http://schemas.openxmlformats.org/drawingml/2006/main" w="0">
            <a:noFill/>
            <a:prstDash val="solid"/>
          </a:ln>
        </p:spPr>
      </p:sp>
      <p:sp>
        <p:nvSpPr>
          <p:cNvPr id="23" name="risk-n-1">
            <a:extLst xmlns:a="http://schemas.openxmlformats.org/drawingml/2006/main">
              <a:ext uri="{FF2B5EF4-FFF2-40B4-BE49-F238E27FC236}">
                <a16:creationId xmlns:a16="http://schemas.microsoft.com/office/drawing/2014/main" id="{8F59A2E0-128B-44C1-9C09-93EF704B2D0A}"/>
              </a:ext>
            </a:extLst>
          </p:cNvPr>
          <p:cNvSpPr>
            <a:spLocks xmlns:a="http://schemas.openxmlformats.org/drawingml/2006/main" noGrp="1"/>
          </p:cNvSpPr>
          <p:nvPr/>
        </p:nvSpPr>
        <p:spPr>
          <a:xfrm xmlns:a="http://schemas.openxmlformats.org/drawingml/2006/main">
            <a:off x="6477000" y="32004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2</a:t>
            </a:r>
          </a:p>
        </p:txBody>
      </p:sp>
      <p:sp>
        <p:nvSpPr>
          <p:cNvPr id="24" name="risk-t-1">
            <a:extLst xmlns:a="http://schemas.openxmlformats.org/drawingml/2006/main">
              <a:ext uri="{FF2B5EF4-FFF2-40B4-BE49-F238E27FC236}">
                <a16:creationId xmlns:a16="http://schemas.microsoft.com/office/drawing/2014/main" id="{C59B230E-87BA-4000-AB99-2B2943FF903E}"/>
              </a:ext>
            </a:extLst>
          </p:cNvPr>
          <p:cNvSpPr>
            <a:spLocks xmlns:a="http://schemas.openxmlformats.org/drawingml/2006/main" noGrp="1"/>
          </p:cNvSpPr>
          <p:nvPr/>
        </p:nvSpPr>
        <p:spPr>
          <a:xfrm xmlns:a="http://schemas.openxmlformats.org/drawingml/2006/main">
            <a:off x="7086600" y="31813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2A43"/>
                </a:solidFill>
                <a:latin typeface="Microsoft YaHei"/>
                <a:ea typeface="Microsoft YaHei"/>
                <a:cs typeface="Microsoft YaHei"/>
              </a:defRPr>
            </a:pPr>
            <a:r>
              <a:rPr sz="1425" b="1">
                <a:solidFill>
                  <a:srgbClr val="102A43"/>
                </a:solidFill>
                <a:latin typeface="Microsoft YaHei"/>
                <a:ea typeface="Microsoft YaHei"/>
                <a:cs typeface="Microsoft YaHei"/>
              </a:rPr>
              <a:t>新项目投产与产量爬坡不及预期</a:t>
            </a:r>
          </a:p>
        </p:txBody>
      </p:sp>
      <p:sp>
        <p:nvSpPr>
          <p:cNvPr id="25" name="risk-no-2">
            <a:extLst xmlns:a="http://schemas.openxmlformats.org/drawingml/2006/main">
              <a:ext uri="{FF2B5EF4-FFF2-40B4-BE49-F238E27FC236}">
                <a16:creationId xmlns:a16="http://schemas.microsoft.com/office/drawing/2014/main" id="{DCC03D2C-5CFF-42EC-8CD6-B240AE637A04}"/>
              </a:ext>
            </a:extLst>
          </p:cNvPr>
          <p:cNvSpPr>
            <a:spLocks xmlns:a="http://schemas.openxmlformats.org/drawingml/2006/main" noGrp="1"/>
          </p:cNvSpPr>
          <p:nvPr/>
        </p:nvSpPr>
        <p:spPr>
          <a:xfrm xmlns:a="http://schemas.openxmlformats.org/drawingml/2006/main">
            <a:off x="6477000" y="3924300"/>
            <a:ext cx="419100" cy="419100"/>
          </a:xfrm>
          <a:prstGeom xmlns:a="http://schemas.openxmlformats.org/drawingml/2006/main" prst="roundRect">
            <a:avLst>
              <a:gd name="adj" fmla="val 50000"/>
            </a:avLst>
          </a:prstGeom>
          <a:solidFill xmlns:a="http://schemas.openxmlformats.org/drawingml/2006/main">
            <a:srgbClr val="A84632"/>
          </a:solidFill>
          <a:ln xmlns:a="http://schemas.openxmlformats.org/drawingml/2006/main" w="0">
            <a:noFill/>
            <a:prstDash val="solid"/>
          </a:ln>
        </p:spPr>
      </p:sp>
      <p:sp>
        <p:nvSpPr>
          <p:cNvPr id="26" name="risk-n-2">
            <a:extLst xmlns:a="http://schemas.openxmlformats.org/drawingml/2006/main">
              <a:ext uri="{FF2B5EF4-FFF2-40B4-BE49-F238E27FC236}">
                <a16:creationId xmlns:a16="http://schemas.microsoft.com/office/drawing/2014/main" id="{D91D66BB-8058-419A-8891-95E92F829A39}"/>
              </a:ext>
            </a:extLst>
          </p:cNvPr>
          <p:cNvSpPr>
            <a:spLocks xmlns:a="http://schemas.openxmlformats.org/drawingml/2006/main" noGrp="1"/>
          </p:cNvSpPr>
          <p:nvPr/>
        </p:nvSpPr>
        <p:spPr>
          <a:xfrm xmlns:a="http://schemas.openxmlformats.org/drawingml/2006/main">
            <a:off x="6477000" y="39814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3</a:t>
            </a:r>
          </a:p>
        </p:txBody>
      </p:sp>
      <p:sp>
        <p:nvSpPr>
          <p:cNvPr id="27" name="risk-t-2">
            <a:extLst xmlns:a="http://schemas.openxmlformats.org/drawingml/2006/main">
              <a:ext uri="{FF2B5EF4-FFF2-40B4-BE49-F238E27FC236}">
                <a16:creationId xmlns:a16="http://schemas.microsoft.com/office/drawing/2014/main" id="{E230206B-9DEB-41D9-ABD1-42A2C91BBA66}"/>
              </a:ext>
            </a:extLst>
          </p:cNvPr>
          <p:cNvSpPr>
            <a:spLocks xmlns:a="http://schemas.openxmlformats.org/drawingml/2006/main" noGrp="1"/>
          </p:cNvSpPr>
          <p:nvPr/>
        </p:nvSpPr>
        <p:spPr>
          <a:xfrm xmlns:a="http://schemas.openxmlformats.org/drawingml/2006/main">
            <a:off x="7086600" y="39624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2A43"/>
                </a:solidFill>
                <a:latin typeface="Microsoft YaHei"/>
                <a:ea typeface="Microsoft YaHei"/>
                <a:cs typeface="Microsoft YaHei"/>
              </a:defRPr>
            </a:pPr>
            <a:r>
              <a:rPr sz="1425" b="1">
                <a:solidFill>
                  <a:srgbClr val="102A43"/>
                </a:solidFill>
                <a:latin typeface="Microsoft YaHei"/>
                <a:ea typeface="Microsoft YaHei"/>
                <a:cs typeface="Microsoft YaHei"/>
              </a:rPr>
              <a:t>台风、设备与海上作业安全事件</a:t>
            </a:r>
          </a:p>
        </p:txBody>
      </p:sp>
      <p:sp>
        <p:nvSpPr>
          <p:cNvPr id="28" name="risk-no-3">
            <a:extLst xmlns:a="http://schemas.openxmlformats.org/drawingml/2006/main">
              <a:ext uri="{FF2B5EF4-FFF2-40B4-BE49-F238E27FC236}">
                <a16:creationId xmlns:a16="http://schemas.microsoft.com/office/drawing/2014/main" id="{1086BFC3-65BB-4D45-9AB7-ED00109B2D3E}"/>
              </a:ext>
            </a:extLst>
          </p:cNvPr>
          <p:cNvSpPr>
            <a:spLocks xmlns:a="http://schemas.openxmlformats.org/drawingml/2006/main" noGrp="1"/>
          </p:cNvSpPr>
          <p:nvPr/>
        </p:nvSpPr>
        <p:spPr>
          <a:xfrm xmlns:a="http://schemas.openxmlformats.org/drawingml/2006/main">
            <a:off x="6477000" y="4705350"/>
            <a:ext cx="419100" cy="419100"/>
          </a:xfrm>
          <a:prstGeom xmlns:a="http://schemas.openxmlformats.org/drawingml/2006/main" prst="roundRect">
            <a:avLst>
              <a:gd name="adj" fmla="val 50000"/>
            </a:avLst>
          </a:prstGeom>
          <a:solidFill xmlns:a="http://schemas.openxmlformats.org/drawingml/2006/main">
            <a:srgbClr val="A84632"/>
          </a:solidFill>
          <a:ln xmlns:a="http://schemas.openxmlformats.org/drawingml/2006/main" w="0">
            <a:noFill/>
            <a:prstDash val="solid"/>
          </a:ln>
        </p:spPr>
      </p:sp>
      <p:sp>
        <p:nvSpPr>
          <p:cNvPr id="29" name="risk-n-3">
            <a:extLst xmlns:a="http://schemas.openxmlformats.org/drawingml/2006/main">
              <a:ext uri="{FF2B5EF4-FFF2-40B4-BE49-F238E27FC236}">
                <a16:creationId xmlns:a16="http://schemas.microsoft.com/office/drawing/2014/main" id="{6E83C808-2722-4CF6-A624-E82486CB0AFF}"/>
              </a:ext>
            </a:extLst>
          </p:cNvPr>
          <p:cNvSpPr>
            <a:spLocks xmlns:a="http://schemas.openxmlformats.org/drawingml/2006/main" noGrp="1"/>
          </p:cNvSpPr>
          <p:nvPr/>
        </p:nvSpPr>
        <p:spPr>
          <a:xfrm xmlns:a="http://schemas.openxmlformats.org/drawingml/2006/main">
            <a:off x="6477000" y="4762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FFFFFF"/>
                </a:solidFill>
                <a:latin typeface="Microsoft YaHei"/>
                <a:ea typeface="Microsoft YaHei"/>
                <a:cs typeface="Microsoft YaHei"/>
              </a:defRPr>
            </a:pPr>
            <a:r>
              <a:rPr sz="1275" b="1">
                <a:solidFill>
                  <a:srgbClr val="FFFFFF"/>
                </a:solidFill>
                <a:latin typeface="Microsoft YaHei"/>
                <a:ea typeface="Microsoft YaHei"/>
                <a:cs typeface="Microsoft YaHei"/>
              </a:rPr>
              <a:t>4</a:t>
            </a:r>
          </a:p>
        </p:txBody>
      </p:sp>
      <p:sp>
        <p:nvSpPr>
          <p:cNvPr id="30" name="risk-t-3">
            <a:extLst xmlns:a="http://schemas.openxmlformats.org/drawingml/2006/main">
              <a:ext uri="{FF2B5EF4-FFF2-40B4-BE49-F238E27FC236}">
                <a16:creationId xmlns:a16="http://schemas.microsoft.com/office/drawing/2014/main" id="{45ADFACA-72C4-4B8B-AC43-C556EAB67FCB}"/>
              </a:ext>
            </a:extLst>
          </p:cNvPr>
          <p:cNvSpPr>
            <a:spLocks xmlns:a="http://schemas.openxmlformats.org/drawingml/2006/main" noGrp="1"/>
          </p:cNvSpPr>
          <p:nvPr/>
        </p:nvSpPr>
        <p:spPr>
          <a:xfrm xmlns:a="http://schemas.openxmlformats.org/drawingml/2006/main">
            <a:off x="7086600" y="47434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2A43"/>
                </a:solidFill>
                <a:latin typeface="Microsoft YaHei"/>
                <a:ea typeface="Microsoft YaHei"/>
                <a:cs typeface="Microsoft YaHei"/>
              </a:defRPr>
            </a:pPr>
            <a:r>
              <a:rPr sz="1425" b="1">
                <a:solidFill>
                  <a:srgbClr val="102A43"/>
                </a:solidFill>
                <a:latin typeface="Microsoft YaHei"/>
                <a:ea typeface="Microsoft YaHei"/>
                <a:cs typeface="Microsoft YaHei"/>
              </a:rPr>
              <a:t>海外项目地缘政治与政策变化</a:t>
            </a:r>
          </a:p>
        </p:txBody>
      </p:sp>
      <p:sp>
        <p:nvSpPr>
          <p:cNvPr id="31" name="source-1、6、17">
            <a:extLst xmlns:a="http://schemas.openxmlformats.org/drawingml/2006/main">
              <a:ext uri="{FF2B5EF4-FFF2-40B4-BE49-F238E27FC236}">
                <a16:creationId xmlns:a16="http://schemas.microsoft.com/office/drawing/2014/main" id="{56B9E89D-98A6-4012-BBD2-41C68B70104F}"/>
              </a:ext>
            </a:extLst>
          </p:cNvPr>
          <p:cNvSpPr>
            <a:spLocks xmlns:a="http://schemas.openxmlformats.org/drawingml/2006/main" noGrp="1"/>
          </p:cNvSpPr>
          <p:nvPr/>
        </p:nvSpPr>
        <p:spPr>
          <a:xfrm xmlns:a="http://schemas.openxmlformats.org/drawingml/2006/main">
            <a:off x="533400" y="6419850"/>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0">
                <a:solidFill>
                  <a:srgbClr val="627D98"/>
                </a:solidFill>
                <a:latin typeface="Microsoft YaHei"/>
                <a:ea typeface="Microsoft YaHei"/>
                <a:cs typeface="Microsoft YaHei"/>
              </a:defRPr>
            </a:pPr>
            <a:r>
              <a:rPr sz="825" b="0">
                <a:solidFill>
                  <a:srgbClr val="627D98"/>
                </a:solidFill>
                <a:latin typeface="Microsoft YaHei"/>
                <a:ea typeface="Microsoft YaHei"/>
                <a:cs typeface="Microsoft YaHei"/>
              </a:rPr>
              <a:t>资料来源：国信证券《深水、超深水油气资源前景广阔》，2024-04-03，第1、6、17页</a:t>
            </a:r>
          </a:p>
        </p:txBody>
      </p:sp>
    </p:spTree>
    <p:extLst>
      <p:ext uri="{BB962C8B-B14F-4D97-AF65-F5344CB8AC3E}">
        <p14:creationId xmlns:p14="http://schemas.microsoft.com/office/powerpoint/2010/main" val="981529409"/>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8" name="close-eyebrow">
            <a:extLst xmlns:a="http://schemas.openxmlformats.org/drawingml/2006/main">
              <a:ext uri="{FF2B5EF4-FFF2-40B4-BE49-F238E27FC236}">
                <a16:creationId xmlns:a16="http://schemas.microsoft.com/office/drawing/2014/main" id="{A7148F1E-2E80-4FBB-BB82-0E5C1CA6B0F9}"/>
              </a:ext>
            </a:extLst>
          </p:cNvPr>
          <p:cNvSpPr>
            <a:spLocks xmlns:a="http://schemas.openxmlformats.org/drawingml/2006/main" noGrp="1"/>
          </p:cNvSpPr>
          <p:nvPr/>
        </p:nvSpPr>
        <p:spPr>
          <a:xfrm xmlns:a="http://schemas.openxmlformats.org/drawingml/2006/main">
            <a:off x="533400" y="4000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B76E3D"/>
                </a:solidFill>
                <a:latin typeface="Microsoft YaHei"/>
                <a:ea typeface="Microsoft YaHei"/>
                <a:cs typeface="Microsoft YaHei"/>
              </a:defRPr>
            </a:pPr>
            <a:r>
              <a:rPr sz="1125" b="1">
                <a:solidFill>
                  <a:srgbClr val="B76E3D"/>
                </a:solidFill>
                <a:latin typeface="Microsoft YaHei"/>
                <a:ea typeface="Microsoft YaHei"/>
                <a:cs typeface="Microsoft YaHei"/>
              </a:rPr>
              <a:t>RESEARCH CONCLUSION</a:t>
            </a:r>
          </a:p>
        </p:txBody>
      </p:sp>
      <p:sp>
        <p:nvSpPr>
          <p:cNvPr id="2" name="close-title">
            <a:extLst xmlns:a="http://schemas.openxmlformats.org/drawingml/2006/main">
              <a:ext uri="{FF2B5EF4-FFF2-40B4-BE49-F238E27FC236}">
                <a16:creationId xmlns:a16="http://schemas.microsoft.com/office/drawing/2014/main" id="{097EF2FE-3CA4-448F-9B2B-50399E784920}"/>
              </a:ext>
            </a:extLst>
          </p:cNvPr>
          <p:cNvSpPr>
            <a:spLocks xmlns:a="http://schemas.openxmlformats.org/drawingml/2006/main" noGrp="1"/>
          </p:cNvSpPr>
          <p:nvPr/>
        </p:nvSpPr>
        <p:spPr>
          <a:xfrm xmlns:a="http://schemas.openxmlformats.org/drawingml/2006/main">
            <a:off x="5334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FFFFFF"/>
                </a:solidFill>
                <a:latin typeface="Microsoft YaHei"/>
                <a:ea typeface="Microsoft YaHei"/>
                <a:cs typeface="Microsoft YaHei"/>
              </a:defRPr>
            </a:pPr>
            <a:r>
              <a:rPr sz="3000" b="1">
                <a:solidFill>
                  <a:srgbClr val="FFFFFF"/>
                </a:solidFill>
                <a:latin typeface="Microsoft YaHei"/>
                <a:ea typeface="Microsoft YaHei"/>
                <a:cs typeface="Microsoft YaHei"/>
              </a:rPr>
              <a:t>用四个变量持续验证深水成长逻辑</a:t>
            </a:r>
          </a:p>
        </p:txBody>
      </p:sp>
      <p:sp>
        <p:nvSpPr>
          <p:cNvPr id="3" name="close-0">
            <a:extLst xmlns:a="http://schemas.openxmlformats.org/drawingml/2006/main">
              <a:ext uri="{FF2B5EF4-FFF2-40B4-BE49-F238E27FC236}">
                <a16:creationId xmlns:a16="http://schemas.microsoft.com/office/drawing/2014/main" id="{2EB3FCB3-7301-4314-B0DB-F9CAA6667DB2}"/>
              </a:ext>
            </a:extLst>
          </p:cNvPr>
          <p:cNvSpPr>
            <a:spLocks xmlns:a="http://schemas.openxmlformats.org/drawingml/2006/main" noGrp="1"/>
          </p:cNvSpPr>
          <p:nvPr/>
        </p:nvSpPr>
        <p:spPr>
          <a:xfrm xmlns:a="http://schemas.openxmlformats.org/drawingml/2006/main">
            <a:off x="533400" y="2095500"/>
            <a:ext cx="2476500" cy="2095500"/>
          </a:xfrm>
          <a:prstGeom xmlns:a="http://schemas.openxmlformats.org/drawingml/2006/main" prst="roundRect">
            <a:avLst>
              <a:gd name="adj" fmla="val 3636"/>
            </a:avLst>
          </a:prstGeom>
          <a:solidFill xmlns:a="http://schemas.openxmlformats.org/drawingml/2006/main">
            <a:srgbClr val="B76E3D"/>
          </a:solidFill>
          <a:ln xmlns:a="http://schemas.openxmlformats.org/drawingml/2006/main" w="0">
            <a:noFill/>
            <a:prstDash val="solid"/>
          </a:ln>
        </p:spPr>
      </p:sp>
      <p:sp>
        <p:nvSpPr>
          <p:cNvPr id="4" name="close-head-0">
            <a:extLst xmlns:a="http://schemas.openxmlformats.org/drawingml/2006/main">
              <a:ext uri="{FF2B5EF4-FFF2-40B4-BE49-F238E27FC236}">
                <a16:creationId xmlns:a16="http://schemas.microsoft.com/office/drawing/2014/main" id="{F0F18CA8-AA28-4EB3-87C4-70E6FFB58620}"/>
              </a:ext>
            </a:extLst>
          </p:cNvPr>
          <p:cNvSpPr>
            <a:spLocks xmlns:a="http://schemas.openxmlformats.org/drawingml/2006/main" noGrp="1"/>
          </p:cNvSpPr>
          <p:nvPr/>
        </p:nvSpPr>
        <p:spPr>
          <a:xfrm xmlns:a="http://schemas.openxmlformats.org/drawingml/2006/main">
            <a:off x="762000" y="23622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资源</a:t>
            </a:r>
          </a:p>
        </p:txBody>
      </p:sp>
      <p:sp>
        <p:nvSpPr>
          <p:cNvPr id="5" name="close-body-0">
            <a:extLst xmlns:a="http://schemas.openxmlformats.org/drawingml/2006/main">
              <a:ext uri="{FF2B5EF4-FFF2-40B4-BE49-F238E27FC236}">
                <a16:creationId xmlns:a16="http://schemas.microsoft.com/office/drawing/2014/main" id="{617D873D-BFC1-404C-A11C-4DC980894170}"/>
              </a:ext>
            </a:extLst>
          </p:cNvPr>
          <p:cNvSpPr>
            <a:spLocks xmlns:a="http://schemas.openxmlformats.org/drawingml/2006/main" noGrp="1"/>
          </p:cNvSpPr>
          <p:nvPr/>
        </p:nvSpPr>
        <p:spPr>
          <a:xfrm xmlns:a="http://schemas.openxmlformats.org/drawingml/2006/main">
            <a:off x="762000" y="3105150"/>
            <a:ext cx="2000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D9E2EC"/>
                </a:solidFill>
                <a:latin typeface="Microsoft YaHei"/>
                <a:ea typeface="Microsoft YaHei"/>
                <a:cs typeface="Microsoft YaHei"/>
              </a:defRPr>
            </a:pPr>
            <a:r>
              <a:rPr sz="1350" b="0">
                <a:solidFill>
                  <a:srgbClr val="D9E2EC"/>
                </a:solidFill>
                <a:latin typeface="Microsoft YaHei"/>
                <a:ea typeface="Microsoft YaHei"/>
                <a:cs typeface="Microsoft YaHei"/>
              </a:rPr>
              <a:t>新增发现、储量替代率、储量寿命</a:t>
            </a:r>
          </a:p>
        </p:txBody>
      </p:sp>
      <p:sp>
        <p:nvSpPr>
          <p:cNvPr id="6" name="close-1">
            <a:extLst xmlns:a="http://schemas.openxmlformats.org/drawingml/2006/main">
              <a:ext uri="{FF2B5EF4-FFF2-40B4-BE49-F238E27FC236}">
                <a16:creationId xmlns:a16="http://schemas.microsoft.com/office/drawing/2014/main" id="{2209B194-EB64-4A58-8E98-D3700136EA4A}"/>
              </a:ext>
            </a:extLst>
          </p:cNvPr>
          <p:cNvSpPr>
            <a:spLocks xmlns:a="http://schemas.openxmlformats.org/drawingml/2006/main" noGrp="1"/>
          </p:cNvSpPr>
          <p:nvPr/>
        </p:nvSpPr>
        <p:spPr>
          <a:xfrm xmlns:a="http://schemas.openxmlformats.org/drawingml/2006/main">
            <a:off x="3314700" y="2095500"/>
            <a:ext cx="2476500" cy="2095500"/>
          </a:xfrm>
          <a:prstGeom xmlns:a="http://schemas.openxmlformats.org/drawingml/2006/main" prst="roundRect">
            <a:avLst>
              <a:gd name="adj" fmla="val 3636"/>
            </a:avLst>
          </a:prstGeom>
          <a:solidFill xmlns:a="http://schemas.openxmlformats.org/drawingml/2006/main">
            <a:srgbClr val="173B57"/>
          </a:solidFill>
          <a:ln xmlns:a="http://schemas.openxmlformats.org/drawingml/2006/main" w="0">
            <a:noFill/>
            <a:prstDash val="solid"/>
          </a:ln>
        </p:spPr>
      </p:sp>
      <p:sp>
        <p:nvSpPr>
          <p:cNvPr id="7" name="close-head-1">
            <a:extLst xmlns:a="http://schemas.openxmlformats.org/drawingml/2006/main">
              <a:ext uri="{FF2B5EF4-FFF2-40B4-BE49-F238E27FC236}">
                <a16:creationId xmlns:a16="http://schemas.microsoft.com/office/drawing/2014/main" id="{122353A5-AC51-4DEF-A49C-50E199AE49BD}"/>
              </a:ext>
            </a:extLst>
          </p:cNvPr>
          <p:cNvSpPr>
            <a:spLocks xmlns:a="http://schemas.openxmlformats.org/drawingml/2006/main" noGrp="1"/>
          </p:cNvSpPr>
          <p:nvPr/>
        </p:nvSpPr>
        <p:spPr>
          <a:xfrm xmlns:a="http://schemas.openxmlformats.org/drawingml/2006/main">
            <a:off x="3543300" y="23622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产量</a:t>
            </a:r>
          </a:p>
        </p:txBody>
      </p:sp>
      <p:sp>
        <p:nvSpPr>
          <p:cNvPr id="8" name="close-body-1">
            <a:extLst xmlns:a="http://schemas.openxmlformats.org/drawingml/2006/main">
              <a:ext uri="{FF2B5EF4-FFF2-40B4-BE49-F238E27FC236}">
                <a16:creationId xmlns:a16="http://schemas.microsoft.com/office/drawing/2014/main" id="{6743C473-28EA-47BF-91FD-CF7660355CC0}"/>
              </a:ext>
            </a:extLst>
          </p:cNvPr>
          <p:cNvSpPr>
            <a:spLocks xmlns:a="http://schemas.openxmlformats.org/drawingml/2006/main" noGrp="1"/>
          </p:cNvSpPr>
          <p:nvPr/>
        </p:nvSpPr>
        <p:spPr>
          <a:xfrm xmlns:a="http://schemas.openxmlformats.org/drawingml/2006/main">
            <a:off x="3543300" y="3105150"/>
            <a:ext cx="2000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D9E2EC"/>
                </a:solidFill>
                <a:latin typeface="Microsoft YaHei"/>
                <a:ea typeface="Microsoft YaHei"/>
                <a:cs typeface="Microsoft YaHei"/>
              </a:defRPr>
            </a:pPr>
            <a:r>
              <a:rPr sz="1350" b="0">
                <a:solidFill>
                  <a:srgbClr val="D9E2EC"/>
                </a:solidFill>
                <a:latin typeface="Microsoft YaHei"/>
                <a:ea typeface="Microsoft YaHei"/>
                <a:cs typeface="Microsoft YaHei"/>
              </a:rPr>
              <a:t>新项目投产、产量指引、区域结构</a:t>
            </a:r>
          </a:p>
        </p:txBody>
      </p:sp>
      <p:sp>
        <p:nvSpPr>
          <p:cNvPr id="9" name="close-2">
            <a:extLst xmlns:a="http://schemas.openxmlformats.org/drawingml/2006/main">
              <a:ext uri="{FF2B5EF4-FFF2-40B4-BE49-F238E27FC236}">
                <a16:creationId xmlns:a16="http://schemas.microsoft.com/office/drawing/2014/main" id="{39752194-71DF-4D24-B737-7123A564F9D7}"/>
              </a:ext>
            </a:extLst>
          </p:cNvPr>
          <p:cNvSpPr>
            <a:spLocks xmlns:a="http://schemas.openxmlformats.org/drawingml/2006/main" noGrp="1"/>
          </p:cNvSpPr>
          <p:nvPr/>
        </p:nvSpPr>
        <p:spPr>
          <a:xfrm xmlns:a="http://schemas.openxmlformats.org/drawingml/2006/main">
            <a:off x="6096000" y="2095500"/>
            <a:ext cx="2476500" cy="2095500"/>
          </a:xfrm>
          <a:prstGeom xmlns:a="http://schemas.openxmlformats.org/drawingml/2006/main" prst="roundRect">
            <a:avLst>
              <a:gd name="adj" fmla="val 3636"/>
            </a:avLst>
          </a:prstGeom>
          <a:solidFill xmlns:a="http://schemas.openxmlformats.org/drawingml/2006/main">
            <a:srgbClr val="173B57"/>
          </a:solidFill>
          <a:ln xmlns:a="http://schemas.openxmlformats.org/drawingml/2006/main" w="0">
            <a:noFill/>
            <a:prstDash val="solid"/>
          </a:ln>
        </p:spPr>
      </p:sp>
      <p:sp>
        <p:nvSpPr>
          <p:cNvPr id="10" name="close-head-2">
            <a:extLst xmlns:a="http://schemas.openxmlformats.org/drawingml/2006/main">
              <a:ext uri="{FF2B5EF4-FFF2-40B4-BE49-F238E27FC236}">
                <a16:creationId xmlns:a16="http://schemas.microsoft.com/office/drawing/2014/main" id="{8F2721B5-42E1-4683-9FB8-2A232B0EDF0E}"/>
              </a:ext>
            </a:extLst>
          </p:cNvPr>
          <p:cNvSpPr>
            <a:spLocks xmlns:a="http://schemas.openxmlformats.org/drawingml/2006/main" noGrp="1"/>
          </p:cNvSpPr>
          <p:nvPr/>
        </p:nvSpPr>
        <p:spPr>
          <a:xfrm xmlns:a="http://schemas.openxmlformats.org/drawingml/2006/main">
            <a:off x="6324600" y="23622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成本</a:t>
            </a:r>
          </a:p>
        </p:txBody>
      </p:sp>
      <p:sp>
        <p:nvSpPr>
          <p:cNvPr id="11" name="close-body-2">
            <a:extLst xmlns:a="http://schemas.openxmlformats.org/drawingml/2006/main">
              <a:ext uri="{FF2B5EF4-FFF2-40B4-BE49-F238E27FC236}">
                <a16:creationId xmlns:a16="http://schemas.microsoft.com/office/drawing/2014/main" id="{6732B4D5-8AFE-4BF5-91EE-3085019C4123}"/>
              </a:ext>
            </a:extLst>
          </p:cNvPr>
          <p:cNvSpPr>
            <a:spLocks xmlns:a="http://schemas.openxmlformats.org/drawingml/2006/main" noGrp="1"/>
          </p:cNvSpPr>
          <p:nvPr/>
        </p:nvSpPr>
        <p:spPr>
          <a:xfrm xmlns:a="http://schemas.openxmlformats.org/drawingml/2006/main">
            <a:off x="6324600" y="3105150"/>
            <a:ext cx="2000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D9E2EC"/>
                </a:solidFill>
                <a:latin typeface="Microsoft YaHei"/>
                <a:ea typeface="Microsoft YaHei"/>
                <a:cs typeface="Microsoft YaHei"/>
              </a:defRPr>
            </a:pPr>
            <a:r>
              <a:rPr sz="1350" b="0">
                <a:solidFill>
                  <a:srgbClr val="D9E2EC"/>
                </a:solidFill>
                <a:latin typeface="Microsoft YaHei"/>
                <a:ea typeface="Microsoft YaHei"/>
                <a:cs typeface="Microsoft YaHei"/>
              </a:rPr>
              <a:t>桶油成本、钻完井周期、资本开支</a:t>
            </a:r>
          </a:p>
        </p:txBody>
      </p:sp>
      <p:sp>
        <p:nvSpPr>
          <p:cNvPr id="12" name="close-3">
            <a:extLst xmlns:a="http://schemas.openxmlformats.org/drawingml/2006/main">
              <a:ext uri="{FF2B5EF4-FFF2-40B4-BE49-F238E27FC236}">
                <a16:creationId xmlns:a16="http://schemas.microsoft.com/office/drawing/2014/main" id="{7441455A-2AF7-45BD-AC72-7D1B057A9903}"/>
              </a:ext>
            </a:extLst>
          </p:cNvPr>
          <p:cNvSpPr>
            <a:spLocks xmlns:a="http://schemas.openxmlformats.org/drawingml/2006/main" noGrp="1"/>
          </p:cNvSpPr>
          <p:nvPr/>
        </p:nvSpPr>
        <p:spPr>
          <a:xfrm xmlns:a="http://schemas.openxmlformats.org/drawingml/2006/main">
            <a:off x="8877300" y="2095500"/>
            <a:ext cx="2476500" cy="2095500"/>
          </a:xfrm>
          <a:prstGeom xmlns:a="http://schemas.openxmlformats.org/drawingml/2006/main" prst="roundRect">
            <a:avLst>
              <a:gd name="adj" fmla="val 3636"/>
            </a:avLst>
          </a:prstGeom>
          <a:solidFill xmlns:a="http://schemas.openxmlformats.org/drawingml/2006/main">
            <a:srgbClr val="173B57"/>
          </a:solidFill>
          <a:ln xmlns:a="http://schemas.openxmlformats.org/drawingml/2006/main" w="0">
            <a:noFill/>
            <a:prstDash val="solid"/>
          </a:ln>
        </p:spPr>
      </p:sp>
      <p:sp>
        <p:nvSpPr>
          <p:cNvPr id="13" name="close-head-3">
            <a:extLst xmlns:a="http://schemas.openxmlformats.org/drawingml/2006/main">
              <a:ext uri="{FF2B5EF4-FFF2-40B4-BE49-F238E27FC236}">
                <a16:creationId xmlns:a16="http://schemas.microsoft.com/office/drawing/2014/main" id="{F37D41C0-6BD5-4F21-A6DA-DE2FC30AB6F1}"/>
              </a:ext>
            </a:extLst>
          </p:cNvPr>
          <p:cNvSpPr>
            <a:spLocks xmlns:a="http://schemas.openxmlformats.org/drawingml/2006/main" noGrp="1"/>
          </p:cNvSpPr>
          <p:nvPr/>
        </p:nvSpPr>
        <p:spPr>
          <a:xfrm xmlns:a="http://schemas.openxmlformats.org/drawingml/2006/main">
            <a:off x="9105900" y="23622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价格</a:t>
            </a:r>
          </a:p>
        </p:txBody>
      </p:sp>
      <p:sp>
        <p:nvSpPr>
          <p:cNvPr id="14" name="close-body-3">
            <a:extLst xmlns:a="http://schemas.openxmlformats.org/drawingml/2006/main">
              <a:ext uri="{FF2B5EF4-FFF2-40B4-BE49-F238E27FC236}">
                <a16:creationId xmlns:a16="http://schemas.microsoft.com/office/drawing/2014/main" id="{D4603360-FA7A-4119-B3AA-B03975A7E37A}"/>
              </a:ext>
            </a:extLst>
          </p:cNvPr>
          <p:cNvSpPr>
            <a:spLocks xmlns:a="http://schemas.openxmlformats.org/drawingml/2006/main" noGrp="1"/>
          </p:cNvSpPr>
          <p:nvPr/>
        </p:nvSpPr>
        <p:spPr>
          <a:xfrm xmlns:a="http://schemas.openxmlformats.org/drawingml/2006/main">
            <a:off x="9105900" y="3105150"/>
            <a:ext cx="2000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D9E2EC"/>
                </a:solidFill>
                <a:latin typeface="Microsoft YaHei"/>
                <a:ea typeface="Microsoft YaHei"/>
                <a:cs typeface="Microsoft YaHei"/>
              </a:defRPr>
            </a:pPr>
            <a:r>
              <a:rPr sz="1350" b="0">
                <a:solidFill>
                  <a:srgbClr val="D9E2EC"/>
                </a:solidFill>
                <a:latin typeface="Microsoft YaHei"/>
                <a:ea typeface="Microsoft YaHei"/>
                <a:cs typeface="Microsoft YaHei"/>
              </a:rPr>
              <a:t>油价中枢、现金流、分红与估值</a:t>
            </a:r>
          </a:p>
        </p:txBody>
      </p:sp>
      <p:sp>
        <p:nvSpPr>
          <p:cNvPr id="15" name="">
            <a:extLst xmlns:a="http://schemas.openxmlformats.org/drawingml/2006/main">
              <a:ext uri="{FF2B5EF4-FFF2-40B4-BE49-F238E27FC236}">
                <a16:creationId xmlns:a16="http://schemas.microsoft.com/office/drawing/2014/main" id="{FE5C2B0B-7DCA-4CE1-85FF-2D4C74308334}"/>
              </a:ext>
            </a:extLst>
          </p:cNvPr>
          <p:cNvSpPr>
            <a:spLocks xmlns:a="http://schemas.openxmlformats.org/drawingml/2006/main" noGrp="1"/>
          </p:cNvSpPr>
          <p:nvPr/>
        </p:nvSpPr>
        <p:spPr>
          <a:xfrm xmlns:a="http://schemas.openxmlformats.org/drawingml/2006/main">
            <a:off x="533400" y="4762500"/>
            <a:ext cx="11125200" cy="19050"/>
          </a:xfrm>
          <a:prstGeom xmlns:a="http://schemas.openxmlformats.org/drawingml/2006/main" prst="line">
            <a:avLst/>
          </a:prstGeom>
          <a:noFill xmlns:a="http://schemas.openxmlformats.org/drawingml/2006/main"/>
          <a:ln xmlns:a="http://schemas.openxmlformats.org/drawingml/2006/main" w="19050">
            <a:solidFill>
              <a:srgbClr val="B76E3D"/>
            </a:solidFill>
            <a:prstDash val="solid"/>
          </a:ln>
        </p:spPr>
      </p:sp>
      <p:sp>
        <p:nvSpPr>
          <p:cNvPr id="16" name="close-thesis">
            <a:extLst xmlns:a="http://schemas.openxmlformats.org/drawingml/2006/main">
              <a:ext uri="{FF2B5EF4-FFF2-40B4-BE49-F238E27FC236}">
                <a16:creationId xmlns:a16="http://schemas.microsoft.com/office/drawing/2014/main" id="{3AB29CE8-A8F9-4085-84D8-916F86AFB558}"/>
              </a:ext>
            </a:extLst>
          </p:cNvPr>
          <p:cNvSpPr>
            <a:spLocks xmlns:a="http://schemas.openxmlformats.org/drawingml/2006/main" noGrp="1"/>
          </p:cNvSpPr>
          <p:nvPr/>
        </p:nvSpPr>
        <p:spPr>
          <a:xfrm xmlns:a="http://schemas.openxmlformats.org/drawingml/2006/main">
            <a:off x="533400" y="51054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核心逻辑仍是：低探明率提供空间，技术降本打开经济性，持续资本投入完成资源到现金流的转化。</a:t>
            </a:r>
          </a:p>
        </p:txBody>
      </p:sp>
      <p:sp>
        <p:nvSpPr>
          <p:cNvPr id="17" name="close-disclaimer">
            <a:extLst xmlns:a="http://schemas.openxmlformats.org/drawingml/2006/main">
              <a:ext uri="{FF2B5EF4-FFF2-40B4-BE49-F238E27FC236}">
                <a16:creationId xmlns:a16="http://schemas.microsoft.com/office/drawing/2014/main" id="{72635B0C-1C5D-44E4-AF71-A497006A51FF}"/>
              </a:ext>
            </a:extLst>
          </p:cNvPr>
          <p:cNvSpPr>
            <a:spLocks xmlns:a="http://schemas.openxmlformats.org/drawingml/2006/main" noGrp="1"/>
          </p:cNvSpPr>
          <p:nvPr/>
        </p:nvSpPr>
        <p:spPr>
          <a:xfrm xmlns:a="http://schemas.openxmlformats.org/drawingml/2006/main">
            <a:off x="533400" y="61150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050" b="0">
                <a:solidFill>
                  <a:srgbClr val="D9E2EC"/>
                </a:solidFill>
                <a:latin typeface="Microsoft YaHei"/>
                <a:ea typeface="Microsoft YaHei"/>
                <a:cs typeface="Microsoft YaHei"/>
              </a:defRPr>
            </a:pPr>
            <a:r>
              <a:rPr sz="1050" b="0">
                <a:solidFill>
                  <a:srgbClr val="D9E2EC"/>
                </a:solidFill>
                <a:latin typeface="Microsoft YaHei"/>
                <a:ea typeface="Microsoft YaHei"/>
                <a:cs typeface="Microsoft YaHei"/>
              </a:rPr>
              <a:t>资料基于2024年报告，仅用于研究框架复盘；使用前请补充最新油价、公司公告与盈利预测。</a:t>
            </a:r>
          </a:p>
        </p:txBody>
      </p:sp>
    </p:spTree>
    <p:extLst>
      <p:ext uri="{BB962C8B-B14F-4D97-AF65-F5344CB8AC3E}">
        <p14:creationId xmlns:p14="http://schemas.microsoft.com/office/powerpoint/2010/main" val="935820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2026-08-30T15:50:16.8700000Z</dcterms:created>
  <dcterms:modified xsi:type="dcterms:W3CDTF">2026-08-30T15:50:16.8700000Z</dcterms:modified>
</coreProperties>
</file>